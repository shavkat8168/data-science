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3"/>
  </p:notesMasterIdLst>
  <p:sldIdLst>
    <p:sldId id="256" r:id="rId2"/>
    <p:sldId id="258" r:id="rId3"/>
    <p:sldId id="259" r:id="rId4"/>
    <p:sldId id="260" r:id="rId5"/>
    <p:sldId id="261" r:id="rId6"/>
    <p:sldId id="263"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83" r:id="rId20"/>
    <p:sldId id="275" r:id="rId21"/>
    <p:sldId id="276" r:id="rId22"/>
    <p:sldId id="277" r:id="rId23"/>
    <p:sldId id="278" r:id="rId24"/>
    <p:sldId id="279" r:id="rId25"/>
    <p:sldId id="280" r:id="rId26"/>
    <p:sldId id="281" r:id="rId27"/>
    <p:sldId id="282" r:id="rId28"/>
    <p:sldId id="284" r:id="rId29"/>
    <p:sldId id="285" r:id="rId30"/>
    <p:sldId id="286" r:id="rId31"/>
    <p:sldId id="287" r:id="rId32"/>
    <p:sldId id="288" r:id="rId33"/>
    <p:sldId id="289" r:id="rId34"/>
    <p:sldId id="290" r:id="rId35"/>
    <p:sldId id="291" r:id="rId36"/>
    <p:sldId id="292" r:id="rId37"/>
    <p:sldId id="293" r:id="rId38"/>
    <p:sldId id="296" r:id="rId39"/>
    <p:sldId id="294" r:id="rId40"/>
    <p:sldId id="295" r:id="rId41"/>
    <p:sldId id="297" r:id="rId42"/>
    <p:sldId id="298" r:id="rId43"/>
    <p:sldId id="299" r:id="rId44"/>
    <p:sldId id="300" r:id="rId45"/>
    <p:sldId id="301" r:id="rId46"/>
    <p:sldId id="302" r:id="rId47"/>
    <p:sldId id="303" r:id="rId48"/>
    <p:sldId id="304" r:id="rId49"/>
    <p:sldId id="306" r:id="rId50"/>
    <p:sldId id="305" r:id="rId51"/>
    <p:sldId id="312"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844" autoAdjust="0"/>
  </p:normalViewPr>
  <p:slideViewPr>
    <p:cSldViewPr snapToGrid="0">
      <p:cViewPr varScale="1">
        <p:scale>
          <a:sx n="70" d="100"/>
          <a:sy n="70" d="100"/>
        </p:scale>
        <p:origin x="9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30E32C-5FF7-4F18-91FF-6DC5AD09AB26}" type="datetimeFigureOut">
              <a:rPr lang="ru-RU" smtClean="0"/>
              <a:t>30.01.2026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C33C95-922C-4FFB-A4B8-19A392F68F28}" type="slidenum">
              <a:rPr lang="ru-RU" smtClean="0"/>
              <a:t>‹#›</a:t>
            </a:fld>
            <a:endParaRPr lang="ru-RU"/>
          </a:p>
        </p:txBody>
      </p:sp>
    </p:spTree>
    <p:extLst>
      <p:ext uri="{BB962C8B-B14F-4D97-AF65-F5344CB8AC3E}">
        <p14:creationId xmlns:p14="http://schemas.microsoft.com/office/powerpoint/2010/main" val="3682410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7C33C95-922C-4FFB-A4B8-19A392F68F28}" type="slidenum">
              <a:rPr lang="ru-RU" smtClean="0"/>
              <a:t>7</a:t>
            </a:fld>
            <a:endParaRPr lang="ru-RU"/>
          </a:p>
        </p:txBody>
      </p:sp>
    </p:spTree>
    <p:extLst>
      <p:ext uri="{BB962C8B-B14F-4D97-AF65-F5344CB8AC3E}">
        <p14:creationId xmlns:p14="http://schemas.microsoft.com/office/powerpoint/2010/main" val="2197687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A3376ACF-56A2-4FF2-A42C-1FD4897F958F}" type="datetimeFigureOut">
              <a:rPr lang="ru-RU" smtClean="0"/>
              <a:t>30.01.2026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3210141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A3376ACF-56A2-4FF2-A42C-1FD4897F958F}" type="datetimeFigureOut">
              <a:rPr lang="ru-RU" smtClean="0"/>
              <a:t>30.01.2026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3380004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A3376ACF-56A2-4FF2-A42C-1FD4897F958F}" type="datetimeFigureOut">
              <a:rPr lang="ru-RU" smtClean="0"/>
              <a:t>30.01.2026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2976397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A3376ACF-56A2-4FF2-A42C-1FD4897F958F}" type="datetimeFigureOut">
              <a:rPr lang="ru-RU" smtClean="0"/>
              <a:t>30.01.2026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1034036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A3376ACF-56A2-4FF2-A42C-1FD4897F958F}" type="datetimeFigureOut">
              <a:rPr lang="ru-RU" smtClean="0"/>
              <a:t>30.01.2026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2761191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A3376ACF-56A2-4FF2-A42C-1FD4897F958F}" type="datetimeFigureOut">
              <a:rPr lang="ru-RU" smtClean="0"/>
              <a:t>30.01.2026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422495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376ACF-56A2-4FF2-A42C-1FD4897F958F}" type="datetimeFigureOut">
              <a:rPr lang="ru-RU" smtClean="0"/>
              <a:t>30.01.2026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4124330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A3376ACF-56A2-4FF2-A42C-1FD4897F958F}" type="datetimeFigureOut">
              <a:rPr lang="ru-RU" smtClean="0"/>
              <a:t>30.01.2026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1537432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A3376ACF-56A2-4FF2-A42C-1FD4897F958F}" type="datetimeFigureOut">
              <a:rPr lang="ru-RU" smtClean="0"/>
              <a:t>30.01.2026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4012447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A3376ACF-56A2-4FF2-A42C-1FD4897F958F}" type="datetimeFigureOut">
              <a:rPr lang="ru-RU" smtClean="0"/>
              <a:t>30.01.2026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1242490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A3376ACF-56A2-4FF2-A42C-1FD4897F958F}" type="datetimeFigureOut">
              <a:rPr lang="ru-RU" smtClean="0"/>
              <a:t>30.01.2026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DE5B42-118A-4F8F-83A7-5C5A3163367A}" type="slidenum">
              <a:rPr lang="ru-RU" smtClean="0"/>
              <a:t>‹#›</a:t>
            </a:fld>
            <a:endParaRPr lang="ru-RU"/>
          </a:p>
        </p:txBody>
      </p:sp>
    </p:spTree>
    <p:extLst>
      <p:ext uri="{BB962C8B-B14F-4D97-AF65-F5344CB8AC3E}">
        <p14:creationId xmlns:p14="http://schemas.microsoft.com/office/powerpoint/2010/main" val="1737122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376ACF-56A2-4FF2-A42C-1FD4897F958F}" type="datetimeFigureOut">
              <a:rPr lang="ru-RU" smtClean="0"/>
              <a:t>30.01.2026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DE5B42-118A-4F8F-83A7-5C5A3163367A}" type="slidenum">
              <a:rPr lang="ru-RU" smtClean="0"/>
              <a:t>‹#›</a:t>
            </a:fld>
            <a:endParaRPr lang="ru-RU"/>
          </a:p>
        </p:txBody>
      </p:sp>
    </p:spTree>
    <p:extLst>
      <p:ext uri="{BB962C8B-B14F-4D97-AF65-F5344CB8AC3E}">
        <p14:creationId xmlns:p14="http://schemas.microsoft.com/office/powerpoint/2010/main" val="32576894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3.png"/><Relationship Id="rId1" Type="http://schemas.openxmlformats.org/officeDocument/2006/relationships/slideLayout" Target="../slideLayouts/slideLayout7.xml"/><Relationship Id="rId5" Type="http://schemas.microsoft.com/office/2007/relationships/hdphoto" Target="../media/hdphoto5.wdp"/><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5.png"/><Relationship Id="rId1" Type="http://schemas.openxmlformats.org/officeDocument/2006/relationships/slideLayout" Target="../slideLayouts/slideLayout7.xml"/><Relationship Id="rId5" Type="http://schemas.microsoft.com/office/2007/relationships/hdphoto" Target="../media/hdphoto7.wdp"/><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data-science/what-is-inferential-statistics/" TargetMode="External"/><Relationship Id="rId2" Type="http://schemas.openxmlformats.org/officeDocument/2006/relationships/hyperlink" Target="https://www.geeksforgeeks.org/data-science/descriptive-statistic/"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microsoft.com/office/2007/relationships/hdphoto" Target="../media/hdphoto8.wdp"/></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microsoft.com/office/2007/relationships/hdphoto" Target="../media/hdphoto9.wdp"/><Relationship Id="rId7"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6" Type="http://schemas.microsoft.com/office/2007/relationships/hdphoto" Target="../media/hdphoto10.wdp"/><Relationship Id="rId5" Type="http://schemas.openxmlformats.org/officeDocument/2006/relationships/image" Target="../media/image22.png"/><Relationship Id="rId4" Type="http://schemas.openxmlformats.org/officeDocument/2006/relationships/image" Target="../media/image21.png"/><Relationship Id="rId9" Type="http://schemas.microsoft.com/office/2007/relationships/hdphoto" Target="../media/hdphoto11.wd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microsoft.com/office/2007/relationships/hdphoto" Target="../media/hdphoto12.wdp"/><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microsoft.com/office/2007/relationships/hdphoto" Target="../media/hdphoto13.wdp"/></Relationships>
</file>

<file path=ppt/slides/_rels/slide2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0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microsoft.com/office/2007/relationships/hdphoto" Target="../media/hdphoto16.wdp"/><Relationship Id="rId7" Type="http://schemas.microsoft.com/office/2007/relationships/hdphoto" Target="../media/hdphoto18.wdp"/><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microsoft.com/office/2007/relationships/hdphoto" Target="../media/hdphoto17.wdp"/><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8" Type="http://schemas.openxmlformats.org/officeDocument/2006/relationships/image" Target="../media/image40.png"/><Relationship Id="rId3" Type="http://schemas.microsoft.com/office/2007/relationships/hdphoto" Target="../media/hdphoto19.wdp"/><Relationship Id="rId7" Type="http://schemas.microsoft.com/office/2007/relationships/hdphoto" Target="../media/hdphoto21.wdp"/><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9.png"/><Relationship Id="rId11" Type="http://schemas.microsoft.com/office/2007/relationships/hdphoto" Target="../media/hdphoto23.wdp"/><Relationship Id="rId5" Type="http://schemas.microsoft.com/office/2007/relationships/hdphoto" Target="../media/hdphoto20.wdp"/><Relationship Id="rId10" Type="http://schemas.openxmlformats.org/officeDocument/2006/relationships/image" Target="../media/image41.png"/><Relationship Id="rId4" Type="http://schemas.openxmlformats.org/officeDocument/2006/relationships/image" Target="../media/image38.png"/><Relationship Id="rId9" Type="http://schemas.microsoft.com/office/2007/relationships/hdphoto" Target="../media/hdphoto22.wdp"/></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microsoft.com/office/2007/relationships/hdphoto" Target="../media/hdphoto24.wdp"/><Relationship Id="rId7" Type="http://schemas.microsoft.com/office/2007/relationships/hdphoto" Target="../media/hdphoto18.wdp"/><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36.png"/><Relationship Id="rId5" Type="http://schemas.microsoft.com/office/2007/relationships/hdphoto" Target="../media/hdphoto25.wdp"/><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59.png"/><Relationship Id="rId3" Type="http://schemas.microsoft.com/office/2007/relationships/hdphoto" Target="../media/hdphoto27.wdp"/><Relationship Id="rId7" Type="http://schemas.microsoft.com/office/2007/relationships/hdphoto" Target="../media/hdphoto28.wdp"/><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microsoft.com/office/2007/relationships/hdphoto" Target="../media/hdphoto29.wdp"/></Relationships>
</file>

<file path=ppt/slides/_rels/slide49.xml.rels><?xml version="1.0" encoding="UTF-8" standalone="yes"?>
<Relationships xmlns="http://schemas.openxmlformats.org/package/2006/relationships"><Relationship Id="rId3" Type="http://schemas.microsoft.com/office/2007/relationships/hdphoto" Target="../media/hdphoto30.wdp"/><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jpeg"/><Relationship Id="rId1" Type="http://schemas.openxmlformats.org/officeDocument/2006/relationships/slideLayout" Target="../slideLayouts/slideLayout7.xml"/><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569FAA07-EC6C-F305-1F89-D517F9052D7C}"/>
              </a:ext>
            </a:extLst>
          </p:cNvPr>
          <p:cNvSpPr/>
          <p:nvPr/>
        </p:nvSpPr>
        <p:spPr>
          <a:xfrm>
            <a:off x="1874540" y="2101760"/>
            <a:ext cx="8365680" cy="660413"/>
          </a:xfrm>
          <a:prstGeom prst="rect">
            <a:avLst/>
          </a:prstGeom>
          <a:noFill/>
          <a:ln/>
        </p:spPr>
        <p:txBody>
          <a:bodyPr wrap="square" lIns="0" tIns="0" rIns="0" bIns="0" rtlCol="0" anchor="t"/>
          <a:lstStyle/>
          <a:p>
            <a:pPr algn="ctr">
              <a:lnSpc>
                <a:spcPts val="4800"/>
              </a:lnSpc>
            </a:pPr>
            <a:r>
              <a:rPr lang="en-US" sz="4000" b="1" dirty="0">
                <a:solidFill>
                  <a:srgbClr val="FFC000"/>
                </a:solidFill>
                <a:latin typeface="Times New Roman" panose="02020603050405020304" pitchFamily="18" charset="0"/>
                <a:ea typeface="Spline Sans Bold" pitchFamily="34" charset="-122"/>
                <a:cs typeface="Times New Roman" panose="02020603050405020304" pitchFamily="18" charset="0"/>
              </a:rPr>
              <a:t>M2: </a:t>
            </a:r>
            <a:r>
              <a:rPr lang="en-US" sz="4000" b="1" dirty="0">
                <a:solidFill>
                  <a:srgbClr val="F0FCFF"/>
                </a:solidFill>
                <a:latin typeface="Times New Roman" panose="02020603050405020304" pitchFamily="18" charset="0"/>
                <a:ea typeface="Spline Sans Bold" pitchFamily="34" charset="-122"/>
                <a:cs typeface="Times New Roman" panose="02020603050405020304" pitchFamily="18" charset="0"/>
              </a:rPr>
              <a:t>DATA  SCIENCE MATEMATIKA VA STATISTIKA</a:t>
            </a:r>
          </a:p>
        </p:txBody>
      </p:sp>
      <p:pic>
        <p:nvPicPr>
          <p:cNvPr id="5" name="Picture 2" descr="Gmail Logo and symbol, meaning, history, PNG, brand">
            <a:extLst>
              <a:ext uri="{FF2B5EF4-FFF2-40B4-BE49-F238E27FC236}">
                <a16:creationId xmlns:a16="http://schemas.microsoft.com/office/drawing/2014/main" id="{EE9D94C6-AAFA-FE26-0698-E750BF4023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27119" y="4499782"/>
            <a:ext cx="575840" cy="3239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2839B5-BB98-4137-0820-9913E4664C35}"/>
              </a:ext>
            </a:extLst>
          </p:cNvPr>
          <p:cNvSpPr txBox="1"/>
          <p:nvPr/>
        </p:nvSpPr>
        <p:spPr>
          <a:xfrm>
            <a:off x="2219557" y="4468189"/>
            <a:ext cx="3191899" cy="400110"/>
          </a:xfrm>
          <a:prstGeom prst="rect">
            <a:avLst/>
          </a:prstGeom>
          <a:noFill/>
        </p:spPr>
        <p:txBody>
          <a:bodyPr wrap="none" rtlCol="0">
            <a:spAutoFit/>
          </a:bodyPr>
          <a:lstStyle/>
          <a:p>
            <a:r>
              <a:rPr lang="en-US" sz="2000" b="1" dirty="0">
                <a:latin typeface="Times New Roman" panose="02020603050405020304" pitchFamily="18" charset="0"/>
                <a:ea typeface="Roboto Mono Medium" panose="00000009000000000000" pitchFamily="49" charset="0"/>
                <a:cs typeface="Times New Roman" panose="02020603050405020304" pitchFamily="18" charset="0"/>
              </a:rPr>
              <a:t>bekshavkat231@gmail.com</a:t>
            </a:r>
            <a:endParaRPr lang="ru-RU" sz="2000" b="1" dirty="0">
              <a:latin typeface="Times New Roman" panose="02020603050405020304" pitchFamily="18" charset="0"/>
              <a:ea typeface="Roboto Mono Medium" panose="00000009000000000000" pitchFamily="49" charset="0"/>
              <a:cs typeface="Times New Roman" panose="02020603050405020304" pitchFamily="18" charset="0"/>
            </a:endParaRPr>
          </a:p>
        </p:txBody>
      </p:sp>
      <p:pic>
        <p:nvPicPr>
          <p:cNvPr id="7" name="Picture 4">
            <a:extLst>
              <a:ext uri="{FF2B5EF4-FFF2-40B4-BE49-F238E27FC236}">
                <a16:creationId xmlns:a16="http://schemas.microsoft.com/office/drawing/2014/main" id="{E1D759C2-486B-90FB-692D-DE3C629980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27873" y="4951194"/>
            <a:ext cx="494169" cy="49416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C8A7B3F-EC21-D17C-5A08-D3CB80CE2336}"/>
              </a:ext>
            </a:extLst>
          </p:cNvPr>
          <p:cNvSpPr txBox="1"/>
          <p:nvPr/>
        </p:nvSpPr>
        <p:spPr>
          <a:xfrm>
            <a:off x="2202959" y="5013612"/>
            <a:ext cx="2209259" cy="400110"/>
          </a:xfrm>
          <a:prstGeom prst="rect">
            <a:avLst/>
          </a:prstGeom>
          <a:noFill/>
        </p:spPr>
        <p:txBody>
          <a:bodyPr wrap="none" rtlCol="0">
            <a:spAutoFit/>
          </a:bodyPr>
          <a:lstStyle/>
          <a:p>
            <a:r>
              <a:rPr lang="en-US" sz="2000" b="1" dirty="0">
                <a:latin typeface="Times New Roman" panose="02020603050405020304" pitchFamily="18" charset="0"/>
                <a:ea typeface="Roboto Mono Medium" panose="00000009000000000000" pitchFamily="49" charset="0"/>
                <a:cs typeface="Times New Roman" panose="02020603050405020304" pitchFamily="18" charset="0"/>
              </a:rPr>
              <a:t>+998-33-185-08-08</a:t>
            </a:r>
            <a:endParaRPr lang="ru-RU" sz="2000" b="1" dirty="0">
              <a:latin typeface="Times New Roman" panose="02020603050405020304" pitchFamily="18" charset="0"/>
              <a:ea typeface="Roboto Mono Medium" panose="00000009000000000000" pitchFamily="49" charset="0"/>
              <a:cs typeface="Times New Roman" panose="02020603050405020304" pitchFamily="18" charset="0"/>
            </a:endParaRPr>
          </a:p>
        </p:txBody>
      </p:sp>
      <p:pic>
        <p:nvPicPr>
          <p:cNvPr id="9" name="Picture 6">
            <a:extLst>
              <a:ext uri="{FF2B5EF4-FFF2-40B4-BE49-F238E27FC236}">
                <a16:creationId xmlns:a16="http://schemas.microsoft.com/office/drawing/2014/main" id="{96B9CB52-6765-D56B-850F-518813379E9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40699" y="5521256"/>
            <a:ext cx="494169" cy="494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84E2380-2E60-8C31-996A-99720E3E2816}"/>
              </a:ext>
            </a:extLst>
          </p:cNvPr>
          <p:cNvSpPr txBox="1"/>
          <p:nvPr/>
        </p:nvSpPr>
        <p:spPr>
          <a:xfrm>
            <a:off x="2140149" y="5574220"/>
            <a:ext cx="1919115" cy="400110"/>
          </a:xfrm>
          <a:prstGeom prst="rect">
            <a:avLst/>
          </a:prstGeom>
          <a:noFill/>
        </p:spPr>
        <p:txBody>
          <a:bodyPr wrap="none" rtlCol="0">
            <a:spAutoFit/>
          </a:bodyPr>
          <a:lstStyle/>
          <a:p>
            <a:r>
              <a:rPr lang="en-US" sz="2000" b="1" dirty="0">
                <a:latin typeface="Times New Roman" panose="02020603050405020304" pitchFamily="18" charset="0"/>
                <a:ea typeface="Roboto Mono Medium" panose="00000009000000000000" pitchFamily="49" charset="0"/>
                <a:cs typeface="Times New Roman" panose="02020603050405020304" pitchFamily="18" charset="0"/>
              </a:rPr>
              <a:t>@shavkat_0808</a:t>
            </a:r>
            <a:endParaRPr lang="ru-RU" sz="2000" b="1" dirty="0">
              <a:latin typeface="Times New Roman" panose="02020603050405020304" pitchFamily="18" charset="0"/>
              <a:ea typeface="Roboto Mono Medium" panose="00000009000000000000" pitchFamily="49" charset="0"/>
              <a:cs typeface="Times New Roman" panose="02020603050405020304" pitchFamily="18" charset="0"/>
            </a:endParaRPr>
          </a:p>
        </p:txBody>
      </p:sp>
      <p:sp>
        <p:nvSpPr>
          <p:cNvPr id="11" name="TextBox 10">
            <a:extLst>
              <a:ext uri="{FF2B5EF4-FFF2-40B4-BE49-F238E27FC236}">
                <a16:creationId xmlns:a16="http://schemas.microsoft.com/office/drawing/2014/main" id="{005A57DA-BFD0-FDAF-CC28-13FFCEE54054}"/>
              </a:ext>
            </a:extLst>
          </p:cNvPr>
          <p:cNvSpPr txBox="1"/>
          <p:nvPr/>
        </p:nvSpPr>
        <p:spPr>
          <a:xfrm>
            <a:off x="7680777" y="4406634"/>
            <a:ext cx="4716752" cy="461665"/>
          </a:xfrm>
          <a:prstGeom prst="rect">
            <a:avLst/>
          </a:prstGeom>
          <a:noFill/>
        </p:spPr>
        <p:txBody>
          <a:bodyPr wrap="square">
            <a:spAutoFit/>
          </a:bodyPr>
          <a:lstStyle/>
          <a:p>
            <a:pPr algn="l"/>
            <a:r>
              <a:rPr lang="en-US" sz="2400" b="1" i="1" dirty="0" err="1">
                <a:latin typeface="Times New Roman" panose="02020603050405020304" pitchFamily="18" charset="0"/>
                <a:ea typeface="Roboto Mono Medium" panose="00000009000000000000" pitchFamily="49" charset="0"/>
                <a:cs typeface="Times New Roman" panose="02020603050405020304" pitchFamily="18" charset="0"/>
              </a:rPr>
              <a:t>Lektor</a:t>
            </a:r>
            <a:r>
              <a:rPr lang="en-US" sz="2400" b="1" i="1" dirty="0">
                <a:latin typeface="Times New Roman" panose="02020603050405020304" pitchFamily="18" charset="0"/>
                <a:ea typeface="Roboto Mono Medium" panose="00000009000000000000" pitchFamily="49" charset="0"/>
                <a:cs typeface="Times New Roman" panose="02020603050405020304" pitchFamily="18" charset="0"/>
              </a:rPr>
              <a:t>: </a:t>
            </a:r>
            <a:r>
              <a:rPr lang="en-US" sz="2400" b="1" dirty="0" err="1">
                <a:latin typeface="Times New Roman" panose="02020603050405020304" pitchFamily="18" charset="0"/>
                <a:ea typeface="Roboto Mono Medium" panose="00000009000000000000" pitchFamily="49" charset="0"/>
                <a:cs typeface="Times New Roman" panose="02020603050405020304" pitchFamily="18" charset="0"/>
              </a:rPr>
              <a:t>Ko’paysinov</a:t>
            </a:r>
            <a:r>
              <a:rPr lang="en-US" sz="2400" b="1" dirty="0">
                <a:latin typeface="Times New Roman" panose="02020603050405020304" pitchFamily="18" charset="0"/>
                <a:ea typeface="Roboto Mono Medium" panose="00000009000000000000" pitchFamily="49" charset="0"/>
                <a:cs typeface="Times New Roman" panose="02020603050405020304" pitchFamily="18" charset="0"/>
              </a:rPr>
              <a:t> Sh.</a:t>
            </a:r>
            <a:endParaRPr lang="en-US" sz="2400" b="1" dirty="0">
              <a:effectLst/>
              <a:latin typeface="Times New Roman" panose="02020603050405020304" pitchFamily="18" charset="0"/>
              <a:ea typeface="Roboto Mono Medium" panose="00000009000000000000" pitchFamily="49" charset="0"/>
              <a:cs typeface="Times New Roman" panose="02020603050405020304" pitchFamily="18" charset="0"/>
            </a:endParaRPr>
          </a:p>
        </p:txBody>
      </p:sp>
      <p:grpSp>
        <p:nvGrpSpPr>
          <p:cNvPr id="12" name="Рисунок 5">
            <a:extLst>
              <a:ext uri="{FF2B5EF4-FFF2-40B4-BE49-F238E27FC236}">
                <a16:creationId xmlns:a16="http://schemas.microsoft.com/office/drawing/2014/main" id="{81BDF94A-5D98-B973-E3D7-2C01C1FE10B4}"/>
              </a:ext>
            </a:extLst>
          </p:cNvPr>
          <p:cNvGrpSpPr/>
          <p:nvPr/>
        </p:nvGrpSpPr>
        <p:grpSpPr>
          <a:xfrm>
            <a:off x="5028995" y="113042"/>
            <a:ext cx="1755934" cy="1762225"/>
            <a:chOff x="268075" y="138494"/>
            <a:chExt cx="1344558" cy="1344489"/>
          </a:xfrm>
          <a:solidFill>
            <a:schemeClr val="accent4"/>
          </a:solidFill>
        </p:grpSpPr>
        <p:sp>
          <p:nvSpPr>
            <p:cNvPr id="13" name="Freeform: Shape 6">
              <a:extLst>
                <a:ext uri="{FF2B5EF4-FFF2-40B4-BE49-F238E27FC236}">
                  <a16:creationId xmlns:a16="http://schemas.microsoft.com/office/drawing/2014/main" id="{736D10E7-66C5-5D4E-F598-63FB24B9EB62}"/>
                </a:ext>
              </a:extLst>
            </p:cNvPr>
            <p:cNvSpPr/>
            <p:nvPr/>
          </p:nvSpPr>
          <p:spPr>
            <a:xfrm>
              <a:off x="268075" y="138494"/>
              <a:ext cx="1344558" cy="1344489"/>
            </a:xfrm>
            <a:custGeom>
              <a:avLst/>
              <a:gdLst>
                <a:gd name="connsiteX0" fmla="*/ 1344558 w 1344558"/>
                <a:gd name="connsiteY0" fmla="*/ 672245 h 1344489"/>
                <a:gd name="connsiteX1" fmla="*/ 672279 w 1344558"/>
                <a:gd name="connsiteY1" fmla="*/ 1344490 h 1344489"/>
                <a:gd name="connsiteX2" fmla="*/ 0 w 1344558"/>
                <a:gd name="connsiteY2" fmla="*/ 672245 h 1344489"/>
                <a:gd name="connsiteX3" fmla="*/ 672279 w 1344558"/>
                <a:gd name="connsiteY3" fmla="*/ 0 h 1344489"/>
                <a:gd name="connsiteX4" fmla="*/ 1344558 w 1344558"/>
                <a:gd name="connsiteY4" fmla="*/ 672245 h 134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4558" h="1344489">
                  <a:moveTo>
                    <a:pt x="1344558" y="672245"/>
                  </a:moveTo>
                  <a:cubicBezTo>
                    <a:pt x="1344558" y="1043516"/>
                    <a:pt x="1043569" y="1344490"/>
                    <a:pt x="672279" y="1344490"/>
                  </a:cubicBezTo>
                  <a:cubicBezTo>
                    <a:pt x="300990" y="1344490"/>
                    <a:pt x="0" y="1043516"/>
                    <a:pt x="0" y="672245"/>
                  </a:cubicBezTo>
                  <a:cubicBezTo>
                    <a:pt x="0" y="300974"/>
                    <a:pt x="300990" y="0"/>
                    <a:pt x="672279" y="0"/>
                  </a:cubicBezTo>
                  <a:cubicBezTo>
                    <a:pt x="1043569" y="0"/>
                    <a:pt x="1344558" y="300974"/>
                    <a:pt x="1344558" y="672245"/>
                  </a:cubicBez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14" name="Freeform: Shape 7">
              <a:extLst>
                <a:ext uri="{FF2B5EF4-FFF2-40B4-BE49-F238E27FC236}">
                  <a16:creationId xmlns:a16="http://schemas.microsoft.com/office/drawing/2014/main" id="{0BF478D3-5932-86EB-CDED-A6FE8E509C12}"/>
                </a:ext>
              </a:extLst>
            </p:cNvPr>
            <p:cNvSpPr/>
            <p:nvPr/>
          </p:nvSpPr>
          <p:spPr>
            <a:xfrm>
              <a:off x="831194" y="1366554"/>
              <a:ext cx="224338" cy="95938"/>
            </a:xfrm>
            <a:custGeom>
              <a:avLst/>
              <a:gdLst>
                <a:gd name="connsiteX0" fmla="*/ 11401 w 224338"/>
                <a:gd name="connsiteY0" fmla="*/ 89237 h 95938"/>
                <a:gd name="connsiteX1" fmla="*/ 2181 w 224338"/>
                <a:gd name="connsiteY1" fmla="*/ 87524 h 95938"/>
                <a:gd name="connsiteX2" fmla="*/ 14668 w 224338"/>
                <a:gd name="connsiteY2" fmla="*/ 11784 h 95938"/>
                <a:gd name="connsiteX3" fmla="*/ 0 w 224338"/>
                <a:gd name="connsiteY3" fmla="*/ 18074 h 95938"/>
                <a:gd name="connsiteX4" fmla="*/ 1938 w 224338"/>
                <a:gd name="connsiteY4" fmla="*/ 7656 h 95938"/>
                <a:gd name="connsiteX5" fmla="*/ 14602 w 224338"/>
                <a:gd name="connsiteY5" fmla="*/ 1694 h 95938"/>
                <a:gd name="connsiteX6" fmla="*/ 25704 w 224338"/>
                <a:gd name="connsiteY6" fmla="*/ 3763 h 95938"/>
                <a:gd name="connsiteX7" fmla="*/ 11401 w 224338"/>
                <a:gd name="connsiteY7" fmla="*/ 89237 h 95938"/>
                <a:gd name="connsiteX8" fmla="*/ 82820 w 224338"/>
                <a:gd name="connsiteY8" fmla="*/ 52181 h 95938"/>
                <a:gd name="connsiteX9" fmla="*/ 83803 w 224338"/>
                <a:gd name="connsiteY9" fmla="*/ 54400 h 95938"/>
                <a:gd name="connsiteX10" fmla="*/ 78131 w 224338"/>
                <a:gd name="connsiteY10" fmla="*/ 58724 h 95938"/>
                <a:gd name="connsiteX11" fmla="*/ 71859 w 224338"/>
                <a:gd name="connsiteY11" fmla="*/ 59650 h 95938"/>
                <a:gd name="connsiteX12" fmla="*/ 62162 w 224338"/>
                <a:gd name="connsiteY12" fmla="*/ 56215 h 95938"/>
                <a:gd name="connsiteX13" fmla="*/ 56321 w 224338"/>
                <a:gd name="connsiteY13" fmla="*/ 48082 h 95938"/>
                <a:gd name="connsiteX14" fmla="*/ 54955 w 224338"/>
                <a:gd name="connsiteY14" fmla="*/ 36251 h 95938"/>
                <a:gd name="connsiteX15" fmla="*/ 55432 w 224338"/>
                <a:gd name="connsiteY15" fmla="*/ 30064 h 95938"/>
                <a:gd name="connsiteX16" fmla="*/ 58774 w 224338"/>
                <a:gd name="connsiteY16" fmla="*/ 17344 h 95938"/>
                <a:gd name="connsiteX17" fmla="*/ 66290 w 224338"/>
                <a:gd name="connsiteY17" fmla="*/ 9744 h 95938"/>
                <a:gd name="connsiteX18" fmla="*/ 77354 w 224338"/>
                <a:gd name="connsiteY18" fmla="*/ 7769 h 95938"/>
                <a:gd name="connsiteX19" fmla="*/ 88015 w 224338"/>
                <a:gd name="connsiteY19" fmla="*/ 11391 h 95938"/>
                <a:gd name="connsiteX20" fmla="*/ 94062 w 224338"/>
                <a:gd name="connsiteY20" fmla="*/ 19880 h 95938"/>
                <a:gd name="connsiteX21" fmla="*/ 95073 w 224338"/>
                <a:gd name="connsiteY21" fmla="*/ 32554 h 95938"/>
                <a:gd name="connsiteX22" fmla="*/ 94652 w 224338"/>
                <a:gd name="connsiteY22" fmla="*/ 38132 h 95938"/>
                <a:gd name="connsiteX23" fmla="*/ 91703 w 224338"/>
                <a:gd name="connsiteY23" fmla="*/ 95938 h 95938"/>
                <a:gd name="connsiteX24" fmla="*/ 81491 w 224338"/>
                <a:gd name="connsiteY24" fmla="*/ 95162 h 95938"/>
                <a:gd name="connsiteX25" fmla="*/ 82820 w 224338"/>
                <a:gd name="connsiteY25" fmla="*/ 52181 h 95938"/>
                <a:gd name="connsiteX26" fmla="*/ 74124 w 224338"/>
                <a:gd name="connsiteY26" fmla="*/ 50253 h 95938"/>
                <a:gd name="connsiteX27" fmla="*/ 82277 w 224338"/>
                <a:gd name="connsiteY27" fmla="*/ 47352 h 95938"/>
                <a:gd name="connsiteX28" fmla="*/ 85834 w 224338"/>
                <a:gd name="connsiteY28" fmla="*/ 37767 h 95938"/>
                <a:gd name="connsiteX29" fmla="*/ 86302 w 224338"/>
                <a:gd name="connsiteY29" fmla="*/ 31702 h 95938"/>
                <a:gd name="connsiteX30" fmla="*/ 84243 w 224338"/>
                <a:gd name="connsiteY30" fmla="*/ 21574 h 95938"/>
                <a:gd name="connsiteX31" fmla="*/ 76614 w 224338"/>
                <a:gd name="connsiteY31" fmla="*/ 17466 h 95938"/>
                <a:gd name="connsiteX32" fmla="*/ 68443 w 224338"/>
                <a:gd name="connsiteY32" fmla="*/ 20367 h 95938"/>
                <a:gd name="connsiteX33" fmla="*/ 64867 w 224338"/>
                <a:gd name="connsiteY33" fmla="*/ 30129 h 95938"/>
                <a:gd name="connsiteX34" fmla="*/ 64408 w 224338"/>
                <a:gd name="connsiteY34" fmla="*/ 36195 h 95938"/>
                <a:gd name="connsiteX35" fmla="*/ 66477 w 224338"/>
                <a:gd name="connsiteY35" fmla="*/ 46182 h 95938"/>
                <a:gd name="connsiteX36" fmla="*/ 74124 w 224338"/>
                <a:gd name="connsiteY36" fmla="*/ 50253 h 95938"/>
                <a:gd name="connsiteX37" fmla="*/ 153098 w 224338"/>
                <a:gd name="connsiteY37" fmla="*/ 50749 h 95938"/>
                <a:gd name="connsiteX38" fmla="*/ 154399 w 224338"/>
                <a:gd name="connsiteY38" fmla="*/ 52790 h 95938"/>
                <a:gd name="connsiteX39" fmla="*/ 149681 w 224338"/>
                <a:gd name="connsiteY39" fmla="*/ 57994 h 95938"/>
                <a:gd name="connsiteX40" fmla="*/ 143625 w 224338"/>
                <a:gd name="connsiteY40" fmla="*/ 59866 h 95938"/>
                <a:gd name="connsiteX41" fmla="*/ 133525 w 224338"/>
                <a:gd name="connsiteY41" fmla="*/ 57937 h 95938"/>
                <a:gd name="connsiteX42" fmla="*/ 126505 w 224338"/>
                <a:gd name="connsiteY42" fmla="*/ 50787 h 95938"/>
                <a:gd name="connsiteX43" fmla="*/ 123369 w 224338"/>
                <a:gd name="connsiteY43" fmla="*/ 39293 h 95938"/>
                <a:gd name="connsiteX44" fmla="*/ 122901 w 224338"/>
                <a:gd name="connsiteY44" fmla="*/ 33106 h 95938"/>
                <a:gd name="connsiteX45" fmla="*/ 124277 w 224338"/>
                <a:gd name="connsiteY45" fmla="*/ 20030 h 95938"/>
                <a:gd name="connsiteX46" fmla="*/ 130558 w 224338"/>
                <a:gd name="connsiteY46" fmla="*/ 11372 h 95938"/>
                <a:gd name="connsiteX47" fmla="*/ 141200 w 224338"/>
                <a:gd name="connsiteY47" fmla="*/ 7741 h 95938"/>
                <a:gd name="connsiteX48" fmla="*/ 152283 w 224338"/>
                <a:gd name="connsiteY48" fmla="*/ 9716 h 95938"/>
                <a:gd name="connsiteX49" fmla="*/ 159725 w 224338"/>
                <a:gd name="connsiteY49" fmla="*/ 17325 h 95938"/>
                <a:gd name="connsiteX50" fmla="*/ 162345 w 224338"/>
                <a:gd name="connsiteY50" fmla="*/ 28885 h 95938"/>
                <a:gd name="connsiteX51" fmla="*/ 162767 w 224338"/>
                <a:gd name="connsiteY51" fmla="*/ 34463 h 95938"/>
                <a:gd name="connsiteX52" fmla="*/ 166352 w 224338"/>
                <a:gd name="connsiteY52" fmla="*/ 91277 h 95938"/>
                <a:gd name="connsiteX53" fmla="*/ 156140 w 224338"/>
                <a:gd name="connsiteY53" fmla="*/ 92054 h 95938"/>
                <a:gd name="connsiteX54" fmla="*/ 153098 w 224338"/>
                <a:gd name="connsiteY54" fmla="*/ 50749 h 95938"/>
                <a:gd name="connsiteX55" fmla="*/ 144439 w 224338"/>
                <a:gd name="connsiteY55" fmla="*/ 50234 h 95938"/>
                <a:gd name="connsiteX56" fmla="*/ 152058 w 224338"/>
                <a:gd name="connsiteY56" fmla="*/ 46125 h 95938"/>
                <a:gd name="connsiteX57" fmla="*/ 154127 w 224338"/>
                <a:gd name="connsiteY57" fmla="*/ 36110 h 95938"/>
                <a:gd name="connsiteX58" fmla="*/ 153659 w 224338"/>
                <a:gd name="connsiteY58" fmla="*/ 30045 h 95938"/>
                <a:gd name="connsiteX59" fmla="*/ 150093 w 224338"/>
                <a:gd name="connsiteY59" fmla="*/ 20348 h 95938"/>
                <a:gd name="connsiteX60" fmla="*/ 141940 w 224338"/>
                <a:gd name="connsiteY60" fmla="*/ 17437 h 95938"/>
                <a:gd name="connsiteX61" fmla="*/ 134293 w 224338"/>
                <a:gd name="connsiteY61" fmla="*/ 21546 h 95938"/>
                <a:gd name="connsiteX62" fmla="*/ 132243 w 224338"/>
                <a:gd name="connsiteY62" fmla="*/ 31739 h 95938"/>
                <a:gd name="connsiteX63" fmla="*/ 132701 w 224338"/>
                <a:gd name="connsiteY63" fmla="*/ 37804 h 95938"/>
                <a:gd name="connsiteX64" fmla="*/ 136258 w 224338"/>
                <a:gd name="connsiteY64" fmla="*/ 47370 h 95938"/>
                <a:gd name="connsiteX65" fmla="*/ 144439 w 224338"/>
                <a:gd name="connsiteY65" fmla="*/ 50234 h 95938"/>
                <a:gd name="connsiteX66" fmla="*/ 224339 w 224338"/>
                <a:gd name="connsiteY66" fmla="*/ 85989 h 95938"/>
                <a:gd name="connsiteX67" fmla="*/ 215119 w 224338"/>
                <a:gd name="connsiteY67" fmla="*/ 87702 h 95938"/>
                <a:gd name="connsiteX68" fmla="*/ 204167 w 224338"/>
                <a:gd name="connsiteY68" fmla="*/ 11456 h 95938"/>
                <a:gd name="connsiteX69" fmla="*/ 189640 w 224338"/>
                <a:gd name="connsiteY69" fmla="*/ 23409 h 95938"/>
                <a:gd name="connsiteX70" fmla="*/ 190801 w 224338"/>
                <a:gd name="connsiteY70" fmla="*/ 12187 h 95938"/>
                <a:gd name="connsiteX71" fmla="*/ 200470 w 224338"/>
                <a:gd name="connsiteY71" fmla="*/ 2069 h 95938"/>
                <a:gd name="connsiteX72" fmla="*/ 211581 w 224338"/>
                <a:gd name="connsiteY72" fmla="*/ 0 h 95938"/>
                <a:gd name="connsiteX73" fmla="*/ 224339 w 224338"/>
                <a:gd name="connsiteY73" fmla="*/ 85989 h 9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24338" h="95938">
                  <a:moveTo>
                    <a:pt x="11401" y="89237"/>
                  </a:moveTo>
                  <a:lnTo>
                    <a:pt x="2181" y="87524"/>
                  </a:lnTo>
                  <a:lnTo>
                    <a:pt x="14668" y="11784"/>
                  </a:lnTo>
                  <a:lnTo>
                    <a:pt x="0" y="18074"/>
                  </a:lnTo>
                  <a:lnTo>
                    <a:pt x="1938" y="7656"/>
                  </a:lnTo>
                  <a:lnTo>
                    <a:pt x="14602" y="1694"/>
                  </a:lnTo>
                  <a:lnTo>
                    <a:pt x="25704" y="3763"/>
                  </a:lnTo>
                  <a:lnTo>
                    <a:pt x="11401" y="89237"/>
                  </a:lnTo>
                  <a:close/>
                  <a:moveTo>
                    <a:pt x="82820" y="52181"/>
                  </a:moveTo>
                  <a:lnTo>
                    <a:pt x="83803" y="54400"/>
                  </a:lnTo>
                  <a:cubicBezTo>
                    <a:pt x="82596" y="56187"/>
                    <a:pt x="80059" y="57928"/>
                    <a:pt x="78131" y="58724"/>
                  </a:cubicBezTo>
                  <a:cubicBezTo>
                    <a:pt x="76221" y="59510"/>
                    <a:pt x="74124" y="59819"/>
                    <a:pt x="71859" y="59650"/>
                  </a:cubicBezTo>
                  <a:cubicBezTo>
                    <a:pt x="68031" y="59360"/>
                    <a:pt x="64820" y="58218"/>
                    <a:pt x="62162" y="56215"/>
                  </a:cubicBezTo>
                  <a:cubicBezTo>
                    <a:pt x="59522" y="54222"/>
                    <a:pt x="57585" y="51526"/>
                    <a:pt x="56321" y="48082"/>
                  </a:cubicBezTo>
                  <a:cubicBezTo>
                    <a:pt x="55067" y="44665"/>
                    <a:pt x="54617" y="40715"/>
                    <a:pt x="54955" y="36251"/>
                  </a:cubicBezTo>
                  <a:lnTo>
                    <a:pt x="55432" y="30064"/>
                  </a:lnTo>
                  <a:cubicBezTo>
                    <a:pt x="55806" y="25038"/>
                    <a:pt x="56930" y="20798"/>
                    <a:pt x="58774" y="17344"/>
                  </a:cubicBezTo>
                  <a:cubicBezTo>
                    <a:pt x="60618" y="13918"/>
                    <a:pt x="63126" y="11372"/>
                    <a:pt x="66290" y="9744"/>
                  </a:cubicBezTo>
                  <a:cubicBezTo>
                    <a:pt x="69454" y="8106"/>
                    <a:pt x="73142" y="7451"/>
                    <a:pt x="77354" y="7769"/>
                  </a:cubicBezTo>
                  <a:cubicBezTo>
                    <a:pt x="81594" y="8087"/>
                    <a:pt x="85160" y="9304"/>
                    <a:pt x="88015" y="11391"/>
                  </a:cubicBezTo>
                  <a:cubicBezTo>
                    <a:pt x="90870" y="13488"/>
                    <a:pt x="92780" y="16211"/>
                    <a:pt x="94062" y="19880"/>
                  </a:cubicBezTo>
                  <a:cubicBezTo>
                    <a:pt x="95344" y="23568"/>
                    <a:pt x="95466" y="27518"/>
                    <a:pt x="95073" y="32554"/>
                  </a:cubicBezTo>
                  <a:lnTo>
                    <a:pt x="94652" y="38132"/>
                  </a:lnTo>
                  <a:cubicBezTo>
                    <a:pt x="93023" y="55326"/>
                    <a:pt x="93547" y="65219"/>
                    <a:pt x="91703" y="95938"/>
                  </a:cubicBezTo>
                  <a:lnTo>
                    <a:pt x="81491" y="95162"/>
                  </a:lnTo>
                  <a:lnTo>
                    <a:pt x="82820" y="52181"/>
                  </a:lnTo>
                  <a:close/>
                  <a:moveTo>
                    <a:pt x="74124" y="50253"/>
                  </a:moveTo>
                  <a:cubicBezTo>
                    <a:pt x="77513" y="50515"/>
                    <a:pt x="80246" y="49542"/>
                    <a:pt x="82277" y="47352"/>
                  </a:cubicBezTo>
                  <a:cubicBezTo>
                    <a:pt x="84327" y="45161"/>
                    <a:pt x="85516" y="41960"/>
                    <a:pt x="85834" y="37767"/>
                  </a:cubicBezTo>
                  <a:lnTo>
                    <a:pt x="86302" y="31702"/>
                  </a:lnTo>
                  <a:cubicBezTo>
                    <a:pt x="86620" y="27424"/>
                    <a:pt x="85937" y="24045"/>
                    <a:pt x="84243" y="21574"/>
                  </a:cubicBezTo>
                  <a:cubicBezTo>
                    <a:pt x="82567" y="19075"/>
                    <a:pt x="80012" y="17718"/>
                    <a:pt x="76614" y="17466"/>
                  </a:cubicBezTo>
                  <a:cubicBezTo>
                    <a:pt x="73207" y="17203"/>
                    <a:pt x="70474" y="18158"/>
                    <a:pt x="68443" y="20367"/>
                  </a:cubicBezTo>
                  <a:cubicBezTo>
                    <a:pt x="66383" y="22557"/>
                    <a:pt x="65195" y="25815"/>
                    <a:pt x="64867" y="30129"/>
                  </a:cubicBezTo>
                  <a:lnTo>
                    <a:pt x="64408" y="36195"/>
                  </a:lnTo>
                  <a:cubicBezTo>
                    <a:pt x="64090" y="40397"/>
                    <a:pt x="64773" y="43710"/>
                    <a:pt x="66477" y="46182"/>
                  </a:cubicBezTo>
                  <a:cubicBezTo>
                    <a:pt x="68153" y="48634"/>
                    <a:pt x="70708" y="50000"/>
                    <a:pt x="74124" y="50253"/>
                  </a:cubicBezTo>
                  <a:close/>
                  <a:moveTo>
                    <a:pt x="153098" y="50749"/>
                  </a:moveTo>
                  <a:lnTo>
                    <a:pt x="154399" y="52790"/>
                  </a:lnTo>
                  <a:cubicBezTo>
                    <a:pt x="153472" y="54736"/>
                    <a:pt x="151469" y="56917"/>
                    <a:pt x="149681" y="57994"/>
                  </a:cubicBezTo>
                  <a:cubicBezTo>
                    <a:pt x="147921" y="59061"/>
                    <a:pt x="145890" y="59688"/>
                    <a:pt x="143625" y="59866"/>
                  </a:cubicBezTo>
                  <a:cubicBezTo>
                    <a:pt x="139796" y="60156"/>
                    <a:pt x="136455" y="59510"/>
                    <a:pt x="133525" y="57937"/>
                  </a:cubicBezTo>
                  <a:cubicBezTo>
                    <a:pt x="130614" y="56365"/>
                    <a:pt x="128283" y="53997"/>
                    <a:pt x="126505" y="50787"/>
                  </a:cubicBezTo>
                  <a:cubicBezTo>
                    <a:pt x="124764" y="47595"/>
                    <a:pt x="123715" y="43757"/>
                    <a:pt x="123369" y="39293"/>
                  </a:cubicBezTo>
                  <a:lnTo>
                    <a:pt x="122901" y="33106"/>
                  </a:lnTo>
                  <a:cubicBezTo>
                    <a:pt x="122517" y="28080"/>
                    <a:pt x="122976" y="23718"/>
                    <a:pt x="124277" y="20030"/>
                  </a:cubicBezTo>
                  <a:cubicBezTo>
                    <a:pt x="125587" y="16361"/>
                    <a:pt x="127684" y="13469"/>
                    <a:pt x="130558" y="11372"/>
                  </a:cubicBezTo>
                  <a:cubicBezTo>
                    <a:pt x="133431" y="9276"/>
                    <a:pt x="136979" y="8068"/>
                    <a:pt x="141200" y="7741"/>
                  </a:cubicBezTo>
                  <a:cubicBezTo>
                    <a:pt x="145431" y="7422"/>
                    <a:pt x="149138" y="8078"/>
                    <a:pt x="152283" y="9716"/>
                  </a:cubicBezTo>
                  <a:cubicBezTo>
                    <a:pt x="155428" y="11354"/>
                    <a:pt x="157899" y="13899"/>
                    <a:pt x="159725" y="17325"/>
                  </a:cubicBezTo>
                  <a:cubicBezTo>
                    <a:pt x="161559" y="20779"/>
                    <a:pt x="161962" y="23858"/>
                    <a:pt x="162345" y="28885"/>
                  </a:cubicBezTo>
                  <a:lnTo>
                    <a:pt x="162767" y="34463"/>
                  </a:lnTo>
                  <a:cubicBezTo>
                    <a:pt x="163235" y="49673"/>
                    <a:pt x="164526" y="66773"/>
                    <a:pt x="166352" y="91277"/>
                  </a:cubicBezTo>
                  <a:lnTo>
                    <a:pt x="156140" y="92054"/>
                  </a:lnTo>
                  <a:lnTo>
                    <a:pt x="153098" y="50749"/>
                  </a:lnTo>
                  <a:close/>
                  <a:moveTo>
                    <a:pt x="144439" y="50234"/>
                  </a:moveTo>
                  <a:cubicBezTo>
                    <a:pt x="147828" y="49972"/>
                    <a:pt x="150383" y="48596"/>
                    <a:pt x="152058" y="46125"/>
                  </a:cubicBezTo>
                  <a:cubicBezTo>
                    <a:pt x="153762" y="43645"/>
                    <a:pt x="154445" y="40313"/>
                    <a:pt x="154127" y="36110"/>
                  </a:cubicBezTo>
                  <a:lnTo>
                    <a:pt x="153659" y="30045"/>
                  </a:lnTo>
                  <a:cubicBezTo>
                    <a:pt x="153341" y="25768"/>
                    <a:pt x="152143" y="22539"/>
                    <a:pt x="150093" y="20348"/>
                  </a:cubicBezTo>
                  <a:cubicBezTo>
                    <a:pt x="148062" y="18130"/>
                    <a:pt x="145328" y="17185"/>
                    <a:pt x="141940" y="17437"/>
                  </a:cubicBezTo>
                  <a:cubicBezTo>
                    <a:pt x="138523" y="17700"/>
                    <a:pt x="135968" y="19057"/>
                    <a:pt x="134293" y="21546"/>
                  </a:cubicBezTo>
                  <a:cubicBezTo>
                    <a:pt x="132598" y="24027"/>
                    <a:pt x="131915" y="27424"/>
                    <a:pt x="132243" y="31739"/>
                  </a:cubicBezTo>
                  <a:lnTo>
                    <a:pt x="132701" y="37804"/>
                  </a:lnTo>
                  <a:cubicBezTo>
                    <a:pt x="133029" y="42007"/>
                    <a:pt x="134208" y="45180"/>
                    <a:pt x="136258" y="47370"/>
                  </a:cubicBezTo>
                  <a:cubicBezTo>
                    <a:pt x="138289" y="49542"/>
                    <a:pt x="141023" y="50496"/>
                    <a:pt x="144439" y="50234"/>
                  </a:cubicBezTo>
                  <a:close/>
                  <a:moveTo>
                    <a:pt x="224339" y="85989"/>
                  </a:moveTo>
                  <a:lnTo>
                    <a:pt x="215119" y="87702"/>
                  </a:lnTo>
                  <a:lnTo>
                    <a:pt x="204167" y="11456"/>
                  </a:lnTo>
                  <a:lnTo>
                    <a:pt x="189640" y="23409"/>
                  </a:lnTo>
                  <a:lnTo>
                    <a:pt x="190801" y="12187"/>
                  </a:lnTo>
                  <a:lnTo>
                    <a:pt x="200470" y="2069"/>
                  </a:lnTo>
                  <a:lnTo>
                    <a:pt x="211581" y="0"/>
                  </a:lnTo>
                  <a:lnTo>
                    <a:pt x="224339" y="85989"/>
                  </a:ln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15" name="Freeform: Shape 8">
              <a:extLst>
                <a:ext uri="{FF2B5EF4-FFF2-40B4-BE49-F238E27FC236}">
                  <a16:creationId xmlns:a16="http://schemas.microsoft.com/office/drawing/2014/main" id="{5B341500-963E-CFC5-C4F4-268106249EC3}"/>
                </a:ext>
              </a:extLst>
            </p:cNvPr>
            <p:cNvSpPr/>
            <p:nvPr/>
          </p:nvSpPr>
          <p:spPr>
            <a:xfrm>
              <a:off x="289530" y="162568"/>
              <a:ext cx="1302012" cy="1212943"/>
            </a:xfrm>
            <a:custGeom>
              <a:avLst/>
              <a:gdLst>
                <a:gd name="connsiteX0" fmla="*/ 307815 w 1302012"/>
                <a:gd name="connsiteY0" fmla="*/ 1192754 h 1212943"/>
                <a:gd name="connsiteX1" fmla="*/ 297079 w 1302012"/>
                <a:gd name="connsiteY1" fmla="*/ 1185866 h 1212943"/>
                <a:gd name="connsiteX2" fmla="*/ 342233 w 1302012"/>
                <a:gd name="connsiteY2" fmla="*/ 1115470 h 1212943"/>
                <a:gd name="connsiteX3" fmla="*/ 352979 w 1302012"/>
                <a:gd name="connsiteY3" fmla="*/ 1122359 h 1212943"/>
                <a:gd name="connsiteX4" fmla="*/ 307815 w 1302012"/>
                <a:gd name="connsiteY4" fmla="*/ 1192754 h 1212943"/>
                <a:gd name="connsiteX5" fmla="*/ 325469 w 1302012"/>
                <a:gd name="connsiteY5" fmla="*/ 1212944 h 1212943"/>
                <a:gd name="connsiteX6" fmla="*/ 271385 w 1302012"/>
                <a:gd name="connsiteY6" fmla="*/ 1178256 h 1212943"/>
                <a:gd name="connsiteX7" fmla="*/ 277956 w 1302012"/>
                <a:gd name="connsiteY7" fmla="*/ 1168016 h 1212943"/>
                <a:gd name="connsiteX8" fmla="*/ 332040 w 1302012"/>
                <a:gd name="connsiteY8" fmla="*/ 1202704 h 1212943"/>
                <a:gd name="connsiteX9" fmla="*/ 325469 w 1302012"/>
                <a:gd name="connsiteY9" fmla="*/ 1212944 h 1212943"/>
                <a:gd name="connsiteX10" fmla="*/ 290227 w 1302012"/>
                <a:gd name="connsiteY10" fmla="*/ 1075167 h 1212943"/>
                <a:gd name="connsiteX11" fmla="*/ 300186 w 1302012"/>
                <a:gd name="connsiteY11" fmla="*/ 1089319 h 1212943"/>
                <a:gd name="connsiteX12" fmla="*/ 300973 w 1302012"/>
                <a:gd name="connsiteY12" fmla="*/ 1105586 h 1212943"/>
                <a:gd name="connsiteX13" fmla="*/ 292436 w 1302012"/>
                <a:gd name="connsiteY13" fmla="*/ 1121507 h 1212943"/>
                <a:gd name="connsiteX14" fmla="*/ 275531 w 1302012"/>
                <a:gd name="connsiteY14" fmla="*/ 1141013 h 1212943"/>
                <a:gd name="connsiteX15" fmla="*/ 260967 w 1302012"/>
                <a:gd name="connsiteY15" fmla="*/ 1151740 h 1212943"/>
                <a:gd name="connsiteX16" fmla="*/ 244755 w 1302012"/>
                <a:gd name="connsiteY16" fmla="*/ 1153284 h 1212943"/>
                <a:gd name="connsiteX17" fmla="*/ 229329 w 1302012"/>
                <a:gd name="connsiteY17" fmla="*/ 1145431 h 1212943"/>
                <a:gd name="connsiteX18" fmla="*/ 219379 w 1302012"/>
                <a:gd name="connsiteY18" fmla="*/ 1131298 h 1212943"/>
                <a:gd name="connsiteX19" fmla="*/ 218602 w 1302012"/>
                <a:gd name="connsiteY19" fmla="*/ 1115030 h 1212943"/>
                <a:gd name="connsiteX20" fmla="*/ 227148 w 1302012"/>
                <a:gd name="connsiteY20" fmla="*/ 1099090 h 1212943"/>
                <a:gd name="connsiteX21" fmla="*/ 244053 w 1302012"/>
                <a:gd name="connsiteY21" fmla="*/ 1079585 h 1212943"/>
                <a:gd name="connsiteX22" fmla="*/ 258599 w 1302012"/>
                <a:gd name="connsiteY22" fmla="*/ 1068867 h 1212943"/>
                <a:gd name="connsiteX23" fmla="*/ 274811 w 1302012"/>
                <a:gd name="connsiteY23" fmla="*/ 1067333 h 1212943"/>
                <a:gd name="connsiteX24" fmla="*/ 290227 w 1302012"/>
                <a:gd name="connsiteY24" fmla="*/ 1075167 h 1212943"/>
                <a:gd name="connsiteX25" fmla="*/ 281971 w 1302012"/>
                <a:gd name="connsiteY25" fmla="*/ 1084686 h 1212943"/>
                <a:gd name="connsiteX26" fmla="*/ 272817 w 1302012"/>
                <a:gd name="connsiteY26" fmla="*/ 1080109 h 1212943"/>
                <a:gd name="connsiteX27" fmla="*/ 263101 w 1302012"/>
                <a:gd name="connsiteY27" fmla="*/ 1081204 h 1212943"/>
                <a:gd name="connsiteX28" fmla="*/ 254237 w 1302012"/>
                <a:gd name="connsiteY28" fmla="*/ 1087840 h 1212943"/>
                <a:gd name="connsiteX29" fmla="*/ 236752 w 1302012"/>
                <a:gd name="connsiteY29" fmla="*/ 1108010 h 1212943"/>
                <a:gd name="connsiteX30" fmla="*/ 231463 w 1302012"/>
                <a:gd name="connsiteY30" fmla="*/ 1117717 h 1212943"/>
                <a:gd name="connsiteX31" fmla="*/ 231744 w 1302012"/>
                <a:gd name="connsiteY31" fmla="*/ 1127498 h 1212943"/>
                <a:gd name="connsiteX32" fmla="*/ 237575 w 1302012"/>
                <a:gd name="connsiteY32" fmla="*/ 1135912 h 1212943"/>
                <a:gd name="connsiteX33" fmla="*/ 246758 w 1302012"/>
                <a:gd name="connsiteY33" fmla="*/ 1140498 h 1212943"/>
                <a:gd name="connsiteX34" fmla="*/ 256483 w 1302012"/>
                <a:gd name="connsiteY34" fmla="*/ 1139394 h 1212943"/>
                <a:gd name="connsiteX35" fmla="*/ 265338 w 1302012"/>
                <a:gd name="connsiteY35" fmla="*/ 1132777 h 1212943"/>
                <a:gd name="connsiteX36" fmla="*/ 282814 w 1302012"/>
                <a:gd name="connsiteY36" fmla="*/ 1112606 h 1212943"/>
                <a:gd name="connsiteX37" fmla="*/ 288121 w 1302012"/>
                <a:gd name="connsiteY37" fmla="*/ 1102891 h 1212943"/>
                <a:gd name="connsiteX38" fmla="*/ 287822 w 1302012"/>
                <a:gd name="connsiteY38" fmla="*/ 1093119 h 1212943"/>
                <a:gd name="connsiteX39" fmla="*/ 281971 w 1302012"/>
                <a:gd name="connsiteY39" fmla="*/ 1084686 h 1212943"/>
                <a:gd name="connsiteX40" fmla="*/ 234795 w 1302012"/>
                <a:gd name="connsiteY40" fmla="*/ 1021245 h 1212943"/>
                <a:gd name="connsiteX41" fmla="*/ 242003 w 1302012"/>
                <a:gd name="connsiteY41" fmla="*/ 1031494 h 1212943"/>
                <a:gd name="connsiteX42" fmla="*/ 246374 w 1302012"/>
                <a:gd name="connsiteY42" fmla="*/ 1042267 h 1212943"/>
                <a:gd name="connsiteX43" fmla="*/ 247881 w 1302012"/>
                <a:gd name="connsiteY43" fmla="*/ 1053574 h 1212943"/>
                <a:gd name="connsiteX44" fmla="*/ 247881 w 1302012"/>
                <a:gd name="connsiteY44" fmla="*/ 1053574 h 1212943"/>
                <a:gd name="connsiteX45" fmla="*/ 235291 w 1302012"/>
                <a:gd name="connsiteY45" fmla="*/ 1053957 h 1212943"/>
                <a:gd name="connsiteX46" fmla="*/ 235291 w 1302012"/>
                <a:gd name="connsiteY46" fmla="*/ 1053957 h 1212943"/>
                <a:gd name="connsiteX47" fmla="*/ 232895 w 1302012"/>
                <a:gd name="connsiteY47" fmla="*/ 1040872 h 1212943"/>
                <a:gd name="connsiteX48" fmla="*/ 225697 w 1302012"/>
                <a:gd name="connsiteY48" fmla="*/ 1029126 h 1212943"/>
                <a:gd name="connsiteX49" fmla="*/ 212901 w 1302012"/>
                <a:gd name="connsiteY49" fmla="*/ 1019934 h 1212943"/>
                <a:gd name="connsiteX50" fmla="*/ 201482 w 1302012"/>
                <a:gd name="connsiteY50" fmla="*/ 1022602 h 1212943"/>
                <a:gd name="connsiteX51" fmla="*/ 201435 w 1302012"/>
                <a:gd name="connsiteY51" fmla="*/ 1022649 h 1212943"/>
                <a:gd name="connsiteX52" fmla="*/ 197340 w 1302012"/>
                <a:gd name="connsiteY52" fmla="*/ 1029444 h 1212943"/>
                <a:gd name="connsiteX53" fmla="*/ 198404 w 1302012"/>
                <a:gd name="connsiteY53" fmla="*/ 1036979 h 1212943"/>
                <a:gd name="connsiteX54" fmla="*/ 203148 w 1302012"/>
                <a:gd name="connsiteY54" fmla="*/ 1046245 h 1212943"/>
                <a:gd name="connsiteX55" fmla="*/ 203363 w 1302012"/>
                <a:gd name="connsiteY55" fmla="*/ 1046591 h 1212943"/>
                <a:gd name="connsiteX56" fmla="*/ 203597 w 1302012"/>
                <a:gd name="connsiteY56" fmla="*/ 1046956 h 1212943"/>
                <a:gd name="connsiteX57" fmla="*/ 204065 w 1302012"/>
                <a:gd name="connsiteY57" fmla="*/ 1047770 h 1212943"/>
                <a:gd name="connsiteX58" fmla="*/ 211123 w 1302012"/>
                <a:gd name="connsiteY58" fmla="*/ 1061333 h 1212943"/>
                <a:gd name="connsiteX59" fmla="*/ 212097 w 1302012"/>
                <a:gd name="connsiteY59" fmla="*/ 1073473 h 1212943"/>
                <a:gd name="connsiteX60" fmla="*/ 203504 w 1302012"/>
                <a:gd name="connsiteY60" fmla="*/ 1086286 h 1212943"/>
                <a:gd name="connsiteX61" fmla="*/ 203457 w 1302012"/>
                <a:gd name="connsiteY61" fmla="*/ 1086324 h 1212943"/>
                <a:gd name="connsiteX62" fmla="*/ 190063 w 1302012"/>
                <a:gd name="connsiteY62" fmla="*/ 1092913 h 1212943"/>
                <a:gd name="connsiteX63" fmla="*/ 175940 w 1302012"/>
                <a:gd name="connsiteY63" fmla="*/ 1090526 h 1212943"/>
                <a:gd name="connsiteX64" fmla="*/ 162118 w 1302012"/>
                <a:gd name="connsiteY64" fmla="*/ 1079360 h 1212943"/>
                <a:gd name="connsiteX65" fmla="*/ 156645 w 1302012"/>
                <a:gd name="connsiteY65" fmla="*/ 1071404 h 1212943"/>
                <a:gd name="connsiteX66" fmla="*/ 152924 w 1302012"/>
                <a:gd name="connsiteY66" fmla="*/ 1062269 h 1212943"/>
                <a:gd name="connsiteX67" fmla="*/ 151015 w 1302012"/>
                <a:gd name="connsiteY67" fmla="*/ 1051964 h 1212943"/>
                <a:gd name="connsiteX68" fmla="*/ 151015 w 1302012"/>
                <a:gd name="connsiteY68" fmla="*/ 1051964 h 1212943"/>
                <a:gd name="connsiteX69" fmla="*/ 163436 w 1302012"/>
                <a:gd name="connsiteY69" fmla="*/ 1050822 h 1212943"/>
                <a:gd name="connsiteX70" fmla="*/ 163436 w 1302012"/>
                <a:gd name="connsiteY70" fmla="*/ 1050822 h 1212943"/>
                <a:gd name="connsiteX71" fmla="*/ 165888 w 1302012"/>
                <a:gd name="connsiteY71" fmla="*/ 1062409 h 1212943"/>
                <a:gd name="connsiteX72" fmla="*/ 171223 w 1302012"/>
                <a:gd name="connsiteY72" fmla="*/ 1071479 h 1212943"/>
                <a:gd name="connsiteX73" fmla="*/ 183536 w 1302012"/>
                <a:gd name="connsiteY73" fmla="*/ 1080015 h 1212943"/>
                <a:gd name="connsiteX74" fmla="*/ 194895 w 1302012"/>
                <a:gd name="connsiteY74" fmla="*/ 1077001 h 1212943"/>
                <a:gd name="connsiteX75" fmla="*/ 194943 w 1302012"/>
                <a:gd name="connsiteY75" fmla="*/ 1076954 h 1212943"/>
                <a:gd name="connsiteX76" fmla="*/ 198786 w 1302012"/>
                <a:gd name="connsiteY76" fmla="*/ 1070122 h 1212943"/>
                <a:gd name="connsiteX77" fmla="*/ 197444 w 1302012"/>
                <a:gd name="connsiteY77" fmla="*/ 1062493 h 1212943"/>
                <a:gd name="connsiteX78" fmla="*/ 192230 w 1302012"/>
                <a:gd name="connsiteY78" fmla="*/ 1052385 h 1212943"/>
                <a:gd name="connsiteX79" fmla="*/ 191985 w 1302012"/>
                <a:gd name="connsiteY79" fmla="*/ 1051973 h 1212943"/>
                <a:gd name="connsiteX80" fmla="*/ 191760 w 1302012"/>
                <a:gd name="connsiteY80" fmla="*/ 1051552 h 1212943"/>
                <a:gd name="connsiteX81" fmla="*/ 191409 w 1302012"/>
                <a:gd name="connsiteY81" fmla="*/ 1050953 h 1212943"/>
                <a:gd name="connsiteX82" fmla="*/ 191042 w 1302012"/>
                <a:gd name="connsiteY82" fmla="*/ 1050363 h 1212943"/>
                <a:gd name="connsiteX83" fmla="*/ 185043 w 1302012"/>
                <a:gd name="connsiteY83" fmla="*/ 1037287 h 1212943"/>
                <a:gd name="connsiteX84" fmla="*/ 184629 w 1302012"/>
                <a:gd name="connsiteY84" fmla="*/ 1025382 h 1212943"/>
                <a:gd name="connsiteX85" fmla="*/ 192882 w 1302012"/>
                <a:gd name="connsiteY85" fmla="*/ 1013317 h 1212943"/>
                <a:gd name="connsiteX86" fmla="*/ 192979 w 1302012"/>
                <a:gd name="connsiteY86" fmla="*/ 1013233 h 1212943"/>
                <a:gd name="connsiteX87" fmla="*/ 206321 w 1302012"/>
                <a:gd name="connsiteY87" fmla="*/ 1006887 h 1212943"/>
                <a:gd name="connsiteX88" fmla="*/ 220633 w 1302012"/>
                <a:gd name="connsiteY88" fmla="*/ 1009620 h 1212943"/>
                <a:gd name="connsiteX89" fmla="*/ 234795 w 1302012"/>
                <a:gd name="connsiteY89" fmla="*/ 1021245 h 1212943"/>
                <a:gd name="connsiteX90" fmla="*/ 96555 w 1302012"/>
                <a:gd name="connsiteY90" fmla="*/ 989225 h 1212943"/>
                <a:gd name="connsiteX91" fmla="*/ 89659 w 1302012"/>
                <a:gd name="connsiteY91" fmla="*/ 978461 h 1212943"/>
                <a:gd name="connsiteX92" fmla="*/ 166366 w 1302012"/>
                <a:gd name="connsiteY92" fmla="*/ 929303 h 1212943"/>
                <a:gd name="connsiteX93" fmla="*/ 173263 w 1302012"/>
                <a:gd name="connsiteY93" fmla="*/ 940067 h 1212943"/>
                <a:gd name="connsiteX94" fmla="*/ 96555 w 1302012"/>
                <a:gd name="connsiteY94" fmla="*/ 989225 h 1212943"/>
                <a:gd name="connsiteX95" fmla="*/ 124467 w 1302012"/>
                <a:gd name="connsiteY95" fmla="*/ 1032776 h 1212943"/>
                <a:gd name="connsiteX96" fmla="*/ 117569 w 1302012"/>
                <a:gd name="connsiteY96" fmla="*/ 1022012 h 1212943"/>
                <a:gd name="connsiteX97" fmla="*/ 194277 w 1302012"/>
                <a:gd name="connsiteY97" fmla="*/ 972864 h 1212943"/>
                <a:gd name="connsiteX98" fmla="*/ 201173 w 1302012"/>
                <a:gd name="connsiteY98" fmla="*/ 983627 h 1212943"/>
                <a:gd name="connsiteX99" fmla="*/ 124467 w 1302012"/>
                <a:gd name="connsiteY99" fmla="*/ 1032776 h 1212943"/>
                <a:gd name="connsiteX100" fmla="*/ 153992 w 1302012"/>
                <a:gd name="connsiteY100" fmla="*/ 1004416 h 1212943"/>
                <a:gd name="connsiteX101" fmla="*/ 126716 w 1302012"/>
                <a:gd name="connsiteY101" fmla="*/ 961847 h 1212943"/>
                <a:gd name="connsiteX102" fmla="*/ 136962 w 1302012"/>
                <a:gd name="connsiteY102" fmla="*/ 955286 h 1212943"/>
                <a:gd name="connsiteX103" fmla="*/ 164239 w 1302012"/>
                <a:gd name="connsiteY103" fmla="*/ 997845 h 1212943"/>
                <a:gd name="connsiteX104" fmla="*/ 153992 w 1302012"/>
                <a:gd name="connsiteY104" fmla="*/ 1004416 h 1212943"/>
                <a:gd name="connsiteX105" fmla="*/ 114509 w 1302012"/>
                <a:gd name="connsiteY105" fmla="*/ 917060 h 1212943"/>
                <a:gd name="connsiteX106" fmla="*/ 51354 w 1302012"/>
                <a:gd name="connsiteY106" fmla="*/ 901476 h 1212943"/>
                <a:gd name="connsiteX107" fmla="*/ 44884 w 1302012"/>
                <a:gd name="connsiteY107" fmla="*/ 887155 h 1212943"/>
                <a:gd name="connsiteX108" fmla="*/ 132745 w 1302012"/>
                <a:gd name="connsiteY108" fmla="*/ 910883 h 1212943"/>
                <a:gd name="connsiteX109" fmla="*/ 114509 w 1302012"/>
                <a:gd name="connsiteY109" fmla="*/ 917060 h 1212943"/>
                <a:gd name="connsiteX110" fmla="*/ 72043 w 1302012"/>
                <a:gd name="connsiteY110" fmla="*/ 947246 h 1212943"/>
                <a:gd name="connsiteX111" fmla="*/ 66778 w 1302012"/>
                <a:gd name="connsiteY111" fmla="*/ 935602 h 1212943"/>
                <a:gd name="connsiteX112" fmla="*/ 149798 w 1302012"/>
                <a:gd name="connsiteY112" fmla="*/ 898088 h 1212943"/>
                <a:gd name="connsiteX113" fmla="*/ 155062 w 1302012"/>
                <a:gd name="connsiteY113" fmla="*/ 909731 h 1212943"/>
                <a:gd name="connsiteX114" fmla="*/ 72043 w 1302012"/>
                <a:gd name="connsiteY114" fmla="*/ 947246 h 1212943"/>
                <a:gd name="connsiteX115" fmla="*/ 100394 w 1302012"/>
                <a:gd name="connsiteY115" fmla="*/ 906802 h 1212943"/>
                <a:gd name="connsiteX116" fmla="*/ 87723 w 1302012"/>
                <a:gd name="connsiteY116" fmla="*/ 901457 h 1212943"/>
                <a:gd name="connsiteX117" fmla="*/ 126328 w 1302012"/>
                <a:gd name="connsiteY117" fmla="*/ 846150 h 1212943"/>
                <a:gd name="connsiteX118" fmla="*/ 132772 w 1302012"/>
                <a:gd name="connsiteY118" fmla="*/ 860414 h 1212943"/>
                <a:gd name="connsiteX119" fmla="*/ 100394 w 1302012"/>
                <a:gd name="connsiteY119" fmla="*/ 906802 h 1212943"/>
                <a:gd name="connsiteX120" fmla="*/ 34232 w 1302012"/>
                <a:gd name="connsiteY120" fmla="*/ 857896 h 1212943"/>
                <a:gd name="connsiteX121" fmla="*/ 30741 w 1302012"/>
                <a:gd name="connsiteY121" fmla="*/ 845598 h 1212943"/>
                <a:gd name="connsiteX122" fmla="*/ 118384 w 1302012"/>
                <a:gd name="connsiteY122" fmla="*/ 820729 h 1212943"/>
                <a:gd name="connsiteX123" fmla="*/ 121874 w 1302012"/>
                <a:gd name="connsiteY123" fmla="*/ 833027 h 1212943"/>
                <a:gd name="connsiteX124" fmla="*/ 34232 w 1302012"/>
                <a:gd name="connsiteY124" fmla="*/ 857896 h 1212943"/>
                <a:gd name="connsiteX125" fmla="*/ 108496 w 1302012"/>
                <a:gd name="connsiteY125" fmla="*/ 830379 h 1212943"/>
                <a:gd name="connsiteX126" fmla="*/ 94214 w 1302012"/>
                <a:gd name="connsiteY126" fmla="*/ 780060 h 1212943"/>
                <a:gd name="connsiteX127" fmla="*/ 105898 w 1302012"/>
                <a:gd name="connsiteY127" fmla="*/ 776747 h 1212943"/>
                <a:gd name="connsiteX128" fmla="*/ 120183 w 1302012"/>
                <a:gd name="connsiteY128" fmla="*/ 827056 h 1212943"/>
                <a:gd name="connsiteX129" fmla="*/ 108496 w 1302012"/>
                <a:gd name="connsiteY129" fmla="*/ 830379 h 1212943"/>
                <a:gd name="connsiteX130" fmla="*/ 70826 w 1302012"/>
                <a:gd name="connsiteY130" fmla="*/ 841068 h 1212943"/>
                <a:gd name="connsiteX131" fmla="*/ 58427 w 1302012"/>
                <a:gd name="connsiteY131" fmla="*/ 797394 h 1212943"/>
                <a:gd name="connsiteX132" fmla="*/ 70114 w 1302012"/>
                <a:gd name="connsiteY132" fmla="*/ 794072 h 1212943"/>
                <a:gd name="connsiteX133" fmla="*/ 82512 w 1302012"/>
                <a:gd name="connsiteY133" fmla="*/ 837754 h 1212943"/>
                <a:gd name="connsiteX134" fmla="*/ 70826 w 1302012"/>
                <a:gd name="connsiteY134" fmla="*/ 841068 h 1212943"/>
                <a:gd name="connsiteX135" fmla="*/ 32539 w 1302012"/>
                <a:gd name="connsiteY135" fmla="*/ 851934 h 1212943"/>
                <a:gd name="connsiteX136" fmla="*/ 18257 w 1302012"/>
                <a:gd name="connsiteY136" fmla="*/ 801616 h 1212943"/>
                <a:gd name="connsiteX137" fmla="*/ 29963 w 1302012"/>
                <a:gd name="connsiteY137" fmla="*/ 798293 h 1212943"/>
                <a:gd name="connsiteX138" fmla="*/ 44245 w 1302012"/>
                <a:gd name="connsiteY138" fmla="*/ 848612 h 1212943"/>
                <a:gd name="connsiteX139" fmla="*/ 32539 w 1302012"/>
                <a:gd name="connsiteY139" fmla="*/ 851934 h 1212943"/>
                <a:gd name="connsiteX140" fmla="*/ 10975 w 1302012"/>
                <a:gd name="connsiteY140" fmla="*/ 770532 h 1212943"/>
                <a:gd name="connsiteX141" fmla="*/ 9515 w 1302012"/>
                <a:gd name="connsiteY141" fmla="*/ 759047 h 1212943"/>
                <a:gd name="connsiteX142" fmla="*/ 73768 w 1302012"/>
                <a:gd name="connsiteY142" fmla="*/ 705996 h 1212943"/>
                <a:gd name="connsiteX143" fmla="*/ 75569 w 1302012"/>
                <a:gd name="connsiteY143" fmla="*/ 707278 h 1212943"/>
                <a:gd name="connsiteX144" fmla="*/ 4094 w 1302012"/>
                <a:gd name="connsiteY144" fmla="*/ 716357 h 1212943"/>
                <a:gd name="connsiteX145" fmla="*/ 2499 w 1302012"/>
                <a:gd name="connsiteY145" fmla="*/ 703805 h 1212943"/>
                <a:gd name="connsiteX146" fmla="*/ 92814 w 1302012"/>
                <a:gd name="connsiteY146" fmla="*/ 692330 h 1212943"/>
                <a:gd name="connsiteX147" fmla="*/ 94289 w 1302012"/>
                <a:gd name="connsiteY147" fmla="*/ 703955 h 1212943"/>
                <a:gd name="connsiteX148" fmla="*/ 31080 w 1302012"/>
                <a:gd name="connsiteY148" fmla="*/ 756735 h 1212943"/>
                <a:gd name="connsiteX149" fmla="*/ 29280 w 1302012"/>
                <a:gd name="connsiteY149" fmla="*/ 755453 h 1212943"/>
                <a:gd name="connsiteX150" fmla="*/ 99695 w 1302012"/>
                <a:gd name="connsiteY150" fmla="*/ 746514 h 1212943"/>
                <a:gd name="connsiteX151" fmla="*/ 101289 w 1302012"/>
                <a:gd name="connsiteY151" fmla="*/ 759066 h 1212943"/>
                <a:gd name="connsiteX152" fmla="*/ 10975 w 1302012"/>
                <a:gd name="connsiteY152" fmla="*/ 770532 h 1212943"/>
                <a:gd name="connsiteX153" fmla="*/ 8113 w 1302012"/>
                <a:gd name="connsiteY153" fmla="*/ 649406 h 1212943"/>
                <a:gd name="connsiteX154" fmla="*/ 8435 w 1302012"/>
                <a:gd name="connsiteY154" fmla="*/ 636648 h 1212943"/>
                <a:gd name="connsiteX155" fmla="*/ 92049 w 1302012"/>
                <a:gd name="connsiteY155" fmla="*/ 638764 h 1212943"/>
                <a:gd name="connsiteX156" fmla="*/ 91727 w 1302012"/>
                <a:gd name="connsiteY156" fmla="*/ 651521 h 1212943"/>
                <a:gd name="connsiteX157" fmla="*/ 8113 w 1302012"/>
                <a:gd name="connsiteY157" fmla="*/ 649406 h 1212943"/>
                <a:gd name="connsiteX158" fmla="*/ 0 w 1302012"/>
                <a:gd name="connsiteY158" fmla="*/ 674968 h 1212943"/>
                <a:gd name="connsiteX159" fmla="*/ 1624 w 1302012"/>
                <a:gd name="connsiteY159" fmla="*/ 610731 h 1212943"/>
                <a:gd name="connsiteX160" fmla="*/ 13788 w 1302012"/>
                <a:gd name="connsiteY160" fmla="*/ 611040 h 1212943"/>
                <a:gd name="connsiteX161" fmla="*/ 12166 w 1302012"/>
                <a:gd name="connsiteY161" fmla="*/ 675267 h 1212943"/>
                <a:gd name="connsiteX162" fmla="*/ 0 w 1302012"/>
                <a:gd name="connsiteY162" fmla="*/ 674968 h 1212943"/>
                <a:gd name="connsiteX163" fmla="*/ 12063 w 1302012"/>
                <a:gd name="connsiteY163" fmla="*/ 528364 h 1212943"/>
                <a:gd name="connsiteX164" fmla="*/ 13975 w 1302012"/>
                <a:gd name="connsiteY164" fmla="*/ 517653 h 1212943"/>
                <a:gd name="connsiteX165" fmla="*/ 109563 w 1302012"/>
                <a:gd name="connsiteY165" fmla="*/ 500602 h 1212943"/>
                <a:gd name="connsiteX166" fmla="*/ 107139 w 1302012"/>
                <a:gd name="connsiteY166" fmla="*/ 514176 h 1212943"/>
                <a:gd name="connsiteX167" fmla="*/ 30343 w 1302012"/>
                <a:gd name="connsiteY167" fmla="*/ 526111 h 1212943"/>
                <a:gd name="connsiteX168" fmla="*/ 98272 w 1302012"/>
                <a:gd name="connsiteY168" fmla="*/ 563857 h 1212943"/>
                <a:gd name="connsiteX169" fmla="*/ 95849 w 1302012"/>
                <a:gd name="connsiteY169" fmla="*/ 577430 h 1212943"/>
                <a:gd name="connsiteX170" fmla="*/ 12063 w 1302012"/>
                <a:gd name="connsiteY170" fmla="*/ 528364 h 1212943"/>
                <a:gd name="connsiteX171" fmla="*/ 66925 w 1302012"/>
                <a:gd name="connsiteY171" fmla="*/ 556546 h 1212943"/>
                <a:gd name="connsiteX172" fmla="*/ 75343 w 1302012"/>
                <a:gd name="connsiteY172" fmla="*/ 509391 h 1212943"/>
                <a:gd name="connsiteX173" fmla="*/ 87302 w 1302012"/>
                <a:gd name="connsiteY173" fmla="*/ 511524 h 1212943"/>
                <a:gd name="connsiteX174" fmla="*/ 78882 w 1302012"/>
                <a:gd name="connsiteY174" fmla="*/ 558681 h 1212943"/>
                <a:gd name="connsiteX175" fmla="*/ 66925 w 1302012"/>
                <a:gd name="connsiteY175" fmla="*/ 556546 h 1212943"/>
                <a:gd name="connsiteX176" fmla="*/ 69080 w 1302012"/>
                <a:gd name="connsiteY176" fmla="*/ 466243 h 1212943"/>
                <a:gd name="connsiteX177" fmla="*/ 79030 w 1302012"/>
                <a:gd name="connsiteY177" fmla="*/ 436822 h 1212943"/>
                <a:gd name="connsiteX178" fmla="*/ 79436 w 1302012"/>
                <a:gd name="connsiteY178" fmla="*/ 430145 h 1212943"/>
                <a:gd name="connsiteX179" fmla="*/ 76113 w 1302012"/>
                <a:gd name="connsiteY179" fmla="*/ 424418 h 1212943"/>
                <a:gd name="connsiteX180" fmla="*/ 69570 w 1302012"/>
                <a:gd name="connsiteY180" fmla="*/ 420603 h 1212943"/>
                <a:gd name="connsiteX181" fmla="*/ 69570 w 1302012"/>
                <a:gd name="connsiteY181" fmla="*/ 420603 h 1212943"/>
                <a:gd name="connsiteX182" fmla="*/ 62053 w 1302012"/>
                <a:gd name="connsiteY182" fmla="*/ 419664 h 1212943"/>
                <a:gd name="connsiteX183" fmla="*/ 55943 w 1302012"/>
                <a:gd name="connsiteY183" fmla="*/ 422178 h 1212943"/>
                <a:gd name="connsiteX184" fmla="*/ 52206 w 1302012"/>
                <a:gd name="connsiteY184" fmla="*/ 427751 h 1212943"/>
                <a:gd name="connsiteX185" fmla="*/ 42256 w 1302012"/>
                <a:gd name="connsiteY185" fmla="*/ 457172 h 1212943"/>
                <a:gd name="connsiteX186" fmla="*/ 30730 w 1302012"/>
                <a:gd name="connsiteY186" fmla="*/ 453274 h 1212943"/>
                <a:gd name="connsiteX187" fmla="*/ 40522 w 1302012"/>
                <a:gd name="connsiteY187" fmla="*/ 424318 h 1212943"/>
                <a:gd name="connsiteX188" fmla="*/ 48066 w 1302012"/>
                <a:gd name="connsiteY188" fmla="*/ 412225 h 1212943"/>
                <a:gd name="connsiteX189" fmla="*/ 59782 w 1302012"/>
                <a:gd name="connsiteY189" fmla="*/ 406418 h 1212943"/>
                <a:gd name="connsiteX190" fmla="*/ 73925 w 1302012"/>
                <a:gd name="connsiteY190" fmla="*/ 407724 h 1212943"/>
                <a:gd name="connsiteX191" fmla="*/ 73925 w 1302012"/>
                <a:gd name="connsiteY191" fmla="*/ 407724 h 1212943"/>
                <a:gd name="connsiteX192" fmla="*/ 85950 w 1302012"/>
                <a:gd name="connsiteY192" fmla="*/ 415289 h 1212943"/>
                <a:gd name="connsiteX193" fmla="*/ 91723 w 1302012"/>
                <a:gd name="connsiteY193" fmla="*/ 427057 h 1212943"/>
                <a:gd name="connsiteX194" fmla="*/ 90380 w 1302012"/>
                <a:gd name="connsiteY194" fmla="*/ 441178 h 1212943"/>
                <a:gd name="connsiteX195" fmla="*/ 80587 w 1302012"/>
                <a:gd name="connsiteY195" fmla="*/ 470134 h 1212943"/>
                <a:gd name="connsiteX196" fmla="*/ 69080 w 1302012"/>
                <a:gd name="connsiteY196" fmla="*/ 466243 h 1212943"/>
                <a:gd name="connsiteX197" fmla="*/ 28941 w 1302012"/>
                <a:gd name="connsiteY197" fmla="*/ 458560 h 1212943"/>
                <a:gd name="connsiteX198" fmla="*/ 33036 w 1302012"/>
                <a:gd name="connsiteY198" fmla="*/ 446451 h 1212943"/>
                <a:gd name="connsiteX199" fmla="*/ 119400 w 1302012"/>
                <a:gd name="connsiteY199" fmla="*/ 475656 h 1212943"/>
                <a:gd name="connsiteX200" fmla="*/ 115305 w 1302012"/>
                <a:gd name="connsiteY200" fmla="*/ 487764 h 1212943"/>
                <a:gd name="connsiteX201" fmla="*/ 28941 w 1302012"/>
                <a:gd name="connsiteY201" fmla="*/ 458560 h 1212943"/>
                <a:gd name="connsiteX202" fmla="*/ 85855 w 1302012"/>
                <a:gd name="connsiteY202" fmla="*/ 445741 h 1212943"/>
                <a:gd name="connsiteX203" fmla="*/ 87216 w 1302012"/>
                <a:gd name="connsiteY203" fmla="*/ 432775 h 1212943"/>
                <a:gd name="connsiteX204" fmla="*/ 136576 w 1302012"/>
                <a:gd name="connsiteY204" fmla="*/ 424873 h 1212943"/>
                <a:gd name="connsiteX205" fmla="*/ 131720 w 1302012"/>
                <a:gd name="connsiteY205" fmla="*/ 439229 h 1212943"/>
                <a:gd name="connsiteX206" fmla="*/ 85855 w 1302012"/>
                <a:gd name="connsiteY206" fmla="*/ 445741 h 1212943"/>
                <a:gd name="connsiteX207" fmla="*/ 119887 w 1302012"/>
                <a:gd name="connsiteY207" fmla="*/ 371795 h 1212943"/>
                <a:gd name="connsiteX208" fmla="*/ 116211 w 1302012"/>
                <a:gd name="connsiteY208" fmla="*/ 372074 h 1212943"/>
                <a:gd name="connsiteX209" fmla="*/ 60078 w 1302012"/>
                <a:gd name="connsiteY209" fmla="*/ 376551 h 1212943"/>
                <a:gd name="connsiteX210" fmla="*/ 66616 w 1302012"/>
                <a:gd name="connsiteY210" fmla="*/ 363784 h 1212943"/>
                <a:gd name="connsiteX211" fmla="*/ 109656 w 1302012"/>
                <a:gd name="connsiteY211" fmla="*/ 361131 h 1212943"/>
                <a:gd name="connsiteX212" fmla="*/ 113609 w 1302012"/>
                <a:gd name="connsiteY212" fmla="*/ 360825 h 1212943"/>
                <a:gd name="connsiteX213" fmla="*/ 172852 w 1302012"/>
                <a:gd name="connsiteY213" fmla="*/ 356187 h 1212943"/>
                <a:gd name="connsiteX214" fmla="*/ 166316 w 1302012"/>
                <a:gd name="connsiteY214" fmla="*/ 368953 h 1212943"/>
                <a:gd name="connsiteX215" fmla="*/ 119887 w 1302012"/>
                <a:gd name="connsiteY215" fmla="*/ 371795 h 1212943"/>
                <a:gd name="connsiteX216" fmla="*/ 108916 w 1302012"/>
                <a:gd name="connsiteY216" fmla="*/ 366802 h 1212943"/>
                <a:gd name="connsiteX217" fmla="*/ 84587 w 1302012"/>
                <a:gd name="connsiteY217" fmla="*/ 328679 h 1212943"/>
                <a:gd name="connsiteX218" fmla="*/ 91122 w 1302012"/>
                <a:gd name="connsiteY218" fmla="*/ 315912 h 1212943"/>
                <a:gd name="connsiteX219" fmla="*/ 121295 w 1302012"/>
                <a:gd name="connsiteY219" fmla="*/ 365191 h 1212943"/>
                <a:gd name="connsiteX220" fmla="*/ 147360 w 1302012"/>
                <a:gd name="connsiteY220" fmla="*/ 405981 h 1212943"/>
                <a:gd name="connsiteX221" fmla="*/ 140834 w 1302012"/>
                <a:gd name="connsiteY221" fmla="*/ 418729 h 1212943"/>
                <a:gd name="connsiteX222" fmla="*/ 108916 w 1302012"/>
                <a:gd name="connsiteY222" fmla="*/ 366802 h 1212943"/>
                <a:gd name="connsiteX223" fmla="*/ 188570 w 1302012"/>
                <a:gd name="connsiteY223" fmla="*/ 334599 h 1212943"/>
                <a:gd name="connsiteX224" fmla="*/ 181673 w 1302012"/>
                <a:gd name="connsiteY224" fmla="*/ 345362 h 1212943"/>
                <a:gd name="connsiteX225" fmla="*/ 104967 w 1302012"/>
                <a:gd name="connsiteY225" fmla="*/ 296210 h 1212943"/>
                <a:gd name="connsiteX226" fmla="*/ 111862 w 1302012"/>
                <a:gd name="connsiteY226" fmla="*/ 285447 h 1212943"/>
                <a:gd name="connsiteX227" fmla="*/ 188570 w 1302012"/>
                <a:gd name="connsiteY227" fmla="*/ 334599 h 1212943"/>
                <a:gd name="connsiteX228" fmla="*/ 147155 w 1302012"/>
                <a:gd name="connsiteY228" fmla="*/ 250228 h 1212943"/>
                <a:gd name="connsiteX229" fmla="*/ 155038 w 1302012"/>
                <a:gd name="connsiteY229" fmla="*/ 240193 h 1212943"/>
                <a:gd name="connsiteX230" fmla="*/ 220811 w 1302012"/>
                <a:gd name="connsiteY230" fmla="*/ 291858 h 1212943"/>
                <a:gd name="connsiteX231" fmla="*/ 212930 w 1302012"/>
                <a:gd name="connsiteY231" fmla="*/ 301893 h 1212943"/>
                <a:gd name="connsiteX232" fmla="*/ 147155 w 1302012"/>
                <a:gd name="connsiteY232" fmla="*/ 250228 h 1212943"/>
                <a:gd name="connsiteX233" fmla="*/ 125373 w 1302012"/>
                <a:gd name="connsiteY233" fmla="*/ 265873 h 1212943"/>
                <a:gd name="connsiteX234" fmla="*/ 165066 w 1302012"/>
                <a:gd name="connsiteY234" fmla="*/ 215344 h 1212943"/>
                <a:gd name="connsiteX235" fmla="*/ 174635 w 1302012"/>
                <a:gd name="connsiteY235" fmla="*/ 222861 h 1212943"/>
                <a:gd name="connsiteX236" fmla="*/ 134942 w 1302012"/>
                <a:gd name="connsiteY236" fmla="*/ 273390 h 1212943"/>
                <a:gd name="connsiteX237" fmla="*/ 125373 w 1302012"/>
                <a:gd name="connsiteY237" fmla="*/ 265873 h 1212943"/>
                <a:gd name="connsiteX238" fmla="*/ 183103 w 1302012"/>
                <a:gd name="connsiteY238" fmla="*/ 197079 h 1212943"/>
                <a:gd name="connsiteX239" fmla="*/ 192355 w 1302012"/>
                <a:gd name="connsiteY239" fmla="*/ 188257 h 1212943"/>
                <a:gd name="connsiteX240" fmla="*/ 255238 w 1302012"/>
                <a:gd name="connsiteY240" fmla="*/ 254178 h 1212943"/>
                <a:gd name="connsiteX241" fmla="*/ 245981 w 1302012"/>
                <a:gd name="connsiteY241" fmla="*/ 263001 h 1212943"/>
                <a:gd name="connsiteX242" fmla="*/ 183103 w 1302012"/>
                <a:gd name="connsiteY242" fmla="*/ 197079 h 1212943"/>
                <a:gd name="connsiteX243" fmla="*/ 242087 w 1302012"/>
                <a:gd name="connsiteY243" fmla="*/ 249934 h 1212943"/>
                <a:gd name="connsiteX244" fmla="*/ 279940 w 1302012"/>
                <a:gd name="connsiteY244" fmla="*/ 213833 h 1212943"/>
                <a:gd name="connsiteX245" fmla="*/ 288318 w 1302012"/>
                <a:gd name="connsiteY245" fmla="*/ 222622 h 1212943"/>
                <a:gd name="connsiteX246" fmla="*/ 250474 w 1302012"/>
                <a:gd name="connsiteY246" fmla="*/ 258723 h 1212943"/>
                <a:gd name="connsiteX247" fmla="*/ 242087 w 1302012"/>
                <a:gd name="connsiteY247" fmla="*/ 249934 h 1212943"/>
                <a:gd name="connsiteX248" fmla="*/ 215054 w 1302012"/>
                <a:gd name="connsiteY248" fmla="*/ 221599 h 1212943"/>
                <a:gd name="connsiteX249" fmla="*/ 247918 w 1302012"/>
                <a:gd name="connsiteY249" fmla="*/ 190262 h 1212943"/>
                <a:gd name="connsiteX250" fmla="*/ 256296 w 1302012"/>
                <a:gd name="connsiteY250" fmla="*/ 199053 h 1212943"/>
                <a:gd name="connsiteX251" fmla="*/ 223441 w 1302012"/>
                <a:gd name="connsiteY251" fmla="*/ 230389 h 1212943"/>
                <a:gd name="connsiteX252" fmla="*/ 215054 w 1302012"/>
                <a:gd name="connsiteY252" fmla="*/ 221599 h 1212943"/>
                <a:gd name="connsiteX253" fmla="*/ 187589 w 1302012"/>
                <a:gd name="connsiteY253" fmla="*/ 192800 h 1212943"/>
                <a:gd name="connsiteX254" fmla="*/ 225444 w 1302012"/>
                <a:gd name="connsiteY254" fmla="*/ 156700 h 1212943"/>
                <a:gd name="connsiteX255" fmla="*/ 233841 w 1302012"/>
                <a:gd name="connsiteY255" fmla="*/ 165504 h 1212943"/>
                <a:gd name="connsiteX256" fmla="*/ 195989 w 1302012"/>
                <a:gd name="connsiteY256" fmla="*/ 201605 h 1212943"/>
                <a:gd name="connsiteX257" fmla="*/ 187589 w 1302012"/>
                <a:gd name="connsiteY257" fmla="*/ 192800 h 1212943"/>
                <a:gd name="connsiteX258" fmla="*/ 287447 w 1302012"/>
                <a:gd name="connsiteY258" fmla="*/ 172727 h 1212943"/>
                <a:gd name="connsiteX259" fmla="*/ 290573 w 1302012"/>
                <a:gd name="connsiteY259" fmla="*/ 107755 h 1212943"/>
                <a:gd name="connsiteX260" fmla="*/ 303369 w 1302012"/>
                <a:gd name="connsiteY260" fmla="*/ 98649 h 1212943"/>
                <a:gd name="connsiteX261" fmla="*/ 297023 w 1302012"/>
                <a:gd name="connsiteY261" fmla="*/ 189432 h 1212943"/>
                <a:gd name="connsiteX262" fmla="*/ 287447 w 1302012"/>
                <a:gd name="connsiteY262" fmla="*/ 172727 h 1212943"/>
                <a:gd name="connsiteX263" fmla="*/ 249641 w 1302012"/>
                <a:gd name="connsiteY263" fmla="*/ 136875 h 1212943"/>
                <a:gd name="connsiteX264" fmla="*/ 260049 w 1302012"/>
                <a:gd name="connsiteY264" fmla="*/ 129464 h 1212943"/>
                <a:gd name="connsiteX265" fmla="*/ 312870 w 1302012"/>
                <a:gd name="connsiteY265" fmla="*/ 203697 h 1212943"/>
                <a:gd name="connsiteX266" fmla="*/ 302452 w 1302012"/>
                <a:gd name="connsiteY266" fmla="*/ 211107 h 1212943"/>
                <a:gd name="connsiteX267" fmla="*/ 249641 w 1302012"/>
                <a:gd name="connsiteY267" fmla="*/ 136875 h 1212943"/>
                <a:gd name="connsiteX268" fmla="*/ 294786 w 1302012"/>
                <a:gd name="connsiteY268" fmla="*/ 156902 h 1212943"/>
                <a:gd name="connsiteX269" fmla="*/ 297594 w 1302012"/>
                <a:gd name="connsiteY269" fmla="*/ 143438 h 1212943"/>
                <a:gd name="connsiteX270" fmla="*/ 359297 w 1302012"/>
                <a:gd name="connsiteY270" fmla="*/ 170663 h 1212943"/>
                <a:gd name="connsiteX271" fmla="*/ 346548 w 1302012"/>
                <a:gd name="connsiteY271" fmla="*/ 179733 h 1212943"/>
                <a:gd name="connsiteX272" fmla="*/ 294786 w 1302012"/>
                <a:gd name="connsiteY272" fmla="*/ 156902 h 1212943"/>
                <a:gd name="connsiteX273" fmla="*/ 348561 w 1302012"/>
                <a:gd name="connsiteY273" fmla="*/ 81998 h 1212943"/>
                <a:gd name="connsiteX274" fmla="*/ 359924 w 1302012"/>
                <a:gd name="connsiteY274" fmla="*/ 76179 h 1212943"/>
                <a:gd name="connsiteX275" fmla="*/ 398058 w 1302012"/>
                <a:gd name="connsiteY275" fmla="*/ 150612 h 1212943"/>
                <a:gd name="connsiteX276" fmla="*/ 386704 w 1302012"/>
                <a:gd name="connsiteY276" fmla="*/ 156433 h 1212943"/>
                <a:gd name="connsiteX277" fmla="*/ 348561 w 1302012"/>
                <a:gd name="connsiteY277" fmla="*/ 81998 h 1212943"/>
                <a:gd name="connsiteX278" fmla="*/ 322230 w 1302012"/>
                <a:gd name="connsiteY278" fmla="*/ 87101 h 1212943"/>
                <a:gd name="connsiteX279" fmla="*/ 379422 w 1302012"/>
                <a:gd name="connsiteY279" fmla="*/ 57801 h 1212943"/>
                <a:gd name="connsiteX280" fmla="*/ 384972 w 1302012"/>
                <a:gd name="connsiteY280" fmla="*/ 68629 h 1212943"/>
                <a:gd name="connsiteX281" fmla="*/ 327781 w 1302012"/>
                <a:gd name="connsiteY281" fmla="*/ 97930 h 1212943"/>
                <a:gd name="connsiteX282" fmla="*/ 322230 w 1302012"/>
                <a:gd name="connsiteY282" fmla="*/ 87101 h 1212943"/>
                <a:gd name="connsiteX283" fmla="*/ 459246 w 1302012"/>
                <a:gd name="connsiteY283" fmla="*/ 124848 h 1212943"/>
                <a:gd name="connsiteX284" fmla="*/ 441733 w 1302012"/>
                <a:gd name="connsiteY284" fmla="*/ 127477 h 1212943"/>
                <a:gd name="connsiteX285" fmla="*/ 427318 w 1302012"/>
                <a:gd name="connsiteY285" fmla="*/ 120704 h 1212943"/>
                <a:gd name="connsiteX286" fmla="*/ 417097 w 1302012"/>
                <a:gd name="connsiteY286" fmla="*/ 105035 h 1212943"/>
                <a:gd name="connsiteX287" fmla="*/ 395755 w 1302012"/>
                <a:gd name="connsiteY287" fmla="*/ 50946 h 1212943"/>
                <a:gd name="connsiteX288" fmla="*/ 407634 w 1302012"/>
                <a:gd name="connsiteY288" fmla="*/ 46264 h 1212943"/>
                <a:gd name="connsiteX289" fmla="*/ 429125 w 1302012"/>
                <a:gd name="connsiteY289" fmla="*/ 100750 h 1212943"/>
                <a:gd name="connsiteX290" fmla="*/ 439459 w 1302012"/>
                <a:gd name="connsiteY290" fmla="*/ 113250 h 1212943"/>
                <a:gd name="connsiteX291" fmla="*/ 454623 w 1302012"/>
                <a:gd name="connsiteY291" fmla="*/ 113131 h 1212943"/>
                <a:gd name="connsiteX292" fmla="*/ 465864 w 1302012"/>
                <a:gd name="connsiteY292" fmla="*/ 102835 h 1212943"/>
                <a:gd name="connsiteX293" fmla="*/ 464900 w 1302012"/>
                <a:gd name="connsiteY293" fmla="*/ 86640 h 1212943"/>
                <a:gd name="connsiteX294" fmla="*/ 443409 w 1302012"/>
                <a:gd name="connsiteY294" fmla="*/ 32153 h 1212943"/>
                <a:gd name="connsiteX295" fmla="*/ 455296 w 1302012"/>
                <a:gd name="connsiteY295" fmla="*/ 27463 h 1212943"/>
                <a:gd name="connsiteX296" fmla="*/ 476629 w 1302012"/>
                <a:gd name="connsiteY296" fmla="*/ 81551 h 1212943"/>
                <a:gd name="connsiteX297" fmla="*/ 479858 w 1302012"/>
                <a:gd name="connsiteY297" fmla="*/ 99982 h 1212943"/>
                <a:gd name="connsiteX298" fmla="*/ 473914 w 1302012"/>
                <a:gd name="connsiteY298" fmla="*/ 114787 h 1212943"/>
                <a:gd name="connsiteX299" fmla="*/ 459246 w 1302012"/>
                <a:gd name="connsiteY299" fmla="*/ 124848 h 1212943"/>
                <a:gd name="connsiteX300" fmla="*/ 502622 w 1302012"/>
                <a:gd name="connsiteY300" fmla="*/ 57726 h 1212943"/>
                <a:gd name="connsiteX301" fmla="*/ 532884 w 1302012"/>
                <a:gd name="connsiteY301" fmla="*/ 50738 h 1212943"/>
                <a:gd name="connsiteX302" fmla="*/ 538781 w 1302012"/>
                <a:gd name="connsiteY302" fmla="*/ 47576 h 1212943"/>
                <a:gd name="connsiteX303" fmla="*/ 541908 w 1302012"/>
                <a:gd name="connsiteY303" fmla="*/ 41739 h 1212943"/>
                <a:gd name="connsiteX304" fmla="*/ 541720 w 1302012"/>
                <a:gd name="connsiteY304" fmla="*/ 34169 h 1212943"/>
                <a:gd name="connsiteX305" fmla="*/ 541720 w 1302012"/>
                <a:gd name="connsiteY305" fmla="*/ 34169 h 1212943"/>
                <a:gd name="connsiteX306" fmla="*/ 538575 w 1302012"/>
                <a:gd name="connsiteY306" fmla="*/ 27279 h 1212943"/>
                <a:gd name="connsiteX307" fmla="*/ 533221 w 1302012"/>
                <a:gd name="connsiteY307" fmla="*/ 23402 h 1212943"/>
                <a:gd name="connsiteX308" fmla="*/ 526519 w 1302012"/>
                <a:gd name="connsiteY308" fmla="*/ 23150 h 1212943"/>
                <a:gd name="connsiteX309" fmla="*/ 496257 w 1302012"/>
                <a:gd name="connsiteY309" fmla="*/ 30137 h 1212943"/>
                <a:gd name="connsiteX310" fmla="*/ 493515 w 1302012"/>
                <a:gd name="connsiteY310" fmla="*/ 18281 h 1212943"/>
                <a:gd name="connsiteX311" fmla="*/ 523299 w 1302012"/>
                <a:gd name="connsiteY311" fmla="*/ 11404 h 1212943"/>
                <a:gd name="connsiteX312" fmla="*/ 537555 w 1302012"/>
                <a:gd name="connsiteY312" fmla="*/ 11471 h 1212943"/>
                <a:gd name="connsiteX313" fmla="*/ 548656 w 1302012"/>
                <a:gd name="connsiteY313" fmla="*/ 18390 h 1212943"/>
                <a:gd name="connsiteX314" fmla="*/ 554965 w 1302012"/>
                <a:gd name="connsiteY314" fmla="*/ 31110 h 1212943"/>
                <a:gd name="connsiteX315" fmla="*/ 554965 w 1302012"/>
                <a:gd name="connsiteY315" fmla="*/ 31110 h 1212943"/>
                <a:gd name="connsiteX316" fmla="*/ 554843 w 1302012"/>
                <a:gd name="connsiteY316" fmla="*/ 45316 h 1212943"/>
                <a:gd name="connsiteX317" fmla="*/ 547861 w 1302012"/>
                <a:gd name="connsiteY317" fmla="*/ 56409 h 1212943"/>
                <a:gd name="connsiteX318" fmla="*/ 535140 w 1302012"/>
                <a:gd name="connsiteY318" fmla="*/ 62684 h 1212943"/>
                <a:gd name="connsiteX319" fmla="*/ 505355 w 1302012"/>
                <a:gd name="connsiteY319" fmla="*/ 69560 h 1212943"/>
                <a:gd name="connsiteX320" fmla="*/ 502622 w 1302012"/>
                <a:gd name="connsiteY320" fmla="*/ 57726 h 1212943"/>
                <a:gd name="connsiteX321" fmla="*/ 488076 w 1302012"/>
                <a:gd name="connsiteY321" fmla="*/ 19535 h 1212943"/>
                <a:gd name="connsiteX322" fmla="*/ 500535 w 1302012"/>
                <a:gd name="connsiteY322" fmla="*/ 16660 h 1212943"/>
                <a:gd name="connsiteX323" fmla="*/ 521043 w 1302012"/>
                <a:gd name="connsiteY323" fmla="*/ 105487 h 1212943"/>
                <a:gd name="connsiteX324" fmla="*/ 508594 w 1302012"/>
                <a:gd name="connsiteY324" fmla="*/ 108363 h 1212943"/>
                <a:gd name="connsiteX325" fmla="*/ 488076 w 1302012"/>
                <a:gd name="connsiteY325" fmla="*/ 19535 h 1212943"/>
                <a:gd name="connsiteX326" fmla="*/ 528878 w 1302012"/>
                <a:gd name="connsiteY326" fmla="*/ 61230 h 1212943"/>
                <a:gd name="connsiteX327" fmla="*/ 540634 w 1302012"/>
                <a:gd name="connsiteY327" fmla="*/ 55579 h 1212943"/>
                <a:gd name="connsiteX328" fmla="*/ 573283 w 1302012"/>
                <a:gd name="connsiteY328" fmla="*/ 93427 h 1212943"/>
                <a:gd name="connsiteX329" fmla="*/ 558513 w 1302012"/>
                <a:gd name="connsiteY329" fmla="*/ 96837 h 1212943"/>
                <a:gd name="connsiteX330" fmla="*/ 528878 w 1302012"/>
                <a:gd name="connsiteY330" fmla="*/ 61230 h 1212943"/>
                <a:gd name="connsiteX331" fmla="*/ 605492 w 1302012"/>
                <a:gd name="connsiteY331" fmla="*/ 826 h 1212943"/>
                <a:gd name="connsiteX332" fmla="*/ 616341 w 1302012"/>
                <a:gd name="connsiteY332" fmla="*/ 0 h 1212943"/>
                <a:gd name="connsiteX333" fmla="*/ 656740 w 1302012"/>
                <a:gd name="connsiteY333" fmla="*/ 88290 h 1212943"/>
                <a:gd name="connsiteX334" fmla="*/ 642990 w 1302012"/>
                <a:gd name="connsiteY334" fmla="*/ 89336 h 1212943"/>
                <a:gd name="connsiteX335" fmla="*/ 612241 w 1302012"/>
                <a:gd name="connsiteY335" fmla="*/ 17962 h 1212943"/>
                <a:gd name="connsiteX336" fmla="*/ 592669 w 1302012"/>
                <a:gd name="connsiteY336" fmla="*/ 93165 h 1212943"/>
                <a:gd name="connsiteX337" fmla="*/ 578918 w 1302012"/>
                <a:gd name="connsiteY337" fmla="*/ 94211 h 1212943"/>
                <a:gd name="connsiteX338" fmla="*/ 605492 w 1302012"/>
                <a:gd name="connsiteY338" fmla="*/ 826 h 1212943"/>
                <a:gd name="connsiteX339" fmla="*/ 591910 w 1302012"/>
                <a:gd name="connsiteY339" fmla="*/ 60987 h 1212943"/>
                <a:gd name="connsiteX340" fmla="*/ 639676 w 1302012"/>
                <a:gd name="connsiteY340" fmla="*/ 57354 h 1212943"/>
                <a:gd name="connsiteX341" fmla="*/ 640603 w 1302012"/>
                <a:gd name="connsiteY341" fmla="*/ 69466 h 1212943"/>
                <a:gd name="connsiteX342" fmla="*/ 592837 w 1302012"/>
                <a:gd name="connsiteY342" fmla="*/ 73099 h 1212943"/>
                <a:gd name="connsiteX343" fmla="*/ 591910 w 1302012"/>
                <a:gd name="connsiteY343" fmla="*/ 60987 h 1212943"/>
                <a:gd name="connsiteX344" fmla="*/ 712406 w 1302012"/>
                <a:gd name="connsiteY344" fmla="*/ 54616 h 1212943"/>
                <a:gd name="connsiteX345" fmla="*/ 711479 w 1302012"/>
                <a:gd name="connsiteY345" fmla="*/ 66749 h 1212943"/>
                <a:gd name="connsiteX346" fmla="*/ 669517 w 1302012"/>
                <a:gd name="connsiteY346" fmla="*/ 63555 h 1212943"/>
                <a:gd name="connsiteX347" fmla="*/ 670434 w 1302012"/>
                <a:gd name="connsiteY347" fmla="*/ 51423 h 1212943"/>
                <a:gd name="connsiteX348" fmla="*/ 712406 w 1302012"/>
                <a:gd name="connsiteY348" fmla="*/ 54616 h 1212943"/>
                <a:gd name="connsiteX349" fmla="*/ 763916 w 1302012"/>
                <a:gd name="connsiteY349" fmla="*/ 76035 h 1212943"/>
                <a:gd name="connsiteX350" fmla="*/ 771919 w 1302012"/>
                <a:gd name="connsiteY350" fmla="*/ 68886 h 1212943"/>
                <a:gd name="connsiteX351" fmla="*/ 800646 w 1302012"/>
                <a:gd name="connsiteY351" fmla="*/ 101128 h 1212943"/>
                <a:gd name="connsiteX352" fmla="*/ 792624 w 1302012"/>
                <a:gd name="connsiteY352" fmla="*/ 108341 h 1212943"/>
                <a:gd name="connsiteX353" fmla="*/ 763916 w 1302012"/>
                <a:gd name="connsiteY353" fmla="*/ 76035 h 1212943"/>
                <a:gd name="connsiteX354" fmla="*/ 759498 w 1302012"/>
                <a:gd name="connsiteY354" fmla="*/ 101859 h 1212943"/>
                <a:gd name="connsiteX355" fmla="*/ 743688 w 1302012"/>
                <a:gd name="connsiteY355" fmla="*/ 94798 h 1212943"/>
                <a:gd name="connsiteX356" fmla="*/ 734693 w 1302012"/>
                <a:gd name="connsiteY356" fmla="*/ 81220 h 1212943"/>
                <a:gd name="connsiteX357" fmla="*/ 733878 w 1302012"/>
                <a:gd name="connsiteY357" fmla="*/ 63174 h 1212943"/>
                <a:gd name="connsiteX358" fmla="*/ 738418 w 1302012"/>
                <a:gd name="connsiteY358" fmla="*/ 37765 h 1212943"/>
                <a:gd name="connsiteX359" fmla="*/ 745438 w 1302012"/>
                <a:gd name="connsiteY359" fmla="*/ 21098 h 1212943"/>
                <a:gd name="connsiteX360" fmla="*/ 758571 w 1302012"/>
                <a:gd name="connsiteY360" fmla="*/ 11476 h 1212943"/>
                <a:gd name="connsiteX361" fmla="*/ 775850 w 1302012"/>
                <a:gd name="connsiteY361" fmla="*/ 10326 h 1212943"/>
                <a:gd name="connsiteX362" fmla="*/ 791632 w 1302012"/>
                <a:gd name="connsiteY362" fmla="*/ 17383 h 1212943"/>
                <a:gd name="connsiteX363" fmla="*/ 800627 w 1302012"/>
                <a:gd name="connsiteY363" fmla="*/ 30960 h 1212943"/>
                <a:gd name="connsiteX364" fmla="*/ 801441 w 1302012"/>
                <a:gd name="connsiteY364" fmla="*/ 49027 h 1212943"/>
                <a:gd name="connsiteX365" fmla="*/ 796901 w 1302012"/>
                <a:gd name="connsiteY365" fmla="*/ 74435 h 1212943"/>
                <a:gd name="connsiteX366" fmla="*/ 789891 w 1302012"/>
                <a:gd name="connsiteY366" fmla="*/ 91083 h 1212943"/>
                <a:gd name="connsiteX367" fmla="*/ 776749 w 1302012"/>
                <a:gd name="connsiteY367" fmla="*/ 100704 h 1212943"/>
                <a:gd name="connsiteX368" fmla="*/ 759498 w 1302012"/>
                <a:gd name="connsiteY368" fmla="*/ 101859 h 1212943"/>
                <a:gd name="connsiteX369" fmla="*/ 761707 w 1302012"/>
                <a:gd name="connsiteY369" fmla="*/ 89459 h 1212943"/>
                <a:gd name="connsiteX370" fmla="*/ 771919 w 1302012"/>
                <a:gd name="connsiteY370" fmla="*/ 88699 h 1212943"/>
                <a:gd name="connsiteX371" fmla="*/ 779707 w 1302012"/>
                <a:gd name="connsiteY371" fmla="*/ 82790 h 1212943"/>
                <a:gd name="connsiteX372" fmla="*/ 783928 w 1302012"/>
                <a:gd name="connsiteY372" fmla="*/ 72551 h 1212943"/>
                <a:gd name="connsiteX373" fmla="*/ 788627 w 1302012"/>
                <a:gd name="connsiteY373" fmla="*/ 46280 h 1212943"/>
                <a:gd name="connsiteX374" fmla="*/ 788206 w 1302012"/>
                <a:gd name="connsiteY374" fmla="*/ 35233 h 1212943"/>
                <a:gd name="connsiteX375" fmla="*/ 782955 w 1302012"/>
                <a:gd name="connsiteY375" fmla="*/ 26974 h 1212943"/>
                <a:gd name="connsiteX376" fmla="*/ 773632 w 1302012"/>
                <a:gd name="connsiteY376" fmla="*/ 22725 h 1212943"/>
                <a:gd name="connsiteX377" fmla="*/ 763401 w 1302012"/>
                <a:gd name="connsiteY377" fmla="*/ 23481 h 1212943"/>
                <a:gd name="connsiteX378" fmla="*/ 755613 w 1302012"/>
                <a:gd name="connsiteY378" fmla="*/ 29411 h 1212943"/>
                <a:gd name="connsiteX379" fmla="*/ 751401 w 1302012"/>
                <a:gd name="connsiteY379" fmla="*/ 39629 h 1212943"/>
                <a:gd name="connsiteX380" fmla="*/ 746702 w 1302012"/>
                <a:gd name="connsiteY380" fmla="*/ 65900 h 1212943"/>
                <a:gd name="connsiteX381" fmla="*/ 747114 w 1302012"/>
                <a:gd name="connsiteY381" fmla="*/ 76965 h 1212943"/>
                <a:gd name="connsiteX382" fmla="*/ 752374 w 1302012"/>
                <a:gd name="connsiteY382" fmla="*/ 85206 h 1212943"/>
                <a:gd name="connsiteX383" fmla="*/ 761707 w 1302012"/>
                <a:gd name="connsiteY383" fmla="*/ 89459 h 1212943"/>
                <a:gd name="connsiteX384" fmla="*/ 841017 w 1302012"/>
                <a:gd name="connsiteY384" fmla="*/ 124538 h 1212943"/>
                <a:gd name="connsiteX385" fmla="*/ 825956 w 1302012"/>
                <a:gd name="connsiteY385" fmla="*/ 115238 h 1212943"/>
                <a:gd name="connsiteX386" fmla="*/ 819319 w 1302012"/>
                <a:gd name="connsiteY386" fmla="*/ 100759 h 1212943"/>
                <a:gd name="connsiteX387" fmla="*/ 821631 w 1302012"/>
                <a:gd name="connsiteY387" fmla="*/ 82192 h 1212943"/>
                <a:gd name="connsiteX388" fmla="*/ 840286 w 1302012"/>
                <a:gd name="connsiteY388" fmla="*/ 27116 h 1212943"/>
                <a:gd name="connsiteX389" fmla="*/ 852371 w 1302012"/>
                <a:gd name="connsiteY389" fmla="*/ 31209 h 1212943"/>
                <a:gd name="connsiteX390" fmla="*/ 833585 w 1302012"/>
                <a:gd name="connsiteY390" fmla="*/ 86688 h 1212943"/>
                <a:gd name="connsiteX391" fmla="*/ 833397 w 1302012"/>
                <a:gd name="connsiteY391" fmla="*/ 102904 h 1212943"/>
                <a:gd name="connsiteX392" fmla="*/ 845051 w 1302012"/>
                <a:gd name="connsiteY392" fmla="*/ 112606 h 1212943"/>
                <a:gd name="connsiteX393" fmla="*/ 860290 w 1302012"/>
                <a:gd name="connsiteY393" fmla="*/ 112007 h 1212943"/>
                <a:gd name="connsiteX394" fmla="*/ 870015 w 1302012"/>
                <a:gd name="connsiteY394" fmla="*/ 99021 h 1212943"/>
                <a:gd name="connsiteX395" fmla="*/ 888792 w 1302012"/>
                <a:gd name="connsiteY395" fmla="*/ 43540 h 1212943"/>
                <a:gd name="connsiteX396" fmla="*/ 900904 w 1302012"/>
                <a:gd name="connsiteY396" fmla="*/ 47639 h 1212943"/>
                <a:gd name="connsiteX397" fmla="*/ 882258 w 1302012"/>
                <a:gd name="connsiteY397" fmla="*/ 102713 h 1212943"/>
                <a:gd name="connsiteX398" fmla="*/ 872814 w 1302012"/>
                <a:gd name="connsiteY398" fmla="*/ 118867 h 1212943"/>
                <a:gd name="connsiteX399" fmla="*/ 858708 w 1302012"/>
                <a:gd name="connsiteY399" fmla="*/ 126328 h 1212943"/>
                <a:gd name="connsiteX400" fmla="*/ 841017 w 1302012"/>
                <a:gd name="connsiteY400" fmla="*/ 124538 h 1212943"/>
                <a:gd name="connsiteX401" fmla="*/ 917518 w 1302012"/>
                <a:gd name="connsiteY401" fmla="*/ 101010 h 1212943"/>
                <a:gd name="connsiteX402" fmla="*/ 945169 w 1302012"/>
                <a:gd name="connsiteY402" fmla="*/ 115174 h 1212943"/>
                <a:gd name="connsiteX403" fmla="*/ 951712 w 1302012"/>
                <a:gd name="connsiteY403" fmla="*/ 116556 h 1212943"/>
                <a:gd name="connsiteX404" fmla="*/ 957861 w 1302012"/>
                <a:gd name="connsiteY404" fmla="*/ 114111 h 1212943"/>
                <a:gd name="connsiteX405" fmla="*/ 962598 w 1302012"/>
                <a:gd name="connsiteY405" fmla="*/ 108199 h 1212943"/>
                <a:gd name="connsiteX406" fmla="*/ 962598 w 1302012"/>
                <a:gd name="connsiteY406" fmla="*/ 108199 h 1212943"/>
                <a:gd name="connsiteX407" fmla="*/ 964629 w 1302012"/>
                <a:gd name="connsiteY407" fmla="*/ 100903 h 1212943"/>
                <a:gd name="connsiteX408" fmla="*/ 963038 w 1302012"/>
                <a:gd name="connsiteY408" fmla="*/ 94490 h 1212943"/>
                <a:gd name="connsiteX409" fmla="*/ 958077 w 1302012"/>
                <a:gd name="connsiteY409" fmla="*/ 89974 h 1212943"/>
                <a:gd name="connsiteX410" fmla="*/ 930436 w 1302012"/>
                <a:gd name="connsiteY410" fmla="*/ 75812 h 1212943"/>
                <a:gd name="connsiteX411" fmla="*/ 935986 w 1302012"/>
                <a:gd name="connsiteY411" fmla="*/ 64982 h 1212943"/>
                <a:gd name="connsiteX412" fmla="*/ 963188 w 1302012"/>
                <a:gd name="connsiteY412" fmla="*/ 78921 h 1212943"/>
                <a:gd name="connsiteX413" fmla="*/ 974046 w 1302012"/>
                <a:gd name="connsiteY413" fmla="*/ 88160 h 1212943"/>
                <a:gd name="connsiteX414" fmla="*/ 978070 w 1302012"/>
                <a:gd name="connsiteY414" fmla="*/ 100602 h 1212943"/>
                <a:gd name="connsiteX415" fmla="*/ 974701 w 1302012"/>
                <a:gd name="connsiteY415" fmla="*/ 114399 h 1212943"/>
                <a:gd name="connsiteX416" fmla="*/ 974701 w 1302012"/>
                <a:gd name="connsiteY416" fmla="*/ 114399 h 1212943"/>
                <a:gd name="connsiteX417" fmla="*/ 965453 w 1302012"/>
                <a:gd name="connsiteY417" fmla="*/ 125182 h 1212943"/>
                <a:gd name="connsiteX418" fmla="*/ 952957 w 1302012"/>
                <a:gd name="connsiteY418" fmla="*/ 129164 h 1212943"/>
                <a:gd name="connsiteX419" fmla="*/ 939188 w 1302012"/>
                <a:gd name="connsiteY419" fmla="*/ 125760 h 1212943"/>
                <a:gd name="connsiteX420" fmla="*/ 911987 w 1302012"/>
                <a:gd name="connsiteY420" fmla="*/ 111819 h 1212943"/>
                <a:gd name="connsiteX421" fmla="*/ 917518 w 1302012"/>
                <a:gd name="connsiteY421" fmla="*/ 101010 h 1212943"/>
                <a:gd name="connsiteX422" fmla="*/ 931016 w 1302012"/>
                <a:gd name="connsiteY422" fmla="*/ 62438 h 1212943"/>
                <a:gd name="connsiteX423" fmla="*/ 942398 w 1302012"/>
                <a:gd name="connsiteY423" fmla="*/ 68268 h 1212943"/>
                <a:gd name="connsiteX424" fmla="*/ 900820 w 1302012"/>
                <a:gd name="connsiteY424" fmla="*/ 149401 h 1212943"/>
                <a:gd name="connsiteX425" fmla="*/ 889438 w 1302012"/>
                <a:gd name="connsiteY425" fmla="*/ 143572 h 1212943"/>
                <a:gd name="connsiteX426" fmla="*/ 931016 w 1302012"/>
                <a:gd name="connsiteY426" fmla="*/ 62438 h 1212943"/>
                <a:gd name="connsiteX427" fmla="*/ 935341 w 1302012"/>
                <a:gd name="connsiteY427" fmla="*/ 120614 h 1212943"/>
                <a:gd name="connsiteX428" fmla="*/ 947968 w 1302012"/>
                <a:gd name="connsiteY428" fmla="*/ 123865 h 1212943"/>
                <a:gd name="connsiteX429" fmla="*/ 948529 w 1302012"/>
                <a:gd name="connsiteY429" fmla="*/ 173848 h 1212943"/>
                <a:gd name="connsiteX430" fmla="*/ 935041 w 1302012"/>
                <a:gd name="connsiteY430" fmla="*/ 166937 h 1212943"/>
                <a:gd name="connsiteX431" fmla="*/ 935341 w 1302012"/>
                <a:gd name="connsiteY431" fmla="*/ 120614 h 1212943"/>
                <a:gd name="connsiteX432" fmla="*/ 972436 w 1302012"/>
                <a:gd name="connsiteY432" fmla="*/ 192353 h 1212943"/>
                <a:gd name="connsiteX433" fmla="*/ 962017 w 1302012"/>
                <a:gd name="connsiteY433" fmla="*/ 184942 h 1212943"/>
                <a:gd name="connsiteX434" fmla="*/ 1014838 w 1302012"/>
                <a:gd name="connsiteY434" fmla="*/ 110712 h 1212943"/>
                <a:gd name="connsiteX435" fmla="*/ 1025256 w 1302012"/>
                <a:gd name="connsiteY435" fmla="*/ 118122 h 1212943"/>
                <a:gd name="connsiteX436" fmla="*/ 972436 w 1302012"/>
                <a:gd name="connsiteY436" fmla="*/ 192353 h 1212943"/>
                <a:gd name="connsiteX437" fmla="*/ 1050856 w 1302012"/>
                <a:gd name="connsiteY437" fmla="*/ 136115 h 1212943"/>
                <a:gd name="connsiteX438" fmla="*/ 1060516 w 1302012"/>
                <a:gd name="connsiteY438" fmla="*/ 144487 h 1212943"/>
                <a:gd name="connsiteX439" fmla="*/ 1000854 w 1302012"/>
                <a:gd name="connsiteY439" fmla="*/ 213330 h 1212943"/>
                <a:gd name="connsiteX440" fmla="*/ 991194 w 1302012"/>
                <a:gd name="connsiteY440" fmla="*/ 204958 h 1212943"/>
                <a:gd name="connsiteX441" fmla="*/ 1050856 w 1302012"/>
                <a:gd name="connsiteY441" fmla="*/ 136115 h 1212943"/>
                <a:gd name="connsiteX442" fmla="*/ 1003980 w 1302012"/>
                <a:gd name="connsiteY442" fmla="*/ 199966 h 1212943"/>
                <a:gd name="connsiteX443" fmla="*/ 1043359 w 1302012"/>
                <a:gd name="connsiteY443" fmla="*/ 234095 h 1212943"/>
                <a:gd name="connsiteX444" fmla="*/ 1035402 w 1302012"/>
                <a:gd name="connsiteY444" fmla="*/ 243275 h 1212943"/>
                <a:gd name="connsiteX445" fmla="*/ 996024 w 1302012"/>
                <a:gd name="connsiteY445" fmla="*/ 209145 h 1212943"/>
                <a:gd name="connsiteX446" fmla="*/ 1003980 w 1302012"/>
                <a:gd name="connsiteY446" fmla="*/ 199966 h 1212943"/>
                <a:gd name="connsiteX447" fmla="*/ 1054694 w 1302012"/>
                <a:gd name="connsiteY447" fmla="*/ 263311 h 1212943"/>
                <a:gd name="connsiteX448" fmla="*/ 1045877 w 1302012"/>
                <a:gd name="connsiteY448" fmla="*/ 254057 h 1212943"/>
                <a:gd name="connsiteX449" fmla="*/ 1111829 w 1302012"/>
                <a:gd name="connsiteY449" fmla="*/ 191210 h 1212943"/>
                <a:gd name="connsiteX450" fmla="*/ 1120647 w 1302012"/>
                <a:gd name="connsiteY450" fmla="*/ 200464 h 1212943"/>
                <a:gd name="connsiteX451" fmla="*/ 1054694 w 1302012"/>
                <a:gd name="connsiteY451" fmla="*/ 263311 h 1212943"/>
                <a:gd name="connsiteX452" fmla="*/ 1086781 w 1302012"/>
                <a:gd name="connsiteY452" fmla="*/ 301458 h 1212943"/>
                <a:gd name="connsiteX453" fmla="*/ 1080070 w 1302012"/>
                <a:gd name="connsiteY453" fmla="*/ 290879 h 1212943"/>
                <a:gd name="connsiteX454" fmla="*/ 1076213 w 1302012"/>
                <a:gd name="connsiteY454" fmla="*/ 279911 h 1212943"/>
                <a:gd name="connsiteX455" fmla="*/ 1075259 w 1302012"/>
                <a:gd name="connsiteY455" fmla="*/ 268544 h 1212943"/>
                <a:gd name="connsiteX456" fmla="*/ 1075259 w 1302012"/>
                <a:gd name="connsiteY456" fmla="*/ 268544 h 1212943"/>
                <a:gd name="connsiteX457" fmla="*/ 1087848 w 1302012"/>
                <a:gd name="connsiteY457" fmla="*/ 268761 h 1212943"/>
                <a:gd name="connsiteX458" fmla="*/ 1087848 w 1302012"/>
                <a:gd name="connsiteY458" fmla="*/ 268761 h 1212943"/>
                <a:gd name="connsiteX459" fmla="*/ 1089618 w 1302012"/>
                <a:gd name="connsiteY459" fmla="*/ 281943 h 1212943"/>
                <a:gd name="connsiteX460" fmla="*/ 1096245 w 1302012"/>
                <a:gd name="connsiteY460" fmla="*/ 294022 h 1212943"/>
                <a:gd name="connsiteX461" fmla="*/ 1108591 w 1302012"/>
                <a:gd name="connsiteY461" fmla="*/ 303817 h 1212943"/>
                <a:gd name="connsiteX462" fmla="*/ 1120113 w 1302012"/>
                <a:gd name="connsiteY462" fmla="*/ 301697 h 1212943"/>
                <a:gd name="connsiteX463" fmla="*/ 1120170 w 1302012"/>
                <a:gd name="connsiteY463" fmla="*/ 301657 h 1212943"/>
                <a:gd name="connsiteX464" fmla="*/ 1124588 w 1302012"/>
                <a:gd name="connsiteY464" fmla="*/ 295060 h 1212943"/>
                <a:gd name="connsiteX465" fmla="*/ 1123886 w 1302012"/>
                <a:gd name="connsiteY465" fmla="*/ 287485 h 1212943"/>
                <a:gd name="connsiteX466" fmla="*/ 1119589 w 1302012"/>
                <a:gd name="connsiteY466" fmla="*/ 278002 h 1212943"/>
                <a:gd name="connsiteX467" fmla="*/ 1119383 w 1302012"/>
                <a:gd name="connsiteY467" fmla="*/ 277642 h 1212943"/>
                <a:gd name="connsiteX468" fmla="*/ 1119168 w 1302012"/>
                <a:gd name="connsiteY468" fmla="*/ 277266 h 1212943"/>
                <a:gd name="connsiteX469" fmla="*/ 1118737 w 1302012"/>
                <a:gd name="connsiteY469" fmla="*/ 276438 h 1212943"/>
                <a:gd name="connsiteX470" fmla="*/ 1112344 w 1302012"/>
                <a:gd name="connsiteY470" fmla="*/ 262547 h 1212943"/>
                <a:gd name="connsiteX471" fmla="*/ 1111951 w 1302012"/>
                <a:gd name="connsiteY471" fmla="*/ 250378 h 1212943"/>
                <a:gd name="connsiteX472" fmla="*/ 1121143 w 1302012"/>
                <a:gd name="connsiteY472" fmla="*/ 237991 h 1212943"/>
                <a:gd name="connsiteX473" fmla="*/ 1121199 w 1302012"/>
                <a:gd name="connsiteY473" fmla="*/ 237951 h 1212943"/>
                <a:gd name="connsiteX474" fmla="*/ 1134884 w 1302012"/>
                <a:gd name="connsiteY474" fmla="*/ 232009 h 1212943"/>
                <a:gd name="connsiteX475" fmla="*/ 1148878 w 1302012"/>
                <a:gd name="connsiteY475" fmla="*/ 235074 h 1212943"/>
                <a:gd name="connsiteX476" fmla="*/ 1162151 w 1302012"/>
                <a:gd name="connsiteY476" fmla="*/ 246882 h 1212943"/>
                <a:gd name="connsiteX477" fmla="*/ 1167233 w 1302012"/>
                <a:gd name="connsiteY477" fmla="*/ 255090 h 1212943"/>
                <a:gd name="connsiteX478" fmla="*/ 1170519 w 1302012"/>
                <a:gd name="connsiteY478" fmla="*/ 264391 h 1212943"/>
                <a:gd name="connsiteX479" fmla="*/ 1171932 w 1302012"/>
                <a:gd name="connsiteY479" fmla="*/ 274777 h 1212943"/>
                <a:gd name="connsiteX480" fmla="*/ 1171932 w 1302012"/>
                <a:gd name="connsiteY480" fmla="*/ 274777 h 1212943"/>
                <a:gd name="connsiteX481" fmla="*/ 1159474 w 1302012"/>
                <a:gd name="connsiteY481" fmla="*/ 275323 h 1212943"/>
                <a:gd name="connsiteX482" fmla="*/ 1159474 w 1302012"/>
                <a:gd name="connsiteY482" fmla="*/ 275323 h 1212943"/>
                <a:gd name="connsiteX483" fmla="*/ 1157574 w 1302012"/>
                <a:gd name="connsiteY483" fmla="*/ 263631 h 1212943"/>
                <a:gd name="connsiteX484" fmla="*/ 1152678 w 1302012"/>
                <a:gd name="connsiteY484" fmla="*/ 254318 h 1212943"/>
                <a:gd name="connsiteX485" fmla="*/ 1140790 w 1302012"/>
                <a:gd name="connsiteY485" fmla="*/ 245203 h 1212943"/>
                <a:gd name="connsiteX486" fmla="*/ 1129296 w 1302012"/>
                <a:gd name="connsiteY486" fmla="*/ 247678 h 1212943"/>
                <a:gd name="connsiteX487" fmla="*/ 1129249 w 1302012"/>
                <a:gd name="connsiteY487" fmla="*/ 247718 h 1212943"/>
                <a:gd name="connsiteX488" fmla="*/ 1125084 w 1302012"/>
                <a:gd name="connsiteY488" fmla="*/ 254359 h 1212943"/>
                <a:gd name="connsiteX489" fmla="*/ 1126057 w 1302012"/>
                <a:gd name="connsiteY489" fmla="*/ 262044 h 1212943"/>
                <a:gd name="connsiteX490" fmla="*/ 1130784 w 1302012"/>
                <a:gd name="connsiteY490" fmla="*/ 272386 h 1212943"/>
                <a:gd name="connsiteX491" fmla="*/ 1131009 w 1302012"/>
                <a:gd name="connsiteY491" fmla="*/ 272808 h 1212943"/>
                <a:gd name="connsiteX492" fmla="*/ 1131215 w 1302012"/>
                <a:gd name="connsiteY492" fmla="*/ 273245 h 1212943"/>
                <a:gd name="connsiteX493" fmla="*/ 1131533 w 1302012"/>
                <a:gd name="connsiteY493" fmla="*/ 273862 h 1212943"/>
                <a:gd name="connsiteX494" fmla="*/ 1131879 w 1302012"/>
                <a:gd name="connsiteY494" fmla="*/ 274465 h 1212943"/>
                <a:gd name="connsiteX495" fmla="*/ 1137243 w 1302012"/>
                <a:gd name="connsiteY495" fmla="*/ 287808 h 1212943"/>
                <a:gd name="connsiteX496" fmla="*/ 1137084 w 1302012"/>
                <a:gd name="connsiteY496" fmla="*/ 299727 h 1212943"/>
                <a:gd name="connsiteX497" fmla="*/ 1128266 w 1302012"/>
                <a:gd name="connsiteY497" fmla="*/ 311383 h 1212943"/>
                <a:gd name="connsiteX498" fmla="*/ 1128163 w 1302012"/>
                <a:gd name="connsiteY498" fmla="*/ 311463 h 1212943"/>
                <a:gd name="connsiteX499" fmla="*/ 1114535 w 1302012"/>
                <a:gd name="connsiteY499" fmla="*/ 317166 h 1212943"/>
                <a:gd name="connsiteX500" fmla="*/ 1100372 w 1302012"/>
                <a:gd name="connsiteY500" fmla="*/ 313749 h 1212943"/>
                <a:gd name="connsiteX501" fmla="*/ 1086781 w 1302012"/>
                <a:gd name="connsiteY501" fmla="*/ 301458 h 1212943"/>
                <a:gd name="connsiteX502" fmla="*/ 1222768 w 1302012"/>
                <a:gd name="connsiteY502" fmla="*/ 340479 h 1212943"/>
                <a:gd name="connsiteX503" fmla="*/ 1229142 w 1302012"/>
                <a:gd name="connsiteY503" fmla="*/ 351562 h 1212943"/>
                <a:gd name="connsiteX504" fmla="*/ 1150151 w 1302012"/>
                <a:gd name="connsiteY504" fmla="*/ 396958 h 1212943"/>
                <a:gd name="connsiteX505" fmla="*/ 1143786 w 1302012"/>
                <a:gd name="connsiteY505" fmla="*/ 385875 h 1212943"/>
                <a:gd name="connsiteX506" fmla="*/ 1222768 w 1302012"/>
                <a:gd name="connsiteY506" fmla="*/ 340479 h 1212943"/>
                <a:gd name="connsiteX507" fmla="*/ 1196990 w 1302012"/>
                <a:gd name="connsiteY507" fmla="*/ 295630 h 1212943"/>
                <a:gd name="connsiteX508" fmla="*/ 1203364 w 1302012"/>
                <a:gd name="connsiteY508" fmla="*/ 306713 h 1212943"/>
                <a:gd name="connsiteX509" fmla="*/ 1124372 w 1302012"/>
                <a:gd name="connsiteY509" fmla="*/ 352108 h 1212943"/>
                <a:gd name="connsiteX510" fmla="*/ 1118007 w 1302012"/>
                <a:gd name="connsiteY510" fmla="*/ 341026 h 1212943"/>
                <a:gd name="connsiteX511" fmla="*/ 1196990 w 1302012"/>
                <a:gd name="connsiteY511" fmla="*/ 295630 h 1212943"/>
                <a:gd name="connsiteX512" fmla="*/ 1166129 w 1302012"/>
                <a:gd name="connsiteY512" fmla="*/ 322537 h 1212943"/>
                <a:gd name="connsiteX513" fmla="*/ 1191327 w 1302012"/>
                <a:gd name="connsiteY513" fmla="*/ 366367 h 1212943"/>
                <a:gd name="connsiteX514" fmla="*/ 1180778 w 1302012"/>
                <a:gd name="connsiteY514" fmla="*/ 372429 h 1212943"/>
                <a:gd name="connsiteX515" fmla="*/ 1155580 w 1302012"/>
                <a:gd name="connsiteY515" fmla="*/ 328600 h 1212943"/>
                <a:gd name="connsiteX516" fmla="*/ 1166129 w 1302012"/>
                <a:gd name="connsiteY516" fmla="*/ 322537 h 1212943"/>
                <a:gd name="connsiteX517" fmla="*/ 1181854 w 1302012"/>
                <a:gd name="connsiteY517" fmla="*/ 478622 h 1212943"/>
                <a:gd name="connsiteX518" fmla="*/ 1180094 w 1302012"/>
                <a:gd name="connsiteY518" fmla="*/ 461006 h 1212943"/>
                <a:gd name="connsiteX519" fmla="*/ 1187573 w 1302012"/>
                <a:gd name="connsiteY519" fmla="*/ 446947 h 1212943"/>
                <a:gd name="connsiteX520" fmla="*/ 1203729 w 1302012"/>
                <a:gd name="connsiteY520" fmla="*/ 437512 h 1212943"/>
                <a:gd name="connsiteX521" fmla="*/ 1258815 w 1302012"/>
                <a:gd name="connsiteY521" fmla="*/ 418885 h 1212943"/>
                <a:gd name="connsiteX522" fmla="*/ 1262905 w 1302012"/>
                <a:gd name="connsiteY522" fmla="*/ 430972 h 1212943"/>
                <a:gd name="connsiteX523" fmla="*/ 1207417 w 1302012"/>
                <a:gd name="connsiteY523" fmla="*/ 449737 h 1212943"/>
                <a:gd name="connsiteX524" fmla="*/ 1194416 w 1302012"/>
                <a:gd name="connsiteY524" fmla="*/ 459435 h 1212943"/>
                <a:gd name="connsiteX525" fmla="*/ 1193788 w 1302012"/>
                <a:gd name="connsiteY525" fmla="*/ 474587 h 1212943"/>
                <a:gd name="connsiteX526" fmla="*/ 1203514 w 1302012"/>
                <a:gd name="connsiteY526" fmla="*/ 486326 h 1212943"/>
                <a:gd name="connsiteX527" fmla="*/ 1219735 w 1302012"/>
                <a:gd name="connsiteY527" fmla="*/ 486165 h 1212943"/>
                <a:gd name="connsiteX528" fmla="*/ 1275223 w 1302012"/>
                <a:gd name="connsiteY528" fmla="*/ 467401 h 1212943"/>
                <a:gd name="connsiteX529" fmla="*/ 1279323 w 1302012"/>
                <a:gd name="connsiteY529" fmla="*/ 479510 h 1212943"/>
                <a:gd name="connsiteX530" fmla="*/ 1224238 w 1302012"/>
                <a:gd name="connsiteY530" fmla="*/ 498136 h 1212943"/>
                <a:gd name="connsiteX531" fmla="*/ 1205667 w 1302012"/>
                <a:gd name="connsiteY531" fmla="*/ 500445 h 1212943"/>
                <a:gd name="connsiteX532" fmla="*/ 1191177 w 1302012"/>
                <a:gd name="connsiteY532" fmla="*/ 493769 h 1212943"/>
                <a:gd name="connsiteX533" fmla="*/ 1181854 w 1302012"/>
                <a:gd name="connsiteY533" fmla="*/ 478622 h 1212943"/>
                <a:gd name="connsiteX534" fmla="*/ 1286353 w 1302012"/>
                <a:gd name="connsiteY534" fmla="*/ 512514 h 1212943"/>
                <a:gd name="connsiteX535" fmla="*/ 1288384 w 1302012"/>
                <a:gd name="connsiteY535" fmla="*/ 523919 h 1212943"/>
                <a:gd name="connsiteX536" fmla="*/ 1226887 w 1302012"/>
                <a:gd name="connsiteY536" fmla="*/ 580125 h 1212943"/>
                <a:gd name="connsiteX537" fmla="*/ 1225024 w 1302012"/>
                <a:gd name="connsiteY537" fmla="*/ 578937 h 1212943"/>
                <a:gd name="connsiteX538" fmla="*/ 1295947 w 1302012"/>
                <a:gd name="connsiteY538" fmla="*/ 566277 h 1212943"/>
                <a:gd name="connsiteX539" fmla="*/ 1298175 w 1302012"/>
                <a:gd name="connsiteY539" fmla="*/ 578735 h 1212943"/>
                <a:gd name="connsiteX540" fmla="*/ 1208550 w 1302012"/>
                <a:gd name="connsiteY540" fmla="*/ 594735 h 1212943"/>
                <a:gd name="connsiteX541" fmla="*/ 1206491 w 1302012"/>
                <a:gd name="connsiteY541" fmla="*/ 583204 h 1212943"/>
                <a:gd name="connsiteX542" fmla="*/ 1266968 w 1302012"/>
                <a:gd name="connsiteY542" fmla="*/ 527309 h 1212943"/>
                <a:gd name="connsiteX543" fmla="*/ 1268830 w 1302012"/>
                <a:gd name="connsiteY543" fmla="*/ 528496 h 1212943"/>
                <a:gd name="connsiteX544" fmla="*/ 1198955 w 1302012"/>
                <a:gd name="connsiteY544" fmla="*/ 540967 h 1212943"/>
                <a:gd name="connsiteX545" fmla="*/ 1196728 w 1302012"/>
                <a:gd name="connsiteY545" fmla="*/ 528509 h 1212943"/>
                <a:gd name="connsiteX546" fmla="*/ 1286353 w 1302012"/>
                <a:gd name="connsiteY546" fmla="*/ 512514 h 1212943"/>
                <a:gd name="connsiteX547" fmla="*/ 1208980 w 1302012"/>
                <a:gd name="connsiteY547" fmla="*/ 630228 h 1212943"/>
                <a:gd name="connsiteX548" fmla="*/ 1208653 w 1302012"/>
                <a:gd name="connsiteY548" fmla="*/ 617451 h 1212943"/>
                <a:gd name="connsiteX549" fmla="*/ 1299729 w 1302012"/>
                <a:gd name="connsiteY549" fmla="*/ 615149 h 1212943"/>
                <a:gd name="connsiteX550" fmla="*/ 1300056 w 1302012"/>
                <a:gd name="connsiteY550" fmla="*/ 627925 h 1212943"/>
                <a:gd name="connsiteX551" fmla="*/ 1208980 w 1302012"/>
                <a:gd name="connsiteY551" fmla="*/ 630228 h 1212943"/>
                <a:gd name="connsiteX552" fmla="*/ 1302013 w 1302012"/>
                <a:gd name="connsiteY552" fmla="*/ 652878 h 1212943"/>
                <a:gd name="connsiteX553" fmla="*/ 1300964 w 1302012"/>
                <a:gd name="connsiteY553" fmla="*/ 666731 h 1212943"/>
                <a:gd name="connsiteX554" fmla="*/ 1228085 w 1302012"/>
                <a:gd name="connsiteY554" fmla="*/ 683120 h 1212943"/>
                <a:gd name="connsiteX555" fmla="*/ 1297651 w 1302012"/>
                <a:gd name="connsiteY555" fmla="*/ 710320 h 1212943"/>
                <a:gd name="connsiteX556" fmla="*/ 1296593 w 1302012"/>
                <a:gd name="connsiteY556" fmla="*/ 724191 h 1212943"/>
                <a:gd name="connsiteX557" fmla="*/ 1207997 w 1302012"/>
                <a:gd name="connsiteY557" fmla="*/ 687688 h 1212943"/>
                <a:gd name="connsiteX558" fmla="*/ 1208924 w 1302012"/>
                <a:gd name="connsiteY558" fmla="*/ 675576 h 1212943"/>
                <a:gd name="connsiteX559" fmla="*/ 1302013 w 1302012"/>
                <a:gd name="connsiteY559" fmla="*/ 652878 h 1212943"/>
                <a:gd name="connsiteX560" fmla="*/ 1293335 w 1302012"/>
                <a:gd name="connsiteY560" fmla="*/ 746926 h 1212943"/>
                <a:gd name="connsiteX561" fmla="*/ 1291089 w 1302012"/>
                <a:gd name="connsiteY561" fmla="*/ 759506 h 1212943"/>
                <a:gd name="connsiteX562" fmla="*/ 1201398 w 1302012"/>
                <a:gd name="connsiteY562" fmla="*/ 743501 h 1212943"/>
                <a:gd name="connsiteX563" fmla="*/ 1203645 w 1302012"/>
                <a:gd name="connsiteY563" fmla="*/ 730921 h 1212943"/>
                <a:gd name="connsiteX564" fmla="*/ 1293335 w 1302012"/>
                <a:gd name="connsiteY564" fmla="*/ 746926 h 1212943"/>
                <a:gd name="connsiteX565" fmla="*/ 1214512 w 1302012"/>
                <a:gd name="connsiteY565" fmla="*/ 739158 h 1212943"/>
                <a:gd name="connsiteX566" fmla="*/ 1205320 w 1302012"/>
                <a:gd name="connsiteY566" fmla="*/ 790646 h 1212943"/>
                <a:gd name="connsiteX567" fmla="*/ 1193367 w 1302012"/>
                <a:gd name="connsiteY567" fmla="*/ 788512 h 1212943"/>
                <a:gd name="connsiteX568" fmla="*/ 1202559 w 1302012"/>
                <a:gd name="connsiteY568" fmla="*/ 737023 h 1212943"/>
                <a:gd name="connsiteX569" fmla="*/ 1214512 w 1302012"/>
                <a:gd name="connsiteY569" fmla="*/ 739158 h 1212943"/>
                <a:gd name="connsiteX570" fmla="*/ 1253067 w 1302012"/>
                <a:gd name="connsiteY570" fmla="*/ 746037 h 1212943"/>
                <a:gd name="connsiteX571" fmla="*/ 1245083 w 1302012"/>
                <a:gd name="connsiteY571" fmla="*/ 790730 h 1212943"/>
                <a:gd name="connsiteX572" fmla="*/ 1233130 w 1302012"/>
                <a:gd name="connsiteY572" fmla="*/ 788596 h 1212943"/>
                <a:gd name="connsiteX573" fmla="*/ 1241105 w 1302012"/>
                <a:gd name="connsiteY573" fmla="*/ 743903 h 1212943"/>
                <a:gd name="connsiteX574" fmla="*/ 1253067 w 1302012"/>
                <a:gd name="connsiteY574" fmla="*/ 746037 h 1212943"/>
                <a:gd name="connsiteX575" fmla="*/ 1292250 w 1302012"/>
                <a:gd name="connsiteY575" fmla="*/ 753029 h 1212943"/>
                <a:gd name="connsiteX576" fmla="*/ 1283049 w 1302012"/>
                <a:gd name="connsiteY576" fmla="*/ 804517 h 1212943"/>
                <a:gd name="connsiteX577" fmla="*/ 1271077 w 1302012"/>
                <a:gd name="connsiteY577" fmla="*/ 802383 h 1212943"/>
                <a:gd name="connsiteX578" fmla="*/ 1280269 w 1302012"/>
                <a:gd name="connsiteY578" fmla="*/ 750885 h 1212943"/>
                <a:gd name="connsiteX579" fmla="*/ 1292250 w 1302012"/>
                <a:gd name="connsiteY579" fmla="*/ 753029 h 1212943"/>
                <a:gd name="connsiteX580" fmla="*/ 1233832 w 1302012"/>
                <a:gd name="connsiteY580" fmla="*/ 827383 h 1212943"/>
                <a:gd name="connsiteX581" fmla="*/ 1223882 w 1302012"/>
                <a:gd name="connsiteY581" fmla="*/ 856801 h 1212943"/>
                <a:gd name="connsiteX582" fmla="*/ 1223480 w 1302012"/>
                <a:gd name="connsiteY582" fmla="*/ 863484 h 1212943"/>
                <a:gd name="connsiteX583" fmla="*/ 1226802 w 1302012"/>
                <a:gd name="connsiteY583" fmla="*/ 869203 h 1212943"/>
                <a:gd name="connsiteX584" fmla="*/ 1233345 w 1302012"/>
                <a:gd name="connsiteY584" fmla="*/ 873022 h 1212943"/>
                <a:gd name="connsiteX585" fmla="*/ 1233345 w 1302012"/>
                <a:gd name="connsiteY585" fmla="*/ 873022 h 1212943"/>
                <a:gd name="connsiteX586" fmla="*/ 1240862 w 1302012"/>
                <a:gd name="connsiteY586" fmla="*/ 873958 h 1212943"/>
                <a:gd name="connsiteX587" fmla="*/ 1246965 w 1302012"/>
                <a:gd name="connsiteY587" fmla="*/ 871450 h 1212943"/>
                <a:gd name="connsiteX588" fmla="*/ 1250709 w 1302012"/>
                <a:gd name="connsiteY588" fmla="*/ 865871 h 1212943"/>
                <a:gd name="connsiteX589" fmla="*/ 1260659 w 1302012"/>
                <a:gd name="connsiteY589" fmla="*/ 836453 h 1212943"/>
                <a:gd name="connsiteX590" fmla="*/ 1272181 w 1302012"/>
                <a:gd name="connsiteY590" fmla="*/ 840356 h 1212943"/>
                <a:gd name="connsiteX591" fmla="*/ 1262390 w 1302012"/>
                <a:gd name="connsiteY591" fmla="*/ 869306 h 1212943"/>
                <a:gd name="connsiteX592" fmla="*/ 1254846 w 1302012"/>
                <a:gd name="connsiteY592" fmla="*/ 881399 h 1212943"/>
                <a:gd name="connsiteX593" fmla="*/ 1243127 w 1302012"/>
                <a:gd name="connsiteY593" fmla="*/ 887212 h 1212943"/>
                <a:gd name="connsiteX594" fmla="*/ 1228983 w 1302012"/>
                <a:gd name="connsiteY594" fmla="*/ 885901 h 1212943"/>
                <a:gd name="connsiteX595" fmla="*/ 1228983 w 1302012"/>
                <a:gd name="connsiteY595" fmla="*/ 885901 h 1212943"/>
                <a:gd name="connsiteX596" fmla="*/ 1216955 w 1302012"/>
                <a:gd name="connsiteY596" fmla="*/ 878338 h 1212943"/>
                <a:gd name="connsiteX597" fmla="*/ 1211189 w 1302012"/>
                <a:gd name="connsiteY597" fmla="*/ 866573 h 1212943"/>
                <a:gd name="connsiteX598" fmla="*/ 1212528 w 1302012"/>
                <a:gd name="connsiteY598" fmla="*/ 852449 h 1212943"/>
                <a:gd name="connsiteX599" fmla="*/ 1222328 w 1302012"/>
                <a:gd name="connsiteY599" fmla="*/ 823490 h 1212943"/>
                <a:gd name="connsiteX600" fmla="*/ 1233832 w 1302012"/>
                <a:gd name="connsiteY600" fmla="*/ 827383 h 1212943"/>
                <a:gd name="connsiteX601" fmla="*/ 1273969 w 1302012"/>
                <a:gd name="connsiteY601" fmla="*/ 835068 h 1212943"/>
                <a:gd name="connsiteX602" fmla="*/ 1269879 w 1302012"/>
                <a:gd name="connsiteY602" fmla="*/ 847170 h 1212943"/>
                <a:gd name="connsiteX603" fmla="*/ 1183511 w 1302012"/>
                <a:gd name="connsiteY603" fmla="*/ 817967 h 1212943"/>
                <a:gd name="connsiteX604" fmla="*/ 1187611 w 1302012"/>
                <a:gd name="connsiteY604" fmla="*/ 805865 h 1212943"/>
                <a:gd name="connsiteX605" fmla="*/ 1273969 w 1302012"/>
                <a:gd name="connsiteY605" fmla="*/ 835068 h 1212943"/>
                <a:gd name="connsiteX606" fmla="*/ 1217058 w 1302012"/>
                <a:gd name="connsiteY606" fmla="*/ 847881 h 1212943"/>
                <a:gd name="connsiteX607" fmla="*/ 1215701 w 1302012"/>
                <a:gd name="connsiteY607" fmla="*/ 860854 h 1212943"/>
                <a:gd name="connsiteX608" fmla="*/ 1166335 w 1302012"/>
                <a:gd name="connsiteY608" fmla="*/ 868754 h 1212943"/>
                <a:gd name="connsiteX609" fmla="*/ 1171193 w 1302012"/>
                <a:gd name="connsiteY609" fmla="*/ 854396 h 1212943"/>
                <a:gd name="connsiteX610" fmla="*/ 1217058 w 1302012"/>
                <a:gd name="connsiteY610" fmla="*/ 847881 h 1212943"/>
                <a:gd name="connsiteX611" fmla="*/ 1146051 w 1302012"/>
                <a:gd name="connsiteY611" fmla="*/ 905810 h 1212943"/>
                <a:gd name="connsiteX612" fmla="*/ 1152856 w 1302012"/>
                <a:gd name="connsiteY612" fmla="*/ 895298 h 1212943"/>
                <a:gd name="connsiteX613" fmla="*/ 1161196 w 1302012"/>
                <a:gd name="connsiteY613" fmla="*/ 887202 h 1212943"/>
                <a:gd name="connsiteX614" fmla="*/ 1171118 w 1302012"/>
                <a:gd name="connsiteY614" fmla="*/ 881568 h 1212943"/>
                <a:gd name="connsiteX615" fmla="*/ 1171118 w 1302012"/>
                <a:gd name="connsiteY615" fmla="*/ 881568 h 1212943"/>
                <a:gd name="connsiteX616" fmla="*/ 1176201 w 1302012"/>
                <a:gd name="connsiteY616" fmla="*/ 893108 h 1212943"/>
                <a:gd name="connsiteX617" fmla="*/ 1176201 w 1302012"/>
                <a:gd name="connsiteY617" fmla="*/ 893108 h 1212943"/>
                <a:gd name="connsiteX618" fmla="*/ 1164959 w 1302012"/>
                <a:gd name="connsiteY618" fmla="*/ 900222 h 1212943"/>
                <a:gd name="connsiteX619" fmla="*/ 1156768 w 1302012"/>
                <a:gd name="connsiteY619" fmla="*/ 911304 h 1212943"/>
                <a:gd name="connsiteX620" fmla="*/ 1153034 w 1302012"/>
                <a:gd name="connsiteY620" fmla="*/ 926607 h 1212943"/>
                <a:gd name="connsiteX621" fmla="*/ 1159783 w 1302012"/>
                <a:gd name="connsiteY621" fmla="*/ 936192 h 1212943"/>
                <a:gd name="connsiteX622" fmla="*/ 1159848 w 1302012"/>
                <a:gd name="connsiteY622" fmla="*/ 936220 h 1212943"/>
                <a:gd name="connsiteX623" fmla="*/ 1167683 w 1302012"/>
                <a:gd name="connsiteY623" fmla="*/ 937474 h 1212943"/>
                <a:gd name="connsiteX624" fmla="*/ 1174272 w 1302012"/>
                <a:gd name="connsiteY624" fmla="*/ 933664 h 1212943"/>
                <a:gd name="connsiteX625" fmla="*/ 1181087 w 1302012"/>
                <a:gd name="connsiteY625" fmla="*/ 925793 h 1212943"/>
                <a:gd name="connsiteX626" fmla="*/ 1181330 w 1302012"/>
                <a:gd name="connsiteY626" fmla="*/ 925456 h 1212943"/>
                <a:gd name="connsiteX627" fmla="*/ 1181583 w 1302012"/>
                <a:gd name="connsiteY627" fmla="*/ 925110 h 1212943"/>
                <a:gd name="connsiteX628" fmla="*/ 1182154 w 1302012"/>
                <a:gd name="connsiteY628" fmla="*/ 924370 h 1212943"/>
                <a:gd name="connsiteX629" fmla="*/ 1192094 w 1302012"/>
                <a:gd name="connsiteY629" fmla="*/ 912745 h 1212943"/>
                <a:gd name="connsiteX630" fmla="*/ 1202980 w 1302012"/>
                <a:gd name="connsiteY630" fmla="*/ 907288 h 1212943"/>
                <a:gd name="connsiteX631" fmla="*/ 1218078 w 1302012"/>
                <a:gd name="connsiteY631" fmla="*/ 910461 h 1212943"/>
                <a:gd name="connsiteX632" fmla="*/ 1218135 w 1302012"/>
                <a:gd name="connsiteY632" fmla="*/ 910490 h 1212943"/>
                <a:gd name="connsiteX633" fmla="*/ 1229264 w 1302012"/>
                <a:gd name="connsiteY633" fmla="*/ 920439 h 1212943"/>
                <a:gd name="connsiteX634" fmla="*/ 1232334 w 1302012"/>
                <a:gd name="connsiteY634" fmla="*/ 934423 h 1212943"/>
                <a:gd name="connsiteX635" fmla="*/ 1227168 w 1302012"/>
                <a:gd name="connsiteY635" fmla="*/ 951420 h 1212943"/>
                <a:gd name="connsiteX636" fmla="*/ 1221841 w 1302012"/>
                <a:gd name="connsiteY636" fmla="*/ 959479 h 1212943"/>
                <a:gd name="connsiteX637" fmla="*/ 1214765 w 1302012"/>
                <a:gd name="connsiteY637" fmla="*/ 966349 h 1212943"/>
                <a:gd name="connsiteX638" fmla="*/ 1205920 w 1302012"/>
                <a:gd name="connsiteY638" fmla="*/ 971984 h 1212943"/>
                <a:gd name="connsiteX639" fmla="*/ 1205920 w 1302012"/>
                <a:gd name="connsiteY639" fmla="*/ 971984 h 1212943"/>
                <a:gd name="connsiteX640" fmla="*/ 1200210 w 1302012"/>
                <a:gd name="connsiteY640" fmla="*/ 960892 h 1212943"/>
                <a:gd name="connsiteX641" fmla="*/ 1200210 w 1302012"/>
                <a:gd name="connsiteY641" fmla="*/ 960892 h 1212943"/>
                <a:gd name="connsiteX642" fmla="*/ 1210038 w 1302012"/>
                <a:gd name="connsiteY642" fmla="*/ 954275 h 1212943"/>
                <a:gd name="connsiteX643" fmla="*/ 1216450 w 1302012"/>
                <a:gd name="connsiteY643" fmla="*/ 945935 h 1212943"/>
                <a:gd name="connsiteX644" fmla="*/ 1219754 w 1302012"/>
                <a:gd name="connsiteY644" fmla="*/ 931315 h 1212943"/>
                <a:gd name="connsiteX645" fmla="*/ 1212696 w 1302012"/>
                <a:gd name="connsiteY645" fmla="*/ 921918 h 1212943"/>
                <a:gd name="connsiteX646" fmla="*/ 1212631 w 1302012"/>
                <a:gd name="connsiteY646" fmla="*/ 921890 h 1212943"/>
                <a:gd name="connsiteX647" fmla="*/ 1204862 w 1302012"/>
                <a:gd name="connsiteY647" fmla="*/ 920888 h 1212943"/>
                <a:gd name="connsiteX648" fmla="*/ 1198291 w 1302012"/>
                <a:gd name="connsiteY648" fmla="*/ 924988 h 1212943"/>
                <a:gd name="connsiteX649" fmla="*/ 1190877 w 1302012"/>
                <a:gd name="connsiteY649" fmla="*/ 933608 h 1212943"/>
                <a:gd name="connsiteX650" fmla="*/ 1190578 w 1302012"/>
                <a:gd name="connsiteY650" fmla="*/ 933992 h 1212943"/>
                <a:gd name="connsiteX651" fmla="*/ 1190269 w 1302012"/>
                <a:gd name="connsiteY651" fmla="*/ 934357 h 1212943"/>
                <a:gd name="connsiteX652" fmla="*/ 1189848 w 1302012"/>
                <a:gd name="connsiteY652" fmla="*/ 934909 h 1212943"/>
                <a:gd name="connsiteX653" fmla="*/ 1189445 w 1302012"/>
                <a:gd name="connsiteY653" fmla="*/ 935471 h 1212943"/>
                <a:gd name="connsiteX654" fmla="*/ 1179570 w 1302012"/>
                <a:gd name="connsiteY654" fmla="*/ 945935 h 1212943"/>
                <a:gd name="connsiteX655" fmla="*/ 1168675 w 1302012"/>
                <a:gd name="connsiteY655" fmla="*/ 950774 h 1212943"/>
                <a:gd name="connsiteX656" fmla="*/ 1154400 w 1302012"/>
                <a:gd name="connsiteY656" fmla="*/ 947648 h 1212943"/>
                <a:gd name="connsiteX657" fmla="*/ 1154288 w 1302012"/>
                <a:gd name="connsiteY657" fmla="*/ 947592 h 1212943"/>
                <a:gd name="connsiteX658" fmla="*/ 1143402 w 1302012"/>
                <a:gd name="connsiteY658" fmla="*/ 937596 h 1212943"/>
                <a:gd name="connsiteX659" fmla="*/ 1140575 w 1302012"/>
                <a:gd name="connsiteY659" fmla="*/ 923303 h 1212943"/>
                <a:gd name="connsiteX660" fmla="*/ 1146051 w 1302012"/>
                <a:gd name="connsiteY660" fmla="*/ 905810 h 1212943"/>
                <a:gd name="connsiteX661" fmla="*/ 1114844 w 1302012"/>
                <a:gd name="connsiteY661" fmla="*/ 960583 h 1212943"/>
                <a:gd name="connsiteX662" fmla="*/ 1121733 w 1302012"/>
                <a:gd name="connsiteY662" fmla="*/ 949820 h 1212943"/>
                <a:gd name="connsiteX663" fmla="*/ 1198441 w 1302012"/>
                <a:gd name="connsiteY663" fmla="*/ 998968 h 1212943"/>
                <a:gd name="connsiteX664" fmla="*/ 1191542 w 1302012"/>
                <a:gd name="connsiteY664" fmla="*/ 1009732 h 1212943"/>
                <a:gd name="connsiteX665" fmla="*/ 1114844 w 1302012"/>
                <a:gd name="connsiteY665" fmla="*/ 960583 h 1212943"/>
                <a:gd name="connsiteX666" fmla="*/ 1156572 w 1302012"/>
                <a:gd name="connsiteY666" fmla="*/ 1045168 h 1212943"/>
                <a:gd name="connsiteX667" fmla="*/ 1148691 w 1302012"/>
                <a:gd name="connsiteY667" fmla="*/ 1055212 h 1212943"/>
                <a:gd name="connsiteX668" fmla="*/ 1082915 w 1302012"/>
                <a:gd name="connsiteY668" fmla="*/ 1003545 h 1212943"/>
                <a:gd name="connsiteX669" fmla="*/ 1090797 w 1302012"/>
                <a:gd name="connsiteY669" fmla="*/ 993511 h 1212943"/>
                <a:gd name="connsiteX670" fmla="*/ 1156572 w 1302012"/>
                <a:gd name="connsiteY670" fmla="*/ 1045168 h 1212943"/>
                <a:gd name="connsiteX671" fmla="*/ 1178353 w 1302012"/>
                <a:gd name="connsiteY671" fmla="*/ 1029528 h 1212943"/>
                <a:gd name="connsiteX672" fmla="*/ 1138656 w 1302012"/>
                <a:gd name="connsiteY672" fmla="*/ 1080053 h 1212943"/>
                <a:gd name="connsiteX673" fmla="*/ 1129090 w 1302012"/>
                <a:gd name="connsiteY673" fmla="*/ 1072537 h 1212943"/>
                <a:gd name="connsiteX674" fmla="*/ 1168787 w 1302012"/>
                <a:gd name="connsiteY674" fmla="*/ 1022012 h 1212943"/>
                <a:gd name="connsiteX675" fmla="*/ 1178353 w 1302012"/>
                <a:gd name="connsiteY675" fmla="*/ 1029528 h 1212943"/>
                <a:gd name="connsiteX676" fmla="*/ 1121049 w 1302012"/>
                <a:gd name="connsiteY676" fmla="*/ 1098707 h 1212943"/>
                <a:gd name="connsiteX677" fmla="*/ 1111792 w 1302012"/>
                <a:gd name="connsiteY677" fmla="*/ 1107533 h 1212943"/>
                <a:gd name="connsiteX678" fmla="*/ 1048909 w 1302012"/>
                <a:gd name="connsiteY678" fmla="*/ 1041612 h 1212943"/>
                <a:gd name="connsiteX679" fmla="*/ 1058167 w 1302012"/>
                <a:gd name="connsiteY679" fmla="*/ 1032785 h 1212943"/>
                <a:gd name="connsiteX680" fmla="*/ 1121049 w 1302012"/>
                <a:gd name="connsiteY680" fmla="*/ 1098707 h 1212943"/>
                <a:gd name="connsiteX681" fmla="*/ 1062061 w 1302012"/>
                <a:gd name="connsiteY681" fmla="*/ 1045852 h 1212943"/>
                <a:gd name="connsiteX682" fmla="*/ 1024208 w 1302012"/>
                <a:gd name="connsiteY682" fmla="*/ 1081953 h 1212943"/>
                <a:gd name="connsiteX683" fmla="*/ 1015830 w 1302012"/>
                <a:gd name="connsiteY683" fmla="*/ 1073164 h 1212943"/>
                <a:gd name="connsiteX684" fmla="*/ 1053674 w 1302012"/>
                <a:gd name="connsiteY684" fmla="*/ 1037063 h 1212943"/>
                <a:gd name="connsiteX685" fmla="*/ 1062061 w 1302012"/>
                <a:gd name="connsiteY685" fmla="*/ 1045852 h 1212943"/>
                <a:gd name="connsiteX686" fmla="*/ 1089093 w 1302012"/>
                <a:gd name="connsiteY686" fmla="*/ 1074193 h 1212943"/>
                <a:gd name="connsiteX687" fmla="*/ 1056238 w 1302012"/>
                <a:gd name="connsiteY687" fmla="*/ 1105521 h 1212943"/>
                <a:gd name="connsiteX688" fmla="*/ 1047852 w 1302012"/>
                <a:gd name="connsiteY688" fmla="*/ 1096732 h 1212943"/>
                <a:gd name="connsiteX689" fmla="*/ 1080706 w 1302012"/>
                <a:gd name="connsiteY689" fmla="*/ 1065395 h 1212943"/>
                <a:gd name="connsiteX690" fmla="*/ 1089093 w 1302012"/>
                <a:gd name="connsiteY690" fmla="*/ 1074193 h 1212943"/>
                <a:gd name="connsiteX691" fmla="*/ 1116556 w 1302012"/>
                <a:gd name="connsiteY691" fmla="*/ 1102984 h 1212943"/>
                <a:gd name="connsiteX692" fmla="*/ 1078713 w 1302012"/>
                <a:gd name="connsiteY692" fmla="*/ 1139085 h 1212943"/>
                <a:gd name="connsiteX693" fmla="*/ 1070307 w 1302012"/>
                <a:gd name="connsiteY693" fmla="*/ 1130287 h 1212943"/>
                <a:gd name="connsiteX694" fmla="*/ 1108160 w 1302012"/>
                <a:gd name="connsiteY694" fmla="*/ 1094186 h 1212943"/>
                <a:gd name="connsiteX695" fmla="*/ 1116556 w 1302012"/>
                <a:gd name="connsiteY695" fmla="*/ 1102984 h 1212943"/>
                <a:gd name="connsiteX696" fmla="*/ 1037733 w 1302012"/>
                <a:gd name="connsiteY696" fmla="*/ 1162391 h 1212943"/>
                <a:gd name="connsiteX697" fmla="*/ 1027334 w 1302012"/>
                <a:gd name="connsiteY697" fmla="*/ 1169795 h 1212943"/>
                <a:gd name="connsiteX698" fmla="*/ 978847 w 1302012"/>
                <a:gd name="connsiteY698" fmla="*/ 1101646 h 1212943"/>
                <a:gd name="connsiteX699" fmla="*/ 989247 w 1302012"/>
                <a:gd name="connsiteY699" fmla="*/ 1094242 h 1212943"/>
                <a:gd name="connsiteX700" fmla="*/ 1037733 w 1302012"/>
                <a:gd name="connsiteY700" fmla="*/ 1162391 h 1212943"/>
                <a:gd name="connsiteX701" fmla="*/ 1063044 w 1302012"/>
                <a:gd name="connsiteY701" fmla="*/ 1153546 h 1212943"/>
                <a:gd name="connsiteX702" fmla="*/ 1010691 w 1302012"/>
                <a:gd name="connsiteY702" fmla="*/ 1190789 h 1212943"/>
                <a:gd name="connsiteX703" fmla="*/ 1003633 w 1302012"/>
                <a:gd name="connsiteY703" fmla="*/ 1180877 h 1212943"/>
                <a:gd name="connsiteX704" fmla="*/ 1055995 w 1302012"/>
                <a:gd name="connsiteY704" fmla="*/ 1143625 h 1212943"/>
                <a:gd name="connsiteX705" fmla="*/ 1063044 w 1302012"/>
                <a:gd name="connsiteY705" fmla="*/ 1153546 h 1212943"/>
                <a:gd name="connsiteX706" fmla="*/ 936398 w 1302012"/>
                <a:gd name="connsiteY706" fmla="*/ 1129969 h 1212943"/>
                <a:gd name="connsiteX707" fmla="*/ 947163 w 1302012"/>
                <a:gd name="connsiteY707" fmla="*/ 1123070 h 1212943"/>
                <a:gd name="connsiteX708" fmla="*/ 996342 w 1302012"/>
                <a:gd name="connsiteY708" fmla="*/ 1199756 h 1212943"/>
                <a:gd name="connsiteX709" fmla="*/ 985587 w 1302012"/>
                <a:gd name="connsiteY709" fmla="*/ 1206654 h 1212943"/>
                <a:gd name="connsiteX710" fmla="*/ 936398 w 1302012"/>
                <a:gd name="connsiteY710" fmla="*/ 1129969 h 1212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Lst>
              <a:rect l="l" t="t" r="r" b="b"/>
              <a:pathLst>
                <a:path w="1302012" h="1212943">
                  <a:moveTo>
                    <a:pt x="307815" y="1192754"/>
                  </a:moveTo>
                  <a:lnTo>
                    <a:pt x="297079" y="1185866"/>
                  </a:lnTo>
                  <a:lnTo>
                    <a:pt x="342233" y="1115470"/>
                  </a:lnTo>
                  <a:lnTo>
                    <a:pt x="352979" y="1122359"/>
                  </a:lnTo>
                  <a:lnTo>
                    <a:pt x="307815" y="1192754"/>
                  </a:lnTo>
                  <a:close/>
                  <a:moveTo>
                    <a:pt x="325469" y="1212944"/>
                  </a:moveTo>
                  <a:lnTo>
                    <a:pt x="271385" y="1178256"/>
                  </a:lnTo>
                  <a:lnTo>
                    <a:pt x="277956" y="1168016"/>
                  </a:lnTo>
                  <a:lnTo>
                    <a:pt x="332040" y="1202704"/>
                  </a:lnTo>
                  <a:lnTo>
                    <a:pt x="325469" y="1212944"/>
                  </a:lnTo>
                  <a:close/>
                  <a:moveTo>
                    <a:pt x="290227" y="1075167"/>
                  </a:moveTo>
                  <a:cubicBezTo>
                    <a:pt x="295020" y="1079322"/>
                    <a:pt x="298342" y="1084040"/>
                    <a:pt x="300186" y="1089319"/>
                  </a:cubicBezTo>
                  <a:cubicBezTo>
                    <a:pt x="302021" y="1094579"/>
                    <a:pt x="302283" y="1099989"/>
                    <a:pt x="300973" y="1105586"/>
                  </a:cubicBezTo>
                  <a:cubicBezTo>
                    <a:pt x="299653" y="1111155"/>
                    <a:pt x="296807" y="1116462"/>
                    <a:pt x="292436" y="1121507"/>
                  </a:cubicBezTo>
                  <a:lnTo>
                    <a:pt x="275531" y="1141013"/>
                  </a:lnTo>
                  <a:cubicBezTo>
                    <a:pt x="271151" y="1146077"/>
                    <a:pt x="266293" y="1149652"/>
                    <a:pt x="260967" y="1151740"/>
                  </a:cubicBezTo>
                  <a:cubicBezTo>
                    <a:pt x="255631" y="1153827"/>
                    <a:pt x="250230" y="1154351"/>
                    <a:pt x="244755" y="1153284"/>
                  </a:cubicBezTo>
                  <a:cubicBezTo>
                    <a:pt x="239270" y="1152208"/>
                    <a:pt x="234121" y="1149596"/>
                    <a:pt x="229329" y="1145431"/>
                  </a:cubicBezTo>
                  <a:cubicBezTo>
                    <a:pt x="224546" y="1141294"/>
                    <a:pt x="221223" y="1136577"/>
                    <a:pt x="219379" y="1131298"/>
                  </a:cubicBezTo>
                  <a:cubicBezTo>
                    <a:pt x="217544" y="1126028"/>
                    <a:pt x="217282" y="1120590"/>
                    <a:pt x="218602" y="1115030"/>
                  </a:cubicBezTo>
                  <a:cubicBezTo>
                    <a:pt x="219912" y="1109461"/>
                    <a:pt x="222767" y="1104145"/>
                    <a:pt x="227148" y="1099090"/>
                  </a:cubicBezTo>
                  <a:lnTo>
                    <a:pt x="244053" y="1079585"/>
                  </a:lnTo>
                  <a:cubicBezTo>
                    <a:pt x="248424" y="1074540"/>
                    <a:pt x="253273" y="1070964"/>
                    <a:pt x="258599" y="1068867"/>
                  </a:cubicBezTo>
                  <a:cubicBezTo>
                    <a:pt x="263934" y="1066762"/>
                    <a:pt x="269344" y="1066265"/>
                    <a:pt x="274811" y="1067333"/>
                  </a:cubicBezTo>
                  <a:cubicBezTo>
                    <a:pt x="280296" y="1068409"/>
                    <a:pt x="285444" y="1071020"/>
                    <a:pt x="290227" y="1075167"/>
                  </a:cubicBezTo>
                  <a:close/>
                  <a:moveTo>
                    <a:pt x="281971" y="1084686"/>
                  </a:moveTo>
                  <a:cubicBezTo>
                    <a:pt x="279145" y="1082233"/>
                    <a:pt x="276102" y="1080698"/>
                    <a:pt x="272817" y="1080109"/>
                  </a:cubicBezTo>
                  <a:cubicBezTo>
                    <a:pt x="269541" y="1079510"/>
                    <a:pt x="266311" y="1079884"/>
                    <a:pt x="263101" y="1081204"/>
                  </a:cubicBezTo>
                  <a:cubicBezTo>
                    <a:pt x="259862" y="1082524"/>
                    <a:pt x="256923" y="1084742"/>
                    <a:pt x="254237" y="1087840"/>
                  </a:cubicBezTo>
                  <a:lnTo>
                    <a:pt x="236752" y="1108010"/>
                  </a:lnTo>
                  <a:cubicBezTo>
                    <a:pt x="234084" y="1111099"/>
                    <a:pt x="232296" y="1114328"/>
                    <a:pt x="231463" y="1117717"/>
                  </a:cubicBezTo>
                  <a:cubicBezTo>
                    <a:pt x="230592" y="1121095"/>
                    <a:pt x="230686" y="1124343"/>
                    <a:pt x="231744" y="1127498"/>
                  </a:cubicBezTo>
                  <a:cubicBezTo>
                    <a:pt x="232811" y="1130652"/>
                    <a:pt x="234749" y="1133469"/>
                    <a:pt x="237575" y="1135912"/>
                  </a:cubicBezTo>
                  <a:cubicBezTo>
                    <a:pt x="240421" y="1138383"/>
                    <a:pt x="243482" y="1139899"/>
                    <a:pt x="246758" y="1140498"/>
                  </a:cubicBezTo>
                  <a:cubicBezTo>
                    <a:pt x="250024" y="1141097"/>
                    <a:pt x="253263" y="1140732"/>
                    <a:pt x="256483" y="1139394"/>
                  </a:cubicBezTo>
                  <a:cubicBezTo>
                    <a:pt x="259712" y="1138084"/>
                    <a:pt x="262661" y="1135856"/>
                    <a:pt x="265338" y="1132777"/>
                  </a:cubicBezTo>
                  <a:lnTo>
                    <a:pt x="282814" y="1112606"/>
                  </a:lnTo>
                  <a:cubicBezTo>
                    <a:pt x="285500" y="1109499"/>
                    <a:pt x="287269" y="1106279"/>
                    <a:pt x="288121" y="1102891"/>
                  </a:cubicBezTo>
                  <a:cubicBezTo>
                    <a:pt x="288973" y="1099521"/>
                    <a:pt x="288879" y="1096273"/>
                    <a:pt x="287822" y="1093119"/>
                  </a:cubicBezTo>
                  <a:cubicBezTo>
                    <a:pt x="286773" y="1089946"/>
                    <a:pt x="284817" y="1087147"/>
                    <a:pt x="281971" y="1084686"/>
                  </a:cubicBezTo>
                  <a:close/>
                  <a:moveTo>
                    <a:pt x="234795" y="1021245"/>
                  </a:moveTo>
                  <a:cubicBezTo>
                    <a:pt x="237669" y="1024558"/>
                    <a:pt x="240074" y="1027993"/>
                    <a:pt x="242003" y="1031494"/>
                  </a:cubicBezTo>
                  <a:cubicBezTo>
                    <a:pt x="243940" y="1035013"/>
                    <a:pt x="245401" y="1038588"/>
                    <a:pt x="246374" y="1042267"/>
                  </a:cubicBezTo>
                  <a:cubicBezTo>
                    <a:pt x="247319" y="1045945"/>
                    <a:pt x="247844" y="1049708"/>
                    <a:pt x="247881" y="1053574"/>
                  </a:cubicBezTo>
                  <a:lnTo>
                    <a:pt x="247881" y="1053574"/>
                  </a:lnTo>
                  <a:lnTo>
                    <a:pt x="235291" y="1053957"/>
                  </a:lnTo>
                  <a:lnTo>
                    <a:pt x="235291" y="1053957"/>
                  </a:lnTo>
                  <a:cubicBezTo>
                    <a:pt x="235282" y="1049380"/>
                    <a:pt x="234496" y="1045009"/>
                    <a:pt x="232895" y="1040872"/>
                  </a:cubicBezTo>
                  <a:cubicBezTo>
                    <a:pt x="231295" y="1036745"/>
                    <a:pt x="228898" y="1032823"/>
                    <a:pt x="225697" y="1029126"/>
                  </a:cubicBezTo>
                  <a:cubicBezTo>
                    <a:pt x="221391" y="1024146"/>
                    <a:pt x="217123" y="1021085"/>
                    <a:pt x="212901" y="1019934"/>
                  </a:cubicBezTo>
                  <a:cubicBezTo>
                    <a:pt x="208680" y="1018783"/>
                    <a:pt x="204870" y="1019672"/>
                    <a:pt x="201482" y="1022602"/>
                  </a:cubicBezTo>
                  <a:lnTo>
                    <a:pt x="201435" y="1022649"/>
                  </a:lnTo>
                  <a:cubicBezTo>
                    <a:pt x="199048" y="1024717"/>
                    <a:pt x="197671" y="1026982"/>
                    <a:pt x="197340" y="1029444"/>
                  </a:cubicBezTo>
                  <a:cubicBezTo>
                    <a:pt x="197027" y="1031924"/>
                    <a:pt x="197378" y="1034414"/>
                    <a:pt x="198404" y="1036979"/>
                  </a:cubicBezTo>
                  <a:cubicBezTo>
                    <a:pt x="199432" y="1039534"/>
                    <a:pt x="201014" y="1042632"/>
                    <a:pt x="203148" y="1046245"/>
                  </a:cubicBezTo>
                  <a:cubicBezTo>
                    <a:pt x="203195" y="1046366"/>
                    <a:pt x="203279" y="1046497"/>
                    <a:pt x="203363" y="1046591"/>
                  </a:cubicBezTo>
                  <a:cubicBezTo>
                    <a:pt x="203466" y="1046703"/>
                    <a:pt x="203541" y="1046834"/>
                    <a:pt x="203597" y="1046956"/>
                  </a:cubicBezTo>
                  <a:lnTo>
                    <a:pt x="204065" y="1047770"/>
                  </a:lnTo>
                  <a:cubicBezTo>
                    <a:pt x="207276" y="1053068"/>
                    <a:pt x="209635" y="1057589"/>
                    <a:pt x="211123" y="1061333"/>
                  </a:cubicBezTo>
                  <a:cubicBezTo>
                    <a:pt x="212621" y="1065095"/>
                    <a:pt x="212958" y="1069139"/>
                    <a:pt x="212097" y="1073473"/>
                  </a:cubicBezTo>
                  <a:cubicBezTo>
                    <a:pt x="211235" y="1077806"/>
                    <a:pt x="208371" y="1082074"/>
                    <a:pt x="203504" y="1086286"/>
                  </a:cubicBezTo>
                  <a:lnTo>
                    <a:pt x="203457" y="1086324"/>
                  </a:lnTo>
                  <a:cubicBezTo>
                    <a:pt x="199198" y="1090011"/>
                    <a:pt x="194739" y="1092202"/>
                    <a:pt x="190063" y="1092913"/>
                  </a:cubicBezTo>
                  <a:cubicBezTo>
                    <a:pt x="185406" y="1093615"/>
                    <a:pt x="180672" y="1092819"/>
                    <a:pt x="175940" y="1090526"/>
                  </a:cubicBezTo>
                  <a:cubicBezTo>
                    <a:pt x="171180" y="1088224"/>
                    <a:pt x="166582" y="1084517"/>
                    <a:pt x="162118" y="1079360"/>
                  </a:cubicBezTo>
                  <a:cubicBezTo>
                    <a:pt x="159992" y="1076908"/>
                    <a:pt x="158168" y="1074240"/>
                    <a:pt x="156645" y="1071404"/>
                  </a:cubicBezTo>
                  <a:cubicBezTo>
                    <a:pt x="155108" y="1068549"/>
                    <a:pt x="153886" y="1065507"/>
                    <a:pt x="152924" y="1062269"/>
                  </a:cubicBezTo>
                  <a:cubicBezTo>
                    <a:pt x="151973" y="1059049"/>
                    <a:pt x="151341" y="1055614"/>
                    <a:pt x="151015" y="1051964"/>
                  </a:cubicBezTo>
                  <a:lnTo>
                    <a:pt x="151015" y="1051964"/>
                  </a:lnTo>
                  <a:lnTo>
                    <a:pt x="163436" y="1050822"/>
                  </a:lnTo>
                  <a:lnTo>
                    <a:pt x="163436" y="1050822"/>
                  </a:lnTo>
                  <a:cubicBezTo>
                    <a:pt x="163779" y="1055109"/>
                    <a:pt x="164594" y="1058955"/>
                    <a:pt x="165888" y="1062409"/>
                  </a:cubicBezTo>
                  <a:cubicBezTo>
                    <a:pt x="167188" y="1065844"/>
                    <a:pt x="168956" y="1068858"/>
                    <a:pt x="171223" y="1071479"/>
                  </a:cubicBezTo>
                  <a:cubicBezTo>
                    <a:pt x="175294" y="1076187"/>
                    <a:pt x="179408" y="1079042"/>
                    <a:pt x="183536" y="1080015"/>
                  </a:cubicBezTo>
                  <a:cubicBezTo>
                    <a:pt x="187663" y="1080998"/>
                    <a:pt x="191451" y="1079978"/>
                    <a:pt x="194895" y="1077001"/>
                  </a:cubicBezTo>
                  <a:lnTo>
                    <a:pt x="194943" y="1076954"/>
                  </a:lnTo>
                  <a:cubicBezTo>
                    <a:pt x="197304" y="1074914"/>
                    <a:pt x="198590" y="1072640"/>
                    <a:pt x="198786" y="1070122"/>
                  </a:cubicBezTo>
                  <a:cubicBezTo>
                    <a:pt x="198983" y="1067604"/>
                    <a:pt x="198531" y="1065058"/>
                    <a:pt x="197444" y="1062493"/>
                  </a:cubicBezTo>
                  <a:cubicBezTo>
                    <a:pt x="196355" y="1059929"/>
                    <a:pt x="194627" y="1056559"/>
                    <a:pt x="192230" y="1052385"/>
                  </a:cubicBezTo>
                  <a:cubicBezTo>
                    <a:pt x="192149" y="1052226"/>
                    <a:pt x="192067" y="1052104"/>
                    <a:pt x="191985" y="1051973"/>
                  </a:cubicBezTo>
                  <a:cubicBezTo>
                    <a:pt x="191903" y="1051851"/>
                    <a:pt x="191840" y="1051711"/>
                    <a:pt x="191760" y="1051552"/>
                  </a:cubicBezTo>
                  <a:cubicBezTo>
                    <a:pt x="191667" y="1051383"/>
                    <a:pt x="191544" y="1051168"/>
                    <a:pt x="191409" y="1050953"/>
                  </a:cubicBezTo>
                  <a:cubicBezTo>
                    <a:pt x="191274" y="1050728"/>
                    <a:pt x="191150" y="1050550"/>
                    <a:pt x="191042" y="1050363"/>
                  </a:cubicBezTo>
                  <a:cubicBezTo>
                    <a:pt x="188288" y="1045449"/>
                    <a:pt x="186298" y="1041097"/>
                    <a:pt x="185043" y="1037287"/>
                  </a:cubicBezTo>
                  <a:cubicBezTo>
                    <a:pt x="183786" y="1033487"/>
                    <a:pt x="183649" y="1029509"/>
                    <a:pt x="184629" y="1025382"/>
                  </a:cubicBezTo>
                  <a:cubicBezTo>
                    <a:pt x="185611" y="1021254"/>
                    <a:pt x="188355" y="1017239"/>
                    <a:pt x="192882" y="1013317"/>
                  </a:cubicBezTo>
                  <a:lnTo>
                    <a:pt x="192979" y="1013233"/>
                  </a:lnTo>
                  <a:cubicBezTo>
                    <a:pt x="197167" y="1009610"/>
                    <a:pt x="201604" y="1007486"/>
                    <a:pt x="206321" y="1006887"/>
                  </a:cubicBezTo>
                  <a:cubicBezTo>
                    <a:pt x="211048" y="1006297"/>
                    <a:pt x="215803" y="1007214"/>
                    <a:pt x="220633" y="1009620"/>
                  </a:cubicBezTo>
                  <a:cubicBezTo>
                    <a:pt x="225472" y="1012044"/>
                    <a:pt x="230181" y="1015909"/>
                    <a:pt x="234795" y="1021245"/>
                  </a:cubicBezTo>
                  <a:close/>
                  <a:moveTo>
                    <a:pt x="96555" y="989225"/>
                  </a:moveTo>
                  <a:lnTo>
                    <a:pt x="89659" y="978461"/>
                  </a:lnTo>
                  <a:lnTo>
                    <a:pt x="166366" y="929303"/>
                  </a:lnTo>
                  <a:lnTo>
                    <a:pt x="173263" y="940067"/>
                  </a:lnTo>
                  <a:lnTo>
                    <a:pt x="96555" y="989225"/>
                  </a:lnTo>
                  <a:close/>
                  <a:moveTo>
                    <a:pt x="124467" y="1032776"/>
                  </a:moveTo>
                  <a:lnTo>
                    <a:pt x="117569" y="1022012"/>
                  </a:lnTo>
                  <a:lnTo>
                    <a:pt x="194277" y="972864"/>
                  </a:lnTo>
                  <a:lnTo>
                    <a:pt x="201173" y="983627"/>
                  </a:lnTo>
                  <a:lnTo>
                    <a:pt x="124467" y="1032776"/>
                  </a:lnTo>
                  <a:close/>
                  <a:moveTo>
                    <a:pt x="153992" y="1004416"/>
                  </a:moveTo>
                  <a:lnTo>
                    <a:pt x="126716" y="961847"/>
                  </a:lnTo>
                  <a:lnTo>
                    <a:pt x="136962" y="955286"/>
                  </a:lnTo>
                  <a:lnTo>
                    <a:pt x="164239" y="997845"/>
                  </a:lnTo>
                  <a:lnTo>
                    <a:pt x="153992" y="1004416"/>
                  </a:lnTo>
                  <a:close/>
                  <a:moveTo>
                    <a:pt x="114509" y="917060"/>
                  </a:moveTo>
                  <a:lnTo>
                    <a:pt x="51354" y="901476"/>
                  </a:lnTo>
                  <a:lnTo>
                    <a:pt x="44884" y="887155"/>
                  </a:lnTo>
                  <a:lnTo>
                    <a:pt x="132745" y="910883"/>
                  </a:lnTo>
                  <a:lnTo>
                    <a:pt x="114509" y="917060"/>
                  </a:lnTo>
                  <a:close/>
                  <a:moveTo>
                    <a:pt x="72043" y="947246"/>
                  </a:moveTo>
                  <a:lnTo>
                    <a:pt x="66778" y="935602"/>
                  </a:lnTo>
                  <a:lnTo>
                    <a:pt x="149798" y="898088"/>
                  </a:lnTo>
                  <a:lnTo>
                    <a:pt x="155062" y="909731"/>
                  </a:lnTo>
                  <a:lnTo>
                    <a:pt x="72043" y="947246"/>
                  </a:lnTo>
                  <a:close/>
                  <a:moveTo>
                    <a:pt x="100394" y="906802"/>
                  </a:moveTo>
                  <a:lnTo>
                    <a:pt x="87723" y="901457"/>
                  </a:lnTo>
                  <a:lnTo>
                    <a:pt x="126328" y="846150"/>
                  </a:lnTo>
                  <a:lnTo>
                    <a:pt x="132772" y="860414"/>
                  </a:lnTo>
                  <a:lnTo>
                    <a:pt x="100394" y="906802"/>
                  </a:lnTo>
                  <a:close/>
                  <a:moveTo>
                    <a:pt x="34232" y="857896"/>
                  </a:moveTo>
                  <a:lnTo>
                    <a:pt x="30741" y="845598"/>
                  </a:lnTo>
                  <a:lnTo>
                    <a:pt x="118384" y="820729"/>
                  </a:lnTo>
                  <a:lnTo>
                    <a:pt x="121874" y="833027"/>
                  </a:lnTo>
                  <a:lnTo>
                    <a:pt x="34232" y="857896"/>
                  </a:lnTo>
                  <a:close/>
                  <a:moveTo>
                    <a:pt x="108496" y="830379"/>
                  </a:moveTo>
                  <a:lnTo>
                    <a:pt x="94214" y="780060"/>
                  </a:lnTo>
                  <a:lnTo>
                    <a:pt x="105898" y="776747"/>
                  </a:lnTo>
                  <a:lnTo>
                    <a:pt x="120183" y="827056"/>
                  </a:lnTo>
                  <a:lnTo>
                    <a:pt x="108496" y="830379"/>
                  </a:lnTo>
                  <a:close/>
                  <a:moveTo>
                    <a:pt x="70826" y="841068"/>
                  </a:moveTo>
                  <a:lnTo>
                    <a:pt x="58427" y="797394"/>
                  </a:lnTo>
                  <a:lnTo>
                    <a:pt x="70114" y="794072"/>
                  </a:lnTo>
                  <a:lnTo>
                    <a:pt x="82512" y="837754"/>
                  </a:lnTo>
                  <a:lnTo>
                    <a:pt x="70826" y="841068"/>
                  </a:lnTo>
                  <a:close/>
                  <a:moveTo>
                    <a:pt x="32539" y="851934"/>
                  </a:moveTo>
                  <a:lnTo>
                    <a:pt x="18257" y="801616"/>
                  </a:lnTo>
                  <a:lnTo>
                    <a:pt x="29963" y="798293"/>
                  </a:lnTo>
                  <a:lnTo>
                    <a:pt x="44245" y="848612"/>
                  </a:lnTo>
                  <a:lnTo>
                    <a:pt x="32539" y="851934"/>
                  </a:lnTo>
                  <a:close/>
                  <a:moveTo>
                    <a:pt x="10975" y="770532"/>
                  </a:moveTo>
                  <a:lnTo>
                    <a:pt x="9515" y="759047"/>
                  </a:lnTo>
                  <a:lnTo>
                    <a:pt x="73768" y="705996"/>
                  </a:lnTo>
                  <a:lnTo>
                    <a:pt x="75569" y="707278"/>
                  </a:lnTo>
                  <a:lnTo>
                    <a:pt x="4094" y="716357"/>
                  </a:lnTo>
                  <a:lnTo>
                    <a:pt x="2499" y="703805"/>
                  </a:lnTo>
                  <a:lnTo>
                    <a:pt x="92814" y="692330"/>
                  </a:lnTo>
                  <a:lnTo>
                    <a:pt x="94289" y="703955"/>
                  </a:lnTo>
                  <a:lnTo>
                    <a:pt x="31080" y="756735"/>
                  </a:lnTo>
                  <a:lnTo>
                    <a:pt x="29280" y="755453"/>
                  </a:lnTo>
                  <a:lnTo>
                    <a:pt x="99695" y="746514"/>
                  </a:lnTo>
                  <a:lnTo>
                    <a:pt x="101289" y="759066"/>
                  </a:lnTo>
                  <a:lnTo>
                    <a:pt x="10975" y="770532"/>
                  </a:lnTo>
                  <a:close/>
                  <a:moveTo>
                    <a:pt x="8113" y="649406"/>
                  </a:moveTo>
                  <a:lnTo>
                    <a:pt x="8435" y="636648"/>
                  </a:lnTo>
                  <a:lnTo>
                    <a:pt x="92049" y="638764"/>
                  </a:lnTo>
                  <a:lnTo>
                    <a:pt x="91727" y="651521"/>
                  </a:lnTo>
                  <a:lnTo>
                    <a:pt x="8113" y="649406"/>
                  </a:lnTo>
                  <a:close/>
                  <a:moveTo>
                    <a:pt x="0" y="674968"/>
                  </a:moveTo>
                  <a:lnTo>
                    <a:pt x="1624" y="610731"/>
                  </a:lnTo>
                  <a:lnTo>
                    <a:pt x="13788" y="611040"/>
                  </a:lnTo>
                  <a:lnTo>
                    <a:pt x="12166" y="675267"/>
                  </a:lnTo>
                  <a:lnTo>
                    <a:pt x="0" y="674968"/>
                  </a:lnTo>
                  <a:close/>
                  <a:moveTo>
                    <a:pt x="12063" y="528364"/>
                  </a:moveTo>
                  <a:lnTo>
                    <a:pt x="13975" y="517653"/>
                  </a:lnTo>
                  <a:lnTo>
                    <a:pt x="109563" y="500602"/>
                  </a:lnTo>
                  <a:lnTo>
                    <a:pt x="107139" y="514176"/>
                  </a:lnTo>
                  <a:lnTo>
                    <a:pt x="30343" y="526111"/>
                  </a:lnTo>
                  <a:lnTo>
                    <a:pt x="98272" y="563857"/>
                  </a:lnTo>
                  <a:lnTo>
                    <a:pt x="95849" y="577430"/>
                  </a:lnTo>
                  <a:lnTo>
                    <a:pt x="12063" y="528364"/>
                  </a:lnTo>
                  <a:close/>
                  <a:moveTo>
                    <a:pt x="66925" y="556546"/>
                  </a:moveTo>
                  <a:lnTo>
                    <a:pt x="75343" y="509391"/>
                  </a:lnTo>
                  <a:lnTo>
                    <a:pt x="87302" y="511524"/>
                  </a:lnTo>
                  <a:lnTo>
                    <a:pt x="78882" y="558681"/>
                  </a:lnTo>
                  <a:lnTo>
                    <a:pt x="66925" y="556546"/>
                  </a:lnTo>
                  <a:close/>
                  <a:moveTo>
                    <a:pt x="69080" y="466243"/>
                  </a:moveTo>
                  <a:lnTo>
                    <a:pt x="79030" y="436822"/>
                  </a:lnTo>
                  <a:cubicBezTo>
                    <a:pt x="79803" y="434534"/>
                    <a:pt x="79947" y="432304"/>
                    <a:pt x="79436" y="430145"/>
                  </a:cubicBezTo>
                  <a:cubicBezTo>
                    <a:pt x="78923" y="427986"/>
                    <a:pt x="77831" y="426082"/>
                    <a:pt x="76113" y="424418"/>
                  </a:cubicBezTo>
                  <a:cubicBezTo>
                    <a:pt x="74388" y="422775"/>
                    <a:pt x="72224" y="421500"/>
                    <a:pt x="69570" y="420603"/>
                  </a:cubicBezTo>
                  <a:lnTo>
                    <a:pt x="69570" y="420603"/>
                  </a:lnTo>
                  <a:cubicBezTo>
                    <a:pt x="66914" y="419705"/>
                    <a:pt x="64400" y="419397"/>
                    <a:pt x="62053" y="419664"/>
                  </a:cubicBezTo>
                  <a:cubicBezTo>
                    <a:pt x="59678" y="419944"/>
                    <a:pt x="57634" y="420786"/>
                    <a:pt x="55943" y="422178"/>
                  </a:cubicBezTo>
                  <a:cubicBezTo>
                    <a:pt x="54240" y="423543"/>
                    <a:pt x="52994" y="425422"/>
                    <a:pt x="52206" y="427751"/>
                  </a:cubicBezTo>
                  <a:lnTo>
                    <a:pt x="42256" y="457172"/>
                  </a:lnTo>
                  <a:lnTo>
                    <a:pt x="30730" y="453274"/>
                  </a:lnTo>
                  <a:lnTo>
                    <a:pt x="40522" y="424318"/>
                  </a:lnTo>
                  <a:cubicBezTo>
                    <a:pt x="42207" y="419337"/>
                    <a:pt x="44718" y="415312"/>
                    <a:pt x="48066" y="412225"/>
                  </a:cubicBezTo>
                  <a:cubicBezTo>
                    <a:pt x="51386" y="409151"/>
                    <a:pt x="55296" y="407203"/>
                    <a:pt x="59782" y="406418"/>
                  </a:cubicBezTo>
                  <a:cubicBezTo>
                    <a:pt x="64256" y="405605"/>
                    <a:pt x="68982" y="406054"/>
                    <a:pt x="73925" y="407724"/>
                  </a:cubicBezTo>
                  <a:lnTo>
                    <a:pt x="73925" y="407724"/>
                  </a:lnTo>
                  <a:cubicBezTo>
                    <a:pt x="78867" y="409397"/>
                    <a:pt x="82868" y="411922"/>
                    <a:pt x="85950" y="415289"/>
                  </a:cubicBezTo>
                  <a:cubicBezTo>
                    <a:pt x="89008" y="418669"/>
                    <a:pt x="90931" y="422592"/>
                    <a:pt x="91723" y="427057"/>
                  </a:cubicBezTo>
                  <a:cubicBezTo>
                    <a:pt x="92489" y="431536"/>
                    <a:pt x="92050" y="436238"/>
                    <a:pt x="90380" y="441178"/>
                  </a:cubicBezTo>
                  <a:lnTo>
                    <a:pt x="80587" y="470134"/>
                  </a:lnTo>
                  <a:lnTo>
                    <a:pt x="69080" y="466243"/>
                  </a:lnTo>
                  <a:close/>
                  <a:moveTo>
                    <a:pt x="28941" y="458560"/>
                  </a:moveTo>
                  <a:lnTo>
                    <a:pt x="33036" y="446451"/>
                  </a:lnTo>
                  <a:lnTo>
                    <a:pt x="119400" y="475656"/>
                  </a:lnTo>
                  <a:lnTo>
                    <a:pt x="115305" y="487764"/>
                  </a:lnTo>
                  <a:lnTo>
                    <a:pt x="28941" y="458560"/>
                  </a:lnTo>
                  <a:close/>
                  <a:moveTo>
                    <a:pt x="85855" y="445741"/>
                  </a:moveTo>
                  <a:lnTo>
                    <a:pt x="87216" y="432775"/>
                  </a:lnTo>
                  <a:lnTo>
                    <a:pt x="136576" y="424873"/>
                  </a:lnTo>
                  <a:lnTo>
                    <a:pt x="131720" y="439229"/>
                  </a:lnTo>
                  <a:lnTo>
                    <a:pt x="85855" y="445741"/>
                  </a:lnTo>
                  <a:close/>
                  <a:moveTo>
                    <a:pt x="119887" y="371795"/>
                  </a:moveTo>
                  <a:lnTo>
                    <a:pt x="116211" y="372074"/>
                  </a:lnTo>
                  <a:lnTo>
                    <a:pt x="60078" y="376551"/>
                  </a:lnTo>
                  <a:lnTo>
                    <a:pt x="66616" y="363784"/>
                  </a:lnTo>
                  <a:lnTo>
                    <a:pt x="109656" y="361131"/>
                  </a:lnTo>
                  <a:lnTo>
                    <a:pt x="113609" y="360825"/>
                  </a:lnTo>
                  <a:lnTo>
                    <a:pt x="172852" y="356187"/>
                  </a:lnTo>
                  <a:lnTo>
                    <a:pt x="166316" y="368953"/>
                  </a:lnTo>
                  <a:lnTo>
                    <a:pt x="119887" y="371795"/>
                  </a:lnTo>
                  <a:close/>
                  <a:moveTo>
                    <a:pt x="108916" y="366802"/>
                  </a:moveTo>
                  <a:lnTo>
                    <a:pt x="84587" y="328679"/>
                  </a:lnTo>
                  <a:lnTo>
                    <a:pt x="91122" y="315912"/>
                  </a:lnTo>
                  <a:lnTo>
                    <a:pt x="121295" y="365191"/>
                  </a:lnTo>
                  <a:lnTo>
                    <a:pt x="147360" y="405981"/>
                  </a:lnTo>
                  <a:lnTo>
                    <a:pt x="140834" y="418729"/>
                  </a:lnTo>
                  <a:lnTo>
                    <a:pt x="108916" y="366802"/>
                  </a:lnTo>
                  <a:close/>
                  <a:moveTo>
                    <a:pt x="188570" y="334599"/>
                  </a:moveTo>
                  <a:lnTo>
                    <a:pt x="181673" y="345362"/>
                  </a:lnTo>
                  <a:lnTo>
                    <a:pt x="104967" y="296210"/>
                  </a:lnTo>
                  <a:lnTo>
                    <a:pt x="111862" y="285447"/>
                  </a:lnTo>
                  <a:lnTo>
                    <a:pt x="188570" y="334599"/>
                  </a:lnTo>
                  <a:close/>
                  <a:moveTo>
                    <a:pt x="147155" y="250228"/>
                  </a:moveTo>
                  <a:lnTo>
                    <a:pt x="155038" y="240193"/>
                  </a:lnTo>
                  <a:lnTo>
                    <a:pt x="220811" y="291858"/>
                  </a:lnTo>
                  <a:lnTo>
                    <a:pt x="212930" y="301893"/>
                  </a:lnTo>
                  <a:lnTo>
                    <a:pt x="147155" y="250228"/>
                  </a:lnTo>
                  <a:close/>
                  <a:moveTo>
                    <a:pt x="125373" y="265873"/>
                  </a:moveTo>
                  <a:lnTo>
                    <a:pt x="165066" y="215344"/>
                  </a:lnTo>
                  <a:lnTo>
                    <a:pt x="174635" y="222861"/>
                  </a:lnTo>
                  <a:lnTo>
                    <a:pt x="134942" y="273390"/>
                  </a:lnTo>
                  <a:lnTo>
                    <a:pt x="125373" y="265873"/>
                  </a:lnTo>
                  <a:close/>
                  <a:moveTo>
                    <a:pt x="183103" y="197079"/>
                  </a:moveTo>
                  <a:lnTo>
                    <a:pt x="192355" y="188257"/>
                  </a:lnTo>
                  <a:lnTo>
                    <a:pt x="255238" y="254178"/>
                  </a:lnTo>
                  <a:lnTo>
                    <a:pt x="245981" y="263001"/>
                  </a:lnTo>
                  <a:lnTo>
                    <a:pt x="183103" y="197079"/>
                  </a:lnTo>
                  <a:close/>
                  <a:moveTo>
                    <a:pt x="242087" y="249934"/>
                  </a:moveTo>
                  <a:lnTo>
                    <a:pt x="279940" y="213833"/>
                  </a:lnTo>
                  <a:lnTo>
                    <a:pt x="288318" y="222622"/>
                  </a:lnTo>
                  <a:lnTo>
                    <a:pt x="250474" y="258723"/>
                  </a:lnTo>
                  <a:lnTo>
                    <a:pt x="242087" y="249934"/>
                  </a:lnTo>
                  <a:close/>
                  <a:moveTo>
                    <a:pt x="215054" y="221599"/>
                  </a:moveTo>
                  <a:lnTo>
                    <a:pt x="247918" y="190262"/>
                  </a:lnTo>
                  <a:lnTo>
                    <a:pt x="256296" y="199053"/>
                  </a:lnTo>
                  <a:lnTo>
                    <a:pt x="223441" y="230389"/>
                  </a:lnTo>
                  <a:lnTo>
                    <a:pt x="215054" y="221599"/>
                  </a:lnTo>
                  <a:close/>
                  <a:moveTo>
                    <a:pt x="187589" y="192800"/>
                  </a:moveTo>
                  <a:lnTo>
                    <a:pt x="225444" y="156700"/>
                  </a:lnTo>
                  <a:lnTo>
                    <a:pt x="233841" y="165504"/>
                  </a:lnTo>
                  <a:lnTo>
                    <a:pt x="195989" y="201605"/>
                  </a:lnTo>
                  <a:lnTo>
                    <a:pt x="187589" y="192800"/>
                  </a:lnTo>
                  <a:close/>
                  <a:moveTo>
                    <a:pt x="287447" y="172727"/>
                  </a:moveTo>
                  <a:lnTo>
                    <a:pt x="290573" y="107755"/>
                  </a:lnTo>
                  <a:lnTo>
                    <a:pt x="303369" y="98649"/>
                  </a:lnTo>
                  <a:lnTo>
                    <a:pt x="297023" y="189432"/>
                  </a:lnTo>
                  <a:lnTo>
                    <a:pt x="287447" y="172727"/>
                  </a:lnTo>
                  <a:close/>
                  <a:moveTo>
                    <a:pt x="249641" y="136875"/>
                  </a:moveTo>
                  <a:lnTo>
                    <a:pt x="260049" y="129464"/>
                  </a:lnTo>
                  <a:lnTo>
                    <a:pt x="312870" y="203697"/>
                  </a:lnTo>
                  <a:lnTo>
                    <a:pt x="302452" y="211107"/>
                  </a:lnTo>
                  <a:lnTo>
                    <a:pt x="249641" y="136875"/>
                  </a:lnTo>
                  <a:close/>
                  <a:moveTo>
                    <a:pt x="294786" y="156902"/>
                  </a:moveTo>
                  <a:lnTo>
                    <a:pt x="297594" y="143438"/>
                  </a:lnTo>
                  <a:lnTo>
                    <a:pt x="359297" y="170663"/>
                  </a:lnTo>
                  <a:lnTo>
                    <a:pt x="346548" y="179733"/>
                  </a:lnTo>
                  <a:lnTo>
                    <a:pt x="294786" y="156902"/>
                  </a:lnTo>
                  <a:close/>
                  <a:moveTo>
                    <a:pt x="348561" y="81998"/>
                  </a:moveTo>
                  <a:lnTo>
                    <a:pt x="359924" y="76179"/>
                  </a:lnTo>
                  <a:lnTo>
                    <a:pt x="398058" y="150612"/>
                  </a:lnTo>
                  <a:lnTo>
                    <a:pt x="386704" y="156433"/>
                  </a:lnTo>
                  <a:lnTo>
                    <a:pt x="348561" y="81998"/>
                  </a:lnTo>
                  <a:close/>
                  <a:moveTo>
                    <a:pt x="322230" y="87101"/>
                  </a:moveTo>
                  <a:lnTo>
                    <a:pt x="379422" y="57801"/>
                  </a:lnTo>
                  <a:lnTo>
                    <a:pt x="384972" y="68629"/>
                  </a:lnTo>
                  <a:lnTo>
                    <a:pt x="327781" y="97930"/>
                  </a:lnTo>
                  <a:lnTo>
                    <a:pt x="322230" y="87101"/>
                  </a:lnTo>
                  <a:close/>
                  <a:moveTo>
                    <a:pt x="459246" y="124848"/>
                  </a:moveTo>
                  <a:cubicBezTo>
                    <a:pt x="452975" y="127319"/>
                    <a:pt x="447144" y="128195"/>
                    <a:pt x="441733" y="127477"/>
                  </a:cubicBezTo>
                  <a:cubicBezTo>
                    <a:pt x="436304" y="126768"/>
                    <a:pt x="431512" y="124501"/>
                    <a:pt x="427318" y="120704"/>
                  </a:cubicBezTo>
                  <a:cubicBezTo>
                    <a:pt x="423116" y="116916"/>
                    <a:pt x="419718" y="111680"/>
                    <a:pt x="417097" y="105035"/>
                  </a:cubicBezTo>
                  <a:lnTo>
                    <a:pt x="395755" y="50946"/>
                  </a:lnTo>
                  <a:lnTo>
                    <a:pt x="407634" y="46264"/>
                  </a:lnTo>
                  <a:lnTo>
                    <a:pt x="429125" y="100750"/>
                  </a:lnTo>
                  <a:cubicBezTo>
                    <a:pt x="431568" y="106938"/>
                    <a:pt x="435022" y="111092"/>
                    <a:pt x="439459" y="113250"/>
                  </a:cubicBezTo>
                  <a:cubicBezTo>
                    <a:pt x="443896" y="115408"/>
                    <a:pt x="448950" y="115365"/>
                    <a:pt x="454623" y="113131"/>
                  </a:cubicBezTo>
                  <a:cubicBezTo>
                    <a:pt x="460323" y="110880"/>
                    <a:pt x="464076" y="107447"/>
                    <a:pt x="465864" y="102835"/>
                  </a:cubicBezTo>
                  <a:cubicBezTo>
                    <a:pt x="467671" y="98214"/>
                    <a:pt x="467343" y="92827"/>
                    <a:pt x="464900" y="86640"/>
                  </a:cubicBezTo>
                  <a:lnTo>
                    <a:pt x="443409" y="32153"/>
                  </a:lnTo>
                  <a:lnTo>
                    <a:pt x="455296" y="27463"/>
                  </a:lnTo>
                  <a:lnTo>
                    <a:pt x="476629" y="81551"/>
                  </a:lnTo>
                  <a:cubicBezTo>
                    <a:pt x="479249" y="88197"/>
                    <a:pt x="480326" y="94348"/>
                    <a:pt x="479858" y="99982"/>
                  </a:cubicBezTo>
                  <a:cubicBezTo>
                    <a:pt x="479390" y="105614"/>
                    <a:pt x="477415" y="110556"/>
                    <a:pt x="473914" y="114787"/>
                  </a:cubicBezTo>
                  <a:cubicBezTo>
                    <a:pt x="470432" y="119011"/>
                    <a:pt x="465527" y="122370"/>
                    <a:pt x="459246" y="124848"/>
                  </a:cubicBezTo>
                  <a:close/>
                  <a:moveTo>
                    <a:pt x="502622" y="57726"/>
                  </a:moveTo>
                  <a:lnTo>
                    <a:pt x="532884" y="50738"/>
                  </a:lnTo>
                  <a:cubicBezTo>
                    <a:pt x="535243" y="50195"/>
                    <a:pt x="537218" y="49147"/>
                    <a:pt x="538781" y="47576"/>
                  </a:cubicBezTo>
                  <a:cubicBezTo>
                    <a:pt x="540354" y="46007"/>
                    <a:pt x="541393" y="44076"/>
                    <a:pt x="541908" y="41739"/>
                  </a:cubicBezTo>
                  <a:cubicBezTo>
                    <a:pt x="542404" y="39411"/>
                    <a:pt x="542347" y="36899"/>
                    <a:pt x="541720" y="34169"/>
                  </a:cubicBezTo>
                  <a:lnTo>
                    <a:pt x="541720" y="34169"/>
                  </a:lnTo>
                  <a:cubicBezTo>
                    <a:pt x="541093" y="31440"/>
                    <a:pt x="540035" y="29137"/>
                    <a:pt x="538575" y="27279"/>
                  </a:cubicBezTo>
                  <a:cubicBezTo>
                    <a:pt x="537087" y="25405"/>
                    <a:pt x="535299" y="24108"/>
                    <a:pt x="533221" y="23402"/>
                  </a:cubicBezTo>
                  <a:cubicBezTo>
                    <a:pt x="531171" y="22670"/>
                    <a:pt x="528915" y="22596"/>
                    <a:pt x="526519" y="23150"/>
                  </a:cubicBezTo>
                  <a:lnTo>
                    <a:pt x="496257" y="30137"/>
                  </a:lnTo>
                  <a:lnTo>
                    <a:pt x="493515" y="18281"/>
                  </a:lnTo>
                  <a:lnTo>
                    <a:pt x="523299" y="11404"/>
                  </a:lnTo>
                  <a:cubicBezTo>
                    <a:pt x="528429" y="10221"/>
                    <a:pt x="533165" y="10245"/>
                    <a:pt x="537555" y="11471"/>
                  </a:cubicBezTo>
                  <a:cubicBezTo>
                    <a:pt x="541917" y="12681"/>
                    <a:pt x="545633" y="14985"/>
                    <a:pt x="548656" y="18390"/>
                  </a:cubicBezTo>
                  <a:cubicBezTo>
                    <a:pt x="551689" y="21770"/>
                    <a:pt x="553795" y="26027"/>
                    <a:pt x="554965" y="31110"/>
                  </a:cubicBezTo>
                  <a:lnTo>
                    <a:pt x="554965" y="31110"/>
                  </a:lnTo>
                  <a:cubicBezTo>
                    <a:pt x="556145" y="36195"/>
                    <a:pt x="556098" y="40925"/>
                    <a:pt x="554843" y="45316"/>
                  </a:cubicBezTo>
                  <a:cubicBezTo>
                    <a:pt x="553580" y="49692"/>
                    <a:pt x="551249" y="53390"/>
                    <a:pt x="547861" y="56409"/>
                  </a:cubicBezTo>
                  <a:cubicBezTo>
                    <a:pt x="544453" y="59414"/>
                    <a:pt x="540223" y="61510"/>
                    <a:pt x="535140" y="62684"/>
                  </a:cubicBezTo>
                  <a:lnTo>
                    <a:pt x="505355" y="69560"/>
                  </a:lnTo>
                  <a:lnTo>
                    <a:pt x="502622" y="57726"/>
                  </a:lnTo>
                  <a:close/>
                  <a:moveTo>
                    <a:pt x="488076" y="19535"/>
                  </a:moveTo>
                  <a:lnTo>
                    <a:pt x="500535" y="16660"/>
                  </a:lnTo>
                  <a:lnTo>
                    <a:pt x="521043" y="105487"/>
                  </a:lnTo>
                  <a:lnTo>
                    <a:pt x="508594" y="108363"/>
                  </a:lnTo>
                  <a:lnTo>
                    <a:pt x="488076" y="19535"/>
                  </a:lnTo>
                  <a:close/>
                  <a:moveTo>
                    <a:pt x="528878" y="61230"/>
                  </a:moveTo>
                  <a:lnTo>
                    <a:pt x="540634" y="55579"/>
                  </a:lnTo>
                  <a:lnTo>
                    <a:pt x="573283" y="93427"/>
                  </a:lnTo>
                  <a:lnTo>
                    <a:pt x="558513" y="96837"/>
                  </a:lnTo>
                  <a:lnTo>
                    <a:pt x="528878" y="61230"/>
                  </a:lnTo>
                  <a:close/>
                  <a:moveTo>
                    <a:pt x="605492" y="826"/>
                  </a:moveTo>
                  <a:lnTo>
                    <a:pt x="616341" y="0"/>
                  </a:lnTo>
                  <a:lnTo>
                    <a:pt x="656740" y="88290"/>
                  </a:lnTo>
                  <a:lnTo>
                    <a:pt x="642990" y="89336"/>
                  </a:lnTo>
                  <a:lnTo>
                    <a:pt x="612241" y="17962"/>
                  </a:lnTo>
                  <a:lnTo>
                    <a:pt x="592669" y="93165"/>
                  </a:lnTo>
                  <a:lnTo>
                    <a:pt x="578918" y="94211"/>
                  </a:lnTo>
                  <a:lnTo>
                    <a:pt x="605492" y="826"/>
                  </a:lnTo>
                  <a:close/>
                  <a:moveTo>
                    <a:pt x="591910" y="60987"/>
                  </a:moveTo>
                  <a:lnTo>
                    <a:pt x="639676" y="57354"/>
                  </a:lnTo>
                  <a:lnTo>
                    <a:pt x="640603" y="69466"/>
                  </a:lnTo>
                  <a:lnTo>
                    <a:pt x="592837" y="73099"/>
                  </a:lnTo>
                  <a:lnTo>
                    <a:pt x="591910" y="60987"/>
                  </a:lnTo>
                  <a:close/>
                  <a:moveTo>
                    <a:pt x="712406" y="54616"/>
                  </a:moveTo>
                  <a:lnTo>
                    <a:pt x="711479" y="66749"/>
                  </a:lnTo>
                  <a:lnTo>
                    <a:pt x="669517" y="63555"/>
                  </a:lnTo>
                  <a:lnTo>
                    <a:pt x="670434" y="51423"/>
                  </a:lnTo>
                  <a:lnTo>
                    <a:pt x="712406" y="54616"/>
                  </a:lnTo>
                  <a:close/>
                  <a:moveTo>
                    <a:pt x="763916" y="76035"/>
                  </a:moveTo>
                  <a:lnTo>
                    <a:pt x="771919" y="68886"/>
                  </a:lnTo>
                  <a:lnTo>
                    <a:pt x="800646" y="101128"/>
                  </a:lnTo>
                  <a:lnTo>
                    <a:pt x="792624" y="108341"/>
                  </a:lnTo>
                  <a:lnTo>
                    <a:pt x="763916" y="76035"/>
                  </a:lnTo>
                  <a:close/>
                  <a:moveTo>
                    <a:pt x="759498" y="101859"/>
                  </a:moveTo>
                  <a:cubicBezTo>
                    <a:pt x="753245" y="100741"/>
                    <a:pt x="747975" y="98388"/>
                    <a:pt x="743688" y="94798"/>
                  </a:cubicBezTo>
                  <a:cubicBezTo>
                    <a:pt x="739420" y="91212"/>
                    <a:pt x="736424" y="86700"/>
                    <a:pt x="734693" y="81220"/>
                  </a:cubicBezTo>
                  <a:cubicBezTo>
                    <a:pt x="732980" y="75766"/>
                    <a:pt x="732708" y="69744"/>
                    <a:pt x="733878" y="63174"/>
                  </a:cubicBezTo>
                  <a:lnTo>
                    <a:pt x="738418" y="37765"/>
                  </a:lnTo>
                  <a:cubicBezTo>
                    <a:pt x="739598" y="31176"/>
                    <a:pt x="741938" y="25621"/>
                    <a:pt x="745438" y="21098"/>
                  </a:cubicBezTo>
                  <a:cubicBezTo>
                    <a:pt x="748958" y="16577"/>
                    <a:pt x="753329" y="13361"/>
                    <a:pt x="758571" y="11476"/>
                  </a:cubicBezTo>
                  <a:cubicBezTo>
                    <a:pt x="763841" y="9593"/>
                    <a:pt x="769597" y="9208"/>
                    <a:pt x="775850" y="10326"/>
                  </a:cubicBezTo>
                  <a:cubicBezTo>
                    <a:pt x="782075" y="11439"/>
                    <a:pt x="787345" y="13792"/>
                    <a:pt x="791632" y="17383"/>
                  </a:cubicBezTo>
                  <a:cubicBezTo>
                    <a:pt x="795900" y="20969"/>
                    <a:pt x="798914" y="25504"/>
                    <a:pt x="800627" y="30960"/>
                  </a:cubicBezTo>
                  <a:cubicBezTo>
                    <a:pt x="802349" y="36414"/>
                    <a:pt x="802621" y="42436"/>
                    <a:pt x="801441" y="49027"/>
                  </a:cubicBezTo>
                  <a:lnTo>
                    <a:pt x="796901" y="74435"/>
                  </a:lnTo>
                  <a:cubicBezTo>
                    <a:pt x="795731" y="81004"/>
                    <a:pt x="793391" y="86560"/>
                    <a:pt x="789891" y="91083"/>
                  </a:cubicBezTo>
                  <a:cubicBezTo>
                    <a:pt x="786380" y="95627"/>
                    <a:pt x="781990" y="98818"/>
                    <a:pt x="776749" y="100704"/>
                  </a:cubicBezTo>
                  <a:cubicBezTo>
                    <a:pt x="771479" y="102587"/>
                    <a:pt x="765722" y="102971"/>
                    <a:pt x="759498" y="101859"/>
                  </a:cubicBezTo>
                  <a:close/>
                  <a:moveTo>
                    <a:pt x="761707" y="89459"/>
                  </a:moveTo>
                  <a:cubicBezTo>
                    <a:pt x="765395" y="90116"/>
                    <a:pt x="768802" y="89878"/>
                    <a:pt x="771919" y="88699"/>
                  </a:cubicBezTo>
                  <a:cubicBezTo>
                    <a:pt x="775036" y="87538"/>
                    <a:pt x="777629" y="85569"/>
                    <a:pt x="779707" y="82790"/>
                  </a:cubicBezTo>
                  <a:cubicBezTo>
                    <a:pt x="781813" y="79994"/>
                    <a:pt x="783207" y="76594"/>
                    <a:pt x="783928" y="72551"/>
                  </a:cubicBezTo>
                  <a:lnTo>
                    <a:pt x="788627" y="46280"/>
                  </a:lnTo>
                  <a:cubicBezTo>
                    <a:pt x="789338" y="42259"/>
                    <a:pt x="789217" y="38565"/>
                    <a:pt x="788206" y="35233"/>
                  </a:cubicBezTo>
                  <a:cubicBezTo>
                    <a:pt x="787223" y="31886"/>
                    <a:pt x="785472" y="29142"/>
                    <a:pt x="782955" y="26974"/>
                  </a:cubicBezTo>
                  <a:cubicBezTo>
                    <a:pt x="780427" y="24808"/>
                    <a:pt x="777320" y="23382"/>
                    <a:pt x="773632" y="22725"/>
                  </a:cubicBezTo>
                  <a:cubicBezTo>
                    <a:pt x="769934" y="22063"/>
                    <a:pt x="766518" y="22322"/>
                    <a:pt x="763401" y="23481"/>
                  </a:cubicBezTo>
                  <a:cubicBezTo>
                    <a:pt x="760284" y="24642"/>
                    <a:pt x="757700" y="26611"/>
                    <a:pt x="755613" y="29411"/>
                  </a:cubicBezTo>
                  <a:cubicBezTo>
                    <a:pt x="753507" y="32186"/>
                    <a:pt x="752112" y="35608"/>
                    <a:pt x="751401" y="39629"/>
                  </a:cubicBezTo>
                  <a:lnTo>
                    <a:pt x="746702" y="65900"/>
                  </a:lnTo>
                  <a:cubicBezTo>
                    <a:pt x="745981" y="69943"/>
                    <a:pt x="746103" y="73614"/>
                    <a:pt x="747114" y="76965"/>
                  </a:cubicBezTo>
                  <a:cubicBezTo>
                    <a:pt x="748106" y="80294"/>
                    <a:pt x="749847" y="83038"/>
                    <a:pt x="752374" y="85206"/>
                  </a:cubicBezTo>
                  <a:cubicBezTo>
                    <a:pt x="754892" y="87393"/>
                    <a:pt x="758009" y="88797"/>
                    <a:pt x="761707" y="89459"/>
                  </a:cubicBezTo>
                  <a:close/>
                  <a:moveTo>
                    <a:pt x="841017" y="124538"/>
                  </a:moveTo>
                  <a:cubicBezTo>
                    <a:pt x="834642" y="122379"/>
                    <a:pt x="829616" y="119279"/>
                    <a:pt x="825956" y="115238"/>
                  </a:cubicBezTo>
                  <a:cubicBezTo>
                    <a:pt x="822268" y="111192"/>
                    <a:pt x="820068" y="106360"/>
                    <a:pt x="819319" y="100759"/>
                  </a:cubicBezTo>
                  <a:cubicBezTo>
                    <a:pt x="818561" y="95148"/>
                    <a:pt x="819348" y="88958"/>
                    <a:pt x="821631" y="82192"/>
                  </a:cubicBezTo>
                  <a:lnTo>
                    <a:pt x="840286" y="27116"/>
                  </a:lnTo>
                  <a:lnTo>
                    <a:pt x="852371" y="31209"/>
                  </a:lnTo>
                  <a:lnTo>
                    <a:pt x="833585" y="86688"/>
                  </a:lnTo>
                  <a:cubicBezTo>
                    <a:pt x="831450" y="92989"/>
                    <a:pt x="831404" y="98393"/>
                    <a:pt x="833397" y="102904"/>
                  </a:cubicBezTo>
                  <a:cubicBezTo>
                    <a:pt x="835391" y="107416"/>
                    <a:pt x="839285" y="110654"/>
                    <a:pt x="845051" y="112606"/>
                  </a:cubicBezTo>
                  <a:cubicBezTo>
                    <a:pt x="850864" y="114575"/>
                    <a:pt x="855946" y="114375"/>
                    <a:pt x="860290" y="112007"/>
                  </a:cubicBezTo>
                  <a:cubicBezTo>
                    <a:pt x="864651" y="109647"/>
                    <a:pt x="867881" y="105321"/>
                    <a:pt x="870015" y="99021"/>
                  </a:cubicBezTo>
                  <a:lnTo>
                    <a:pt x="888792" y="43540"/>
                  </a:lnTo>
                  <a:lnTo>
                    <a:pt x="900904" y="47639"/>
                  </a:lnTo>
                  <a:lnTo>
                    <a:pt x="882258" y="102713"/>
                  </a:lnTo>
                  <a:cubicBezTo>
                    <a:pt x="879965" y="109480"/>
                    <a:pt x="876811" y="114869"/>
                    <a:pt x="872814" y="118867"/>
                  </a:cubicBezTo>
                  <a:cubicBezTo>
                    <a:pt x="868817" y="122866"/>
                    <a:pt x="864118" y="125360"/>
                    <a:pt x="858708" y="126328"/>
                  </a:cubicBezTo>
                  <a:cubicBezTo>
                    <a:pt x="853325" y="127305"/>
                    <a:pt x="847410" y="126704"/>
                    <a:pt x="841017" y="124538"/>
                  </a:cubicBezTo>
                  <a:close/>
                  <a:moveTo>
                    <a:pt x="917518" y="101010"/>
                  </a:moveTo>
                  <a:lnTo>
                    <a:pt x="945169" y="115174"/>
                  </a:lnTo>
                  <a:cubicBezTo>
                    <a:pt x="947312" y="116276"/>
                    <a:pt x="949493" y="116744"/>
                    <a:pt x="951712" y="116556"/>
                  </a:cubicBezTo>
                  <a:cubicBezTo>
                    <a:pt x="953921" y="116367"/>
                    <a:pt x="955961" y="115565"/>
                    <a:pt x="957861" y="114111"/>
                  </a:cubicBezTo>
                  <a:cubicBezTo>
                    <a:pt x="959743" y="112647"/>
                    <a:pt x="961315" y="110691"/>
                    <a:pt x="962598" y="108199"/>
                  </a:cubicBezTo>
                  <a:lnTo>
                    <a:pt x="962598" y="108199"/>
                  </a:lnTo>
                  <a:cubicBezTo>
                    <a:pt x="963871" y="105705"/>
                    <a:pt x="964554" y="103263"/>
                    <a:pt x="964629" y="100903"/>
                  </a:cubicBezTo>
                  <a:cubicBezTo>
                    <a:pt x="964704" y="98512"/>
                    <a:pt x="964170" y="96366"/>
                    <a:pt x="963038" y="94490"/>
                  </a:cubicBezTo>
                  <a:cubicBezTo>
                    <a:pt x="961943" y="92604"/>
                    <a:pt x="960267" y="91096"/>
                    <a:pt x="958077" y="89974"/>
                  </a:cubicBezTo>
                  <a:lnTo>
                    <a:pt x="930436" y="75812"/>
                  </a:lnTo>
                  <a:lnTo>
                    <a:pt x="935986" y="64982"/>
                  </a:lnTo>
                  <a:lnTo>
                    <a:pt x="963188" y="78921"/>
                  </a:lnTo>
                  <a:cubicBezTo>
                    <a:pt x="967868" y="81320"/>
                    <a:pt x="971481" y="84395"/>
                    <a:pt x="974046" y="88160"/>
                  </a:cubicBezTo>
                  <a:cubicBezTo>
                    <a:pt x="976592" y="91894"/>
                    <a:pt x="977949" y="96050"/>
                    <a:pt x="978070" y="100602"/>
                  </a:cubicBezTo>
                  <a:cubicBezTo>
                    <a:pt x="978211" y="105146"/>
                    <a:pt x="977078" y="109755"/>
                    <a:pt x="974701" y="114399"/>
                  </a:cubicBezTo>
                  <a:lnTo>
                    <a:pt x="974701" y="114399"/>
                  </a:lnTo>
                  <a:cubicBezTo>
                    <a:pt x="972323" y="119042"/>
                    <a:pt x="969234" y="122627"/>
                    <a:pt x="965453" y="125182"/>
                  </a:cubicBezTo>
                  <a:cubicBezTo>
                    <a:pt x="961652" y="127709"/>
                    <a:pt x="957497" y="129035"/>
                    <a:pt x="952957" y="129164"/>
                  </a:cubicBezTo>
                  <a:cubicBezTo>
                    <a:pt x="948417" y="129263"/>
                    <a:pt x="943830" y="128138"/>
                    <a:pt x="939188" y="125760"/>
                  </a:cubicBezTo>
                  <a:lnTo>
                    <a:pt x="911987" y="111819"/>
                  </a:lnTo>
                  <a:lnTo>
                    <a:pt x="917518" y="101010"/>
                  </a:lnTo>
                  <a:close/>
                  <a:moveTo>
                    <a:pt x="931016" y="62438"/>
                  </a:moveTo>
                  <a:lnTo>
                    <a:pt x="942398" y="68268"/>
                  </a:lnTo>
                  <a:lnTo>
                    <a:pt x="900820" y="149401"/>
                  </a:lnTo>
                  <a:lnTo>
                    <a:pt x="889438" y="143572"/>
                  </a:lnTo>
                  <a:lnTo>
                    <a:pt x="931016" y="62438"/>
                  </a:lnTo>
                  <a:close/>
                  <a:moveTo>
                    <a:pt x="935341" y="120614"/>
                  </a:moveTo>
                  <a:lnTo>
                    <a:pt x="947968" y="123865"/>
                  </a:lnTo>
                  <a:lnTo>
                    <a:pt x="948529" y="173848"/>
                  </a:lnTo>
                  <a:lnTo>
                    <a:pt x="935041" y="166937"/>
                  </a:lnTo>
                  <a:lnTo>
                    <a:pt x="935341" y="120614"/>
                  </a:lnTo>
                  <a:close/>
                  <a:moveTo>
                    <a:pt x="972436" y="192353"/>
                  </a:moveTo>
                  <a:lnTo>
                    <a:pt x="962017" y="184942"/>
                  </a:lnTo>
                  <a:lnTo>
                    <a:pt x="1014838" y="110712"/>
                  </a:lnTo>
                  <a:lnTo>
                    <a:pt x="1025256" y="118122"/>
                  </a:lnTo>
                  <a:lnTo>
                    <a:pt x="972436" y="192353"/>
                  </a:lnTo>
                  <a:close/>
                  <a:moveTo>
                    <a:pt x="1050856" y="136115"/>
                  </a:moveTo>
                  <a:lnTo>
                    <a:pt x="1060516" y="144487"/>
                  </a:lnTo>
                  <a:lnTo>
                    <a:pt x="1000854" y="213330"/>
                  </a:lnTo>
                  <a:lnTo>
                    <a:pt x="991194" y="204958"/>
                  </a:lnTo>
                  <a:lnTo>
                    <a:pt x="1050856" y="136115"/>
                  </a:lnTo>
                  <a:close/>
                  <a:moveTo>
                    <a:pt x="1003980" y="199966"/>
                  </a:moveTo>
                  <a:lnTo>
                    <a:pt x="1043359" y="234095"/>
                  </a:lnTo>
                  <a:lnTo>
                    <a:pt x="1035402" y="243275"/>
                  </a:lnTo>
                  <a:lnTo>
                    <a:pt x="996024" y="209145"/>
                  </a:lnTo>
                  <a:lnTo>
                    <a:pt x="1003980" y="199966"/>
                  </a:lnTo>
                  <a:close/>
                  <a:moveTo>
                    <a:pt x="1054694" y="263311"/>
                  </a:moveTo>
                  <a:lnTo>
                    <a:pt x="1045877" y="254057"/>
                  </a:lnTo>
                  <a:lnTo>
                    <a:pt x="1111829" y="191210"/>
                  </a:lnTo>
                  <a:lnTo>
                    <a:pt x="1120647" y="200464"/>
                  </a:lnTo>
                  <a:lnTo>
                    <a:pt x="1054694" y="263311"/>
                  </a:lnTo>
                  <a:close/>
                  <a:moveTo>
                    <a:pt x="1086781" y="301458"/>
                  </a:moveTo>
                  <a:cubicBezTo>
                    <a:pt x="1084076" y="298014"/>
                    <a:pt x="1081830" y="294471"/>
                    <a:pt x="1080070" y="290879"/>
                  </a:cubicBezTo>
                  <a:cubicBezTo>
                    <a:pt x="1078301" y="287272"/>
                    <a:pt x="1077018" y="283631"/>
                    <a:pt x="1076213" y="279911"/>
                  </a:cubicBezTo>
                  <a:cubicBezTo>
                    <a:pt x="1075446" y="276194"/>
                    <a:pt x="1075109" y="272408"/>
                    <a:pt x="1075259" y="268544"/>
                  </a:cubicBezTo>
                  <a:lnTo>
                    <a:pt x="1075259" y="268544"/>
                  </a:lnTo>
                  <a:lnTo>
                    <a:pt x="1087848" y="268761"/>
                  </a:lnTo>
                  <a:lnTo>
                    <a:pt x="1087848" y="268761"/>
                  </a:lnTo>
                  <a:cubicBezTo>
                    <a:pt x="1087642" y="273332"/>
                    <a:pt x="1088223" y="277742"/>
                    <a:pt x="1089618" y="281943"/>
                  </a:cubicBezTo>
                  <a:cubicBezTo>
                    <a:pt x="1091012" y="286146"/>
                    <a:pt x="1093221" y="290173"/>
                    <a:pt x="1096245" y="294022"/>
                  </a:cubicBezTo>
                  <a:cubicBezTo>
                    <a:pt x="1100316" y="299200"/>
                    <a:pt x="1104426" y="302464"/>
                    <a:pt x="1108591" y="303817"/>
                  </a:cubicBezTo>
                  <a:cubicBezTo>
                    <a:pt x="1112747" y="305169"/>
                    <a:pt x="1116603" y="304457"/>
                    <a:pt x="1120113" y="301697"/>
                  </a:cubicBezTo>
                  <a:lnTo>
                    <a:pt x="1120170" y="301657"/>
                  </a:lnTo>
                  <a:cubicBezTo>
                    <a:pt x="1122659" y="299701"/>
                    <a:pt x="1124138" y="297503"/>
                    <a:pt x="1124588" y="295060"/>
                  </a:cubicBezTo>
                  <a:cubicBezTo>
                    <a:pt x="1125018" y="292600"/>
                    <a:pt x="1124784" y="290091"/>
                    <a:pt x="1123886" y="287485"/>
                  </a:cubicBezTo>
                  <a:cubicBezTo>
                    <a:pt x="1122978" y="284880"/>
                    <a:pt x="1121546" y="281708"/>
                    <a:pt x="1119589" y="278002"/>
                  </a:cubicBezTo>
                  <a:cubicBezTo>
                    <a:pt x="1119542" y="277875"/>
                    <a:pt x="1119467" y="277743"/>
                    <a:pt x="1119383" y="277642"/>
                  </a:cubicBezTo>
                  <a:cubicBezTo>
                    <a:pt x="1119290" y="277525"/>
                    <a:pt x="1119224" y="277395"/>
                    <a:pt x="1119168" y="277266"/>
                  </a:cubicBezTo>
                  <a:lnTo>
                    <a:pt x="1118737" y="276438"/>
                  </a:lnTo>
                  <a:cubicBezTo>
                    <a:pt x="1115789" y="270984"/>
                    <a:pt x="1113645" y="266357"/>
                    <a:pt x="1112344" y="262547"/>
                  </a:cubicBezTo>
                  <a:cubicBezTo>
                    <a:pt x="1111025" y="258717"/>
                    <a:pt x="1110884" y="254666"/>
                    <a:pt x="1111951" y="250378"/>
                  </a:cubicBezTo>
                  <a:cubicBezTo>
                    <a:pt x="1113009" y="246090"/>
                    <a:pt x="1116079" y="241966"/>
                    <a:pt x="1121143" y="237991"/>
                  </a:cubicBezTo>
                  <a:lnTo>
                    <a:pt x="1121199" y="237951"/>
                  </a:lnTo>
                  <a:cubicBezTo>
                    <a:pt x="1125617" y="234476"/>
                    <a:pt x="1130185" y="232496"/>
                    <a:pt x="1134884" y="232009"/>
                  </a:cubicBezTo>
                  <a:cubicBezTo>
                    <a:pt x="1139574" y="231537"/>
                    <a:pt x="1144263" y="232557"/>
                    <a:pt x="1148878" y="235074"/>
                  </a:cubicBezTo>
                  <a:cubicBezTo>
                    <a:pt x="1153520" y="237594"/>
                    <a:pt x="1157938" y="241520"/>
                    <a:pt x="1162151" y="246882"/>
                  </a:cubicBezTo>
                  <a:cubicBezTo>
                    <a:pt x="1164154" y="249438"/>
                    <a:pt x="1165848" y="252183"/>
                    <a:pt x="1167233" y="255090"/>
                  </a:cubicBezTo>
                  <a:cubicBezTo>
                    <a:pt x="1168637" y="258015"/>
                    <a:pt x="1169714" y="261111"/>
                    <a:pt x="1170519" y="264391"/>
                  </a:cubicBezTo>
                  <a:cubicBezTo>
                    <a:pt x="1171314" y="267652"/>
                    <a:pt x="1171782" y="271120"/>
                    <a:pt x="1171932" y="274777"/>
                  </a:cubicBezTo>
                  <a:lnTo>
                    <a:pt x="1171932" y="274777"/>
                  </a:lnTo>
                  <a:lnTo>
                    <a:pt x="1159474" y="275323"/>
                  </a:lnTo>
                  <a:lnTo>
                    <a:pt x="1159474" y="275323"/>
                  </a:lnTo>
                  <a:cubicBezTo>
                    <a:pt x="1159333" y="271027"/>
                    <a:pt x="1158706" y="267146"/>
                    <a:pt x="1157574" y="263631"/>
                  </a:cubicBezTo>
                  <a:cubicBezTo>
                    <a:pt x="1156441" y="260145"/>
                    <a:pt x="1154822" y="257042"/>
                    <a:pt x="1152678" y="254318"/>
                  </a:cubicBezTo>
                  <a:cubicBezTo>
                    <a:pt x="1148840" y="249428"/>
                    <a:pt x="1144871" y="246377"/>
                    <a:pt x="1140790" y="245203"/>
                  </a:cubicBezTo>
                  <a:cubicBezTo>
                    <a:pt x="1136709" y="244030"/>
                    <a:pt x="1132881" y="244864"/>
                    <a:pt x="1129296" y="247678"/>
                  </a:cubicBezTo>
                  <a:lnTo>
                    <a:pt x="1129249" y="247718"/>
                  </a:lnTo>
                  <a:cubicBezTo>
                    <a:pt x="1126797" y="249646"/>
                    <a:pt x="1125402" y="251854"/>
                    <a:pt x="1125084" y="254359"/>
                  </a:cubicBezTo>
                  <a:cubicBezTo>
                    <a:pt x="1124766" y="256864"/>
                    <a:pt x="1125093" y="259432"/>
                    <a:pt x="1126057" y="262044"/>
                  </a:cubicBezTo>
                  <a:cubicBezTo>
                    <a:pt x="1127021" y="264656"/>
                    <a:pt x="1128594" y="268104"/>
                    <a:pt x="1130784" y="272386"/>
                  </a:cubicBezTo>
                  <a:cubicBezTo>
                    <a:pt x="1130859" y="272548"/>
                    <a:pt x="1130934" y="272677"/>
                    <a:pt x="1131009" y="272808"/>
                  </a:cubicBezTo>
                  <a:cubicBezTo>
                    <a:pt x="1131084" y="272940"/>
                    <a:pt x="1131140" y="273083"/>
                    <a:pt x="1131215" y="273245"/>
                  </a:cubicBezTo>
                  <a:cubicBezTo>
                    <a:pt x="1131299" y="273422"/>
                    <a:pt x="1131411" y="273633"/>
                    <a:pt x="1131533" y="273862"/>
                  </a:cubicBezTo>
                  <a:cubicBezTo>
                    <a:pt x="1131664" y="274090"/>
                    <a:pt x="1131776" y="274271"/>
                    <a:pt x="1131879" y="274465"/>
                  </a:cubicBezTo>
                  <a:cubicBezTo>
                    <a:pt x="1134388" y="279503"/>
                    <a:pt x="1136176" y="283950"/>
                    <a:pt x="1137243" y="287808"/>
                  </a:cubicBezTo>
                  <a:cubicBezTo>
                    <a:pt x="1138319" y="291667"/>
                    <a:pt x="1138263" y="295650"/>
                    <a:pt x="1137084" y="299727"/>
                  </a:cubicBezTo>
                  <a:cubicBezTo>
                    <a:pt x="1135914" y="303804"/>
                    <a:pt x="1132975" y="307685"/>
                    <a:pt x="1128266" y="311383"/>
                  </a:cubicBezTo>
                  <a:lnTo>
                    <a:pt x="1128163" y="311463"/>
                  </a:lnTo>
                  <a:cubicBezTo>
                    <a:pt x="1123811" y="314885"/>
                    <a:pt x="1119271" y="316792"/>
                    <a:pt x="1114535" y="317166"/>
                  </a:cubicBezTo>
                  <a:cubicBezTo>
                    <a:pt x="1109789" y="317526"/>
                    <a:pt x="1105081" y="316383"/>
                    <a:pt x="1100372" y="313749"/>
                  </a:cubicBezTo>
                  <a:cubicBezTo>
                    <a:pt x="1095655" y="311096"/>
                    <a:pt x="1091134" y="307006"/>
                    <a:pt x="1086781" y="301458"/>
                  </a:cubicBezTo>
                  <a:close/>
                  <a:moveTo>
                    <a:pt x="1222768" y="340479"/>
                  </a:moveTo>
                  <a:lnTo>
                    <a:pt x="1229142" y="351562"/>
                  </a:lnTo>
                  <a:lnTo>
                    <a:pt x="1150151" y="396958"/>
                  </a:lnTo>
                  <a:lnTo>
                    <a:pt x="1143786" y="385875"/>
                  </a:lnTo>
                  <a:lnTo>
                    <a:pt x="1222768" y="340479"/>
                  </a:lnTo>
                  <a:close/>
                  <a:moveTo>
                    <a:pt x="1196990" y="295630"/>
                  </a:moveTo>
                  <a:lnTo>
                    <a:pt x="1203364" y="306713"/>
                  </a:lnTo>
                  <a:lnTo>
                    <a:pt x="1124372" y="352108"/>
                  </a:lnTo>
                  <a:lnTo>
                    <a:pt x="1118007" y="341026"/>
                  </a:lnTo>
                  <a:lnTo>
                    <a:pt x="1196990" y="295630"/>
                  </a:lnTo>
                  <a:close/>
                  <a:moveTo>
                    <a:pt x="1166129" y="322537"/>
                  </a:moveTo>
                  <a:lnTo>
                    <a:pt x="1191327" y="366367"/>
                  </a:lnTo>
                  <a:lnTo>
                    <a:pt x="1180778" y="372429"/>
                  </a:lnTo>
                  <a:lnTo>
                    <a:pt x="1155580" y="328600"/>
                  </a:lnTo>
                  <a:lnTo>
                    <a:pt x="1166129" y="322537"/>
                  </a:lnTo>
                  <a:close/>
                  <a:moveTo>
                    <a:pt x="1181854" y="478622"/>
                  </a:moveTo>
                  <a:cubicBezTo>
                    <a:pt x="1179692" y="472246"/>
                    <a:pt x="1179112" y="466372"/>
                    <a:pt x="1180094" y="461006"/>
                  </a:cubicBezTo>
                  <a:cubicBezTo>
                    <a:pt x="1181068" y="455621"/>
                    <a:pt x="1183576" y="450939"/>
                    <a:pt x="1187573" y="446947"/>
                  </a:cubicBezTo>
                  <a:cubicBezTo>
                    <a:pt x="1191570" y="442934"/>
                    <a:pt x="1196962" y="439800"/>
                    <a:pt x="1203729" y="437512"/>
                  </a:cubicBezTo>
                  <a:lnTo>
                    <a:pt x="1258815" y="418885"/>
                  </a:lnTo>
                  <a:lnTo>
                    <a:pt x="1262905" y="430972"/>
                  </a:lnTo>
                  <a:lnTo>
                    <a:pt x="1207417" y="449737"/>
                  </a:lnTo>
                  <a:cubicBezTo>
                    <a:pt x="1201118" y="451868"/>
                    <a:pt x="1196793" y="455112"/>
                    <a:pt x="1194416" y="459435"/>
                  </a:cubicBezTo>
                  <a:cubicBezTo>
                    <a:pt x="1192047" y="463759"/>
                    <a:pt x="1191832" y="468817"/>
                    <a:pt x="1193788" y="474587"/>
                  </a:cubicBezTo>
                  <a:cubicBezTo>
                    <a:pt x="1195754" y="480398"/>
                    <a:pt x="1198993" y="484312"/>
                    <a:pt x="1203514" y="486326"/>
                  </a:cubicBezTo>
                  <a:cubicBezTo>
                    <a:pt x="1208035" y="488360"/>
                    <a:pt x="1213436" y="488296"/>
                    <a:pt x="1219735" y="486165"/>
                  </a:cubicBezTo>
                  <a:lnTo>
                    <a:pt x="1275223" y="467401"/>
                  </a:lnTo>
                  <a:lnTo>
                    <a:pt x="1279323" y="479510"/>
                  </a:lnTo>
                  <a:lnTo>
                    <a:pt x="1224238" y="498136"/>
                  </a:lnTo>
                  <a:cubicBezTo>
                    <a:pt x="1217470" y="500424"/>
                    <a:pt x="1211274" y="501189"/>
                    <a:pt x="1205667" y="500445"/>
                  </a:cubicBezTo>
                  <a:cubicBezTo>
                    <a:pt x="1200069" y="499698"/>
                    <a:pt x="1195230" y="497476"/>
                    <a:pt x="1191177" y="493769"/>
                  </a:cubicBezTo>
                  <a:cubicBezTo>
                    <a:pt x="1187124" y="490083"/>
                    <a:pt x="1184016" y="485021"/>
                    <a:pt x="1181854" y="478622"/>
                  </a:cubicBezTo>
                  <a:close/>
                  <a:moveTo>
                    <a:pt x="1286353" y="512514"/>
                  </a:moveTo>
                  <a:lnTo>
                    <a:pt x="1288384" y="523919"/>
                  </a:lnTo>
                  <a:lnTo>
                    <a:pt x="1226887" y="580125"/>
                  </a:lnTo>
                  <a:lnTo>
                    <a:pt x="1225024" y="578937"/>
                  </a:lnTo>
                  <a:lnTo>
                    <a:pt x="1295947" y="566277"/>
                  </a:lnTo>
                  <a:lnTo>
                    <a:pt x="1298175" y="578735"/>
                  </a:lnTo>
                  <a:lnTo>
                    <a:pt x="1208550" y="594735"/>
                  </a:lnTo>
                  <a:lnTo>
                    <a:pt x="1206491" y="583204"/>
                  </a:lnTo>
                  <a:lnTo>
                    <a:pt x="1266968" y="527309"/>
                  </a:lnTo>
                  <a:lnTo>
                    <a:pt x="1268830" y="528496"/>
                  </a:lnTo>
                  <a:lnTo>
                    <a:pt x="1198955" y="540967"/>
                  </a:lnTo>
                  <a:lnTo>
                    <a:pt x="1196728" y="528509"/>
                  </a:lnTo>
                  <a:lnTo>
                    <a:pt x="1286353" y="512514"/>
                  </a:lnTo>
                  <a:close/>
                  <a:moveTo>
                    <a:pt x="1208980" y="630228"/>
                  </a:moveTo>
                  <a:lnTo>
                    <a:pt x="1208653" y="617451"/>
                  </a:lnTo>
                  <a:lnTo>
                    <a:pt x="1299729" y="615149"/>
                  </a:lnTo>
                  <a:lnTo>
                    <a:pt x="1300056" y="627925"/>
                  </a:lnTo>
                  <a:lnTo>
                    <a:pt x="1208980" y="630228"/>
                  </a:lnTo>
                  <a:close/>
                  <a:moveTo>
                    <a:pt x="1302013" y="652878"/>
                  </a:moveTo>
                  <a:lnTo>
                    <a:pt x="1300964" y="666731"/>
                  </a:lnTo>
                  <a:lnTo>
                    <a:pt x="1228085" y="683120"/>
                  </a:lnTo>
                  <a:lnTo>
                    <a:pt x="1297651" y="710320"/>
                  </a:lnTo>
                  <a:lnTo>
                    <a:pt x="1296593" y="724191"/>
                  </a:lnTo>
                  <a:lnTo>
                    <a:pt x="1207997" y="687688"/>
                  </a:lnTo>
                  <a:lnTo>
                    <a:pt x="1208924" y="675576"/>
                  </a:lnTo>
                  <a:lnTo>
                    <a:pt x="1302013" y="652878"/>
                  </a:lnTo>
                  <a:close/>
                  <a:moveTo>
                    <a:pt x="1293335" y="746926"/>
                  </a:moveTo>
                  <a:lnTo>
                    <a:pt x="1291089" y="759506"/>
                  </a:lnTo>
                  <a:lnTo>
                    <a:pt x="1201398" y="743501"/>
                  </a:lnTo>
                  <a:lnTo>
                    <a:pt x="1203645" y="730921"/>
                  </a:lnTo>
                  <a:lnTo>
                    <a:pt x="1293335" y="746926"/>
                  </a:lnTo>
                  <a:close/>
                  <a:moveTo>
                    <a:pt x="1214512" y="739158"/>
                  </a:moveTo>
                  <a:lnTo>
                    <a:pt x="1205320" y="790646"/>
                  </a:lnTo>
                  <a:lnTo>
                    <a:pt x="1193367" y="788512"/>
                  </a:lnTo>
                  <a:lnTo>
                    <a:pt x="1202559" y="737023"/>
                  </a:lnTo>
                  <a:lnTo>
                    <a:pt x="1214512" y="739158"/>
                  </a:lnTo>
                  <a:close/>
                  <a:moveTo>
                    <a:pt x="1253067" y="746037"/>
                  </a:moveTo>
                  <a:lnTo>
                    <a:pt x="1245083" y="790730"/>
                  </a:lnTo>
                  <a:lnTo>
                    <a:pt x="1233130" y="788596"/>
                  </a:lnTo>
                  <a:lnTo>
                    <a:pt x="1241105" y="743903"/>
                  </a:lnTo>
                  <a:lnTo>
                    <a:pt x="1253067" y="746037"/>
                  </a:lnTo>
                  <a:close/>
                  <a:moveTo>
                    <a:pt x="1292250" y="753029"/>
                  </a:moveTo>
                  <a:lnTo>
                    <a:pt x="1283049" y="804517"/>
                  </a:lnTo>
                  <a:lnTo>
                    <a:pt x="1271077" y="802383"/>
                  </a:lnTo>
                  <a:lnTo>
                    <a:pt x="1280269" y="750885"/>
                  </a:lnTo>
                  <a:lnTo>
                    <a:pt x="1292250" y="753029"/>
                  </a:lnTo>
                  <a:close/>
                  <a:moveTo>
                    <a:pt x="1233832" y="827383"/>
                  </a:moveTo>
                  <a:lnTo>
                    <a:pt x="1223882" y="856801"/>
                  </a:lnTo>
                  <a:cubicBezTo>
                    <a:pt x="1223105" y="859095"/>
                    <a:pt x="1222965" y="861322"/>
                    <a:pt x="1223480" y="863484"/>
                  </a:cubicBezTo>
                  <a:cubicBezTo>
                    <a:pt x="1223985" y="865637"/>
                    <a:pt x="1225080" y="867547"/>
                    <a:pt x="1226802" y="869203"/>
                  </a:cubicBezTo>
                  <a:cubicBezTo>
                    <a:pt x="1228525" y="870851"/>
                    <a:pt x="1230687" y="872123"/>
                    <a:pt x="1233345" y="873022"/>
                  </a:cubicBezTo>
                  <a:lnTo>
                    <a:pt x="1233345" y="873022"/>
                  </a:lnTo>
                  <a:cubicBezTo>
                    <a:pt x="1235994" y="873921"/>
                    <a:pt x="1238512" y="874229"/>
                    <a:pt x="1240862" y="873958"/>
                  </a:cubicBezTo>
                  <a:cubicBezTo>
                    <a:pt x="1243230" y="873677"/>
                    <a:pt x="1245280" y="872835"/>
                    <a:pt x="1246965" y="871450"/>
                  </a:cubicBezTo>
                  <a:cubicBezTo>
                    <a:pt x="1248668" y="870083"/>
                    <a:pt x="1249922" y="868202"/>
                    <a:pt x="1250709" y="865871"/>
                  </a:cubicBezTo>
                  <a:lnTo>
                    <a:pt x="1260659" y="836453"/>
                  </a:lnTo>
                  <a:lnTo>
                    <a:pt x="1272181" y="840356"/>
                  </a:lnTo>
                  <a:lnTo>
                    <a:pt x="1262390" y="869306"/>
                  </a:lnTo>
                  <a:cubicBezTo>
                    <a:pt x="1260705" y="874286"/>
                    <a:pt x="1258197" y="878310"/>
                    <a:pt x="1254846" y="881399"/>
                  </a:cubicBezTo>
                  <a:cubicBezTo>
                    <a:pt x="1251523" y="884478"/>
                    <a:pt x="1247620" y="886425"/>
                    <a:pt x="1243127" y="887212"/>
                  </a:cubicBezTo>
                  <a:cubicBezTo>
                    <a:pt x="1238653" y="888017"/>
                    <a:pt x="1233935" y="887577"/>
                    <a:pt x="1228983" y="885901"/>
                  </a:cubicBezTo>
                  <a:lnTo>
                    <a:pt x="1228983" y="885901"/>
                  </a:lnTo>
                  <a:cubicBezTo>
                    <a:pt x="1224041" y="884226"/>
                    <a:pt x="1220044" y="881699"/>
                    <a:pt x="1216955" y="878338"/>
                  </a:cubicBezTo>
                  <a:cubicBezTo>
                    <a:pt x="1213904" y="874960"/>
                    <a:pt x="1211985" y="871038"/>
                    <a:pt x="1211189" y="866573"/>
                  </a:cubicBezTo>
                  <a:cubicBezTo>
                    <a:pt x="1210422" y="862090"/>
                    <a:pt x="1210862" y="857391"/>
                    <a:pt x="1212528" y="852449"/>
                  </a:cubicBezTo>
                  <a:lnTo>
                    <a:pt x="1222328" y="823490"/>
                  </a:lnTo>
                  <a:lnTo>
                    <a:pt x="1233832" y="827383"/>
                  </a:lnTo>
                  <a:close/>
                  <a:moveTo>
                    <a:pt x="1273969" y="835068"/>
                  </a:moveTo>
                  <a:lnTo>
                    <a:pt x="1269879" y="847170"/>
                  </a:lnTo>
                  <a:lnTo>
                    <a:pt x="1183511" y="817967"/>
                  </a:lnTo>
                  <a:lnTo>
                    <a:pt x="1187611" y="805865"/>
                  </a:lnTo>
                  <a:lnTo>
                    <a:pt x="1273969" y="835068"/>
                  </a:lnTo>
                  <a:close/>
                  <a:moveTo>
                    <a:pt x="1217058" y="847881"/>
                  </a:moveTo>
                  <a:lnTo>
                    <a:pt x="1215701" y="860854"/>
                  </a:lnTo>
                  <a:lnTo>
                    <a:pt x="1166335" y="868754"/>
                  </a:lnTo>
                  <a:lnTo>
                    <a:pt x="1171193" y="854396"/>
                  </a:lnTo>
                  <a:lnTo>
                    <a:pt x="1217058" y="847881"/>
                  </a:lnTo>
                  <a:close/>
                  <a:moveTo>
                    <a:pt x="1146051" y="905810"/>
                  </a:moveTo>
                  <a:cubicBezTo>
                    <a:pt x="1148045" y="901916"/>
                    <a:pt x="1150329" y="898397"/>
                    <a:pt x="1152856" y="895298"/>
                  </a:cubicBezTo>
                  <a:cubicBezTo>
                    <a:pt x="1155383" y="892172"/>
                    <a:pt x="1158154" y="889486"/>
                    <a:pt x="1161196" y="887202"/>
                  </a:cubicBezTo>
                  <a:cubicBezTo>
                    <a:pt x="1164257" y="884946"/>
                    <a:pt x="1167552" y="883056"/>
                    <a:pt x="1171118" y="881568"/>
                  </a:cubicBezTo>
                  <a:lnTo>
                    <a:pt x="1171118" y="881568"/>
                  </a:lnTo>
                  <a:lnTo>
                    <a:pt x="1176201" y="893108"/>
                  </a:lnTo>
                  <a:lnTo>
                    <a:pt x="1176201" y="893108"/>
                  </a:lnTo>
                  <a:cubicBezTo>
                    <a:pt x="1171951" y="894821"/>
                    <a:pt x="1168197" y="897199"/>
                    <a:pt x="1164959" y="900222"/>
                  </a:cubicBezTo>
                  <a:cubicBezTo>
                    <a:pt x="1161729" y="903254"/>
                    <a:pt x="1158996" y="906942"/>
                    <a:pt x="1156768" y="911304"/>
                  </a:cubicBezTo>
                  <a:cubicBezTo>
                    <a:pt x="1153764" y="917163"/>
                    <a:pt x="1152519" y="922264"/>
                    <a:pt x="1153034" y="926607"/>
                  </a:cubicBezTo>
                  <a:cubicBezTo>
                    <a:pt x="1153549" y="930960"/>
                    <a:pt x="1155804" y="934151"/>
                    <a:pt x="1159783" y="936192"/>
                  </a:cubicBezTo>
                  <a:lnTo>
                    <a:pt x="1159848" y="936220"/>
                  </a:lnTo>
                  <a:cubicBezTo>
                    <a:pt x="1162665" y="937661"/>
                    <a:pt x="1165277" y="938082"/>
                    <a:pt x="1167683" y="937474"/>
                  </a:cubicBezTo>
                  <a:cubicBezTo>
                    <a:pt x="1170098" y="936828"/>
                    <a:pt x="1172279" y="935574"/>
                    <a:pt x="1174272" y="933664"/>
                  </a:cubicBezTo>
                  <a:cubicBezTo>
                    <a:pt x="1176257" y="931746"/>
                    <a:pt x="1178541" y="929125"/>
                    <a:pt x="1181087" y="925793"/>
                  </a:cubicBezTo>
                  <a:cubicBezTo>
                    <a:pt x="1181180" y="925699"/>
                    <a:pt x="1181264" y="925578"/>
                    <a:pt x="1181330" y="925456"/>
                  </a:cubicBezTo>
                  <a:cubicBezTo>
                    <a:pt x="1181396" y="925325"/>
                    <a:pt x="1181480" y="925203"/>
                    <a:pt x="1181583" y="925110"/>
                  </a:cubicBezTo>
                  <a:lnTo>
                    <a:pt x="1182154" y="924370"/>
                  </a:lnTo>
                  <a:cubicBezTo>
                    <a:pt x="1185870" y="919400"/>
                    <a:pt x="1189174" y="915525"/>
                    <a:pt x="1192094" y="912745"/>
                  </a:cubicBezTo>
                  <a:cubicBezTo>
                    <a:pt x="1195015" y="909937"/>
                    <a:pt x="1198637" y="908121"/>
                    <a:pt x="1202980" y="907288"/>
                  </a:cubicBezTo>
                  <a:cubicBezTo>
                    <a:pt x="1207314" y="906465"/>
                    <a:pt x="1212350" y="907522"/>
                    <a:pt x="1218078" y="910461"/>
                  </a:cubicBezTo>
                  <a:lnTo>
                    <a:pt x="1218135" y="910490"/>
                  </a:lnTo>
                  <a:cubicBezTo>
                    <a:pt x="1223143" y="913054"/>
                    <a:pt x="1226849" y="916367"/>
                    <a:pt x="1229264" y="920439"/>
                  </a:cubicBezTo>
                  <a:cubicBezTo>
                    <a:pt x="1231651" y="924492"/>
                    <a:pt x="1232690" y="929181"/>
                    <a:pt x="1232334" y="934423"/>
                  </a:cubicBezTo>
                  <a:cubicBezTo>
                    <a:pt x="1231988" y="939692"/>
                    <a:pt x="1230275" y="945355"/>
                    <a:pt x="1227168" y="951420"/>
                  </a:cubicBezTo>
                  <a:cubicBezTo>
                    <a:pt x="1225679" y="954312"/>
                    <a:pt x="1223901" y="956999"/>
                    <a:pt x="1221841" y="959479"/>
                  </a:cubicBezTo>
                  <a:cubicBezTo>
                    <a:pt x="1219763" y="961969"/>
                    <a:pt x="1217405" y="964243"/>
                    <a:pt x="1214765" y="966349"/>
                  </a:cubicBezTo>
                  <a:cubicBezTo>
                    <a:pt x="1212135" y="968436"/>
                    <a:pt x="1209177" y="970308"/>
                    <a:pt x="1205920" y="971984"/>
                  </a:cubicBezTo>
                  <a:lnTo>
                    <a:pt x="1205920" y="971984"/>
                  </a:lnTo>
                  <a:lnTo>
                    <a:pt x="1200210" y="960892"/>
                  </a:lnTo>
                  <a:lnTo>
                    <a:pt x="1200210" y="960892"/>
                  </a:lnTo>
                  <a:cubicBezTo>
                    <a:pt x="1204057" y="958974"/>
                    <a:pt x="1207314" y="956774"/>
                    <a:pt x="1210038" y="954275"/>
                  </a:cubicBezTo>
                  <a:cubicBezTo>
                    <a:pt x="1212734" y="951785"/>
                    <a:pt x="1214868" y="949015"/>
                    <a:pt x="1216450" y="945935"/>
                  </a:cubicBezTo>
                  <a:cubicBezTo>
                    <a:pt x="1219286" y="940394"/>
                    <a:pt x="1220391" y="935508"/>
                    <a:pt x="1219754" y="931315"/>
                  </a:cubicBezTo>
                  <a:cubicBezTo>
                    <a:pt x="1219108" y="927122"/>
                    <a:pt x="1216749" y="923996"/>
                    <a:pt x="1212696" y="921918"/>
                  </a:cubicBezTo>
                  <a:lnTo>
                    <a:pt x="1212631" y="921890"/>
                  </a:lnTo>
                  <a:cubicBezTo>
                    <a:pt x="1209851" y="920467"/>
                    <a:pt x="1207267" y="920130"/>
                    <a:pt x="1204862" y="920888"/>
                  </a:cubicBezTo>
                  <a:cubicBezTo>
                    <a:pt x="1202447" y="921646"/>
                    <a:pt x="1200257" y="923022"/>
                    <a:pt x="1198291" y="924988"/>
                  </a:cubicBezTo>
                  <a:cubicBezTo>
                    <a:pt x="1196316" y="926963"/>
                    <a:pt x="1193845" y="929827"/>
                    <a:pt x="1190877" y="933608"/>
                  </a:cubicBezTo>
                  <a:cubicBezTo>
                    <a:pt x="1190756" y="933749"/>
                    <a:pt x="1190672" y="933870"/>
                    <a:pt x="1190578" y="933992"/>
                  </a:cubicBezTo>
                  <a:cubicBezTo>
                    <a:pt x="1190494" y="934114"/>
                    <a:pt x="1190391" y="934226"/>
                    <a:pt x="1190269" y="934357"/>
                  </a:cubicBezTo>
                  <a:cubicBezTo>
                    <a:pt x="1190147" y="934516"/>
                    <a:pt x="1189998" y="934703"/>
                    <a:pt x="1189848" y="934909"/>
                  </a:cubicBezTo>
                  <a:cubicBezTo>
                    <a:pt x="1189689" y="935115"/>
                    <a:pt x="1189576" y="935302"/>
                    <a:pt x="1189445" y="935471"/>
                  </a:cubicBezTo>
                  <a:cubicBezTo>
                    <a:pt x="1185916" y="939861"/>
                    <a:pt x="1182622" y="943343"/>
                    <a:pt x="1179570" y="945935"/>
                  </a:cubicBezTo>
                  <a:cubicBezTo>
                    <a:pt x="1176509" y="948519"/>
                    <a:pt x="1172878" y="950138"/>
                    <a:pt x="1168675" y="950774"/>
                  </a:cubicBezTo>
                  <a:cubicBezTo>
                    <a:pt x="1164481" y="951411"/>
                    <a:pt x="1159726" y="950372"/>
                    <a:pt x="1154400" y="947648"/>
                  </a:cubicBezTo>
                  <a:lnTo>
                    <a:pt x="1154288" y="947592"/>
                  </a:lnTo>
                  <a:cubicBezTo>
                    <a:pt x="1149355" y="945065"/>
                    <a:pt x="1145723" y="941742"/>
                    <a:pt x="1143402" y="937596"/>
                  </a:cubicBezTo>
                  <a:cubicBezTo>
                    <a:pt x="1141090" y="933440"/>
                    <a:pt x="1140154" y="928685"/>
                    <a:pt x="1140575" y="923303"/>
                  </a:cubicBezTo>
                  <a:cubicBezTo>
                    <a:pt x="1141015" y="917912"/>
                    <a:pt x="1142831" y="912090"/>
                    <a:pt x="1146051" y="905810"/>
                  </a:cubicBezTo>
                  <a:close/>
                  <a:moveTo>
                    <a:pt x="1114844" y="960583"/>
                  </a:moveTo>
                  <a:lnTo>
                    <a:pt x="1121733" y="949820"/>
                  </a:lnTo>
                  <a:lnTo>
                    <a:pt x="1198441" y="998968"/>
                  </a:lnTo>
                  <a:lnTo>
                    <a:pt x="1191542" y="1009732"/>
                  </a:lnTo>
                  <a:lnTo>
                    <a:pt x="1114844" y="960583"/>
                  </a:lnTo>
                  <a:close/>
                  <a:moveTo>
                    <a:pt x="1156572" y="1045168"/>
                  </a:moveTo>
                  <a:lnTo>
                    <a:pt x="1148691" y="1055212"/>
                  </a:lnTo>
                  <a:lnTo>
                    <a:pt x="1082915" y="1003545"/>
                  </a:lnTo>
                  <a:lnTo>
                    <a:pt x="1090797" y="993511"/>
                  </a:lnTo>
                  <a:lnTo>
                    <a:pt x="1156572" y="1045168"/>
                  </a:lnTo>
                  <a:close/>
                  <a:moveTo>
                    <a:pt x="1178353" y="1029528"/>
                  </a:moveTo>
                  <a:lnTo>
                    <a:pt x="1138656" y="1080053"/>
                  </a:lnTo>
                  <a:lnTo>
                    <a:pt x="1129090" y="1072537"/>
                  </a:lnTo>
                  <a:lnTo>
                    <a:pt x="1168787" y="1022012"/>
                  </a:lnTo>
                  <a:lnTo>
                    <a:pt x="1178353" y="1029528"/>
                  </a:lnTo>
                  <a:close/>
                  <a:moveTo>
                    <a:pt x="1121049" y="1098707"/>
                  </a:moveTo>
                  <a:lnTo>
                    <a:pt x="1111792" y="1107533"/>
                  </a:lnTo>
                  <a:lnTo>
                    <a:pt x="1048909" y="1041612"/>
                  </a:lnTo>
                  <a:lnTo>
                    <a:pt x="1058167" y="1032785"/>
                  </a:lnTo>
                  <a:lnTo>
                    <a:pt x="1121049" y="1098707"/>
                  </a:lnTo>
                  <a:close/>
                  <a:moveTo>
                    <a:pt x="1062061" y="1045852"/>
                  </a:moveTo>
                  <a:lnTo>
                    <a:pt x="1024208" y="1081953"/>
                  </a:lnTo>
                  <a:lnTo>
                    <a:pt x="1015830" y="1073164"/>
                  </a:lnTo>
                  <a:lnTo>
                    <a:pt x="1053674" y="1037063"/>
                  </a:lnTo>
                  <a:lnTo>
                    <a:pt x="1062061" y="1045852"/>
                  </a:lnTo>
                  <a:close/>
                  <a:moveTo>
                    <a:pt x="1089093" y="1074193"/>
                  </a:moveTo>
                  <a:lnTo>
                    <a:pt x="1056238" y="1105521"/>
                  </a:lnTo>
                  <a:lnTo>
                    <a:pt x="1047852" y="1096732"/>
                  </a:lnTo>
                  <a:lnTo>
                    <a:pt x="1080706" y="1065395"/>
                  </a:lnTo>
                  <a:lnTo>
                    <a:pt x="1089093" y="1074193"/>
                  </a:lnTo>
                  <a:close/>
                  <a:moveTo>
                    <a:pt x="1116556" y="1102984"/>
                  </a:moveTo>
                  <a:lnTo>
                    <a:pt x="1078713" y="1139085"/>
                  </a:lnTo>
                  <a:lnTo>
                    <a:pt x="1070307" y="1130287"/>
                  </a:lnTo>
                  <a:lnTo>
                    <a:pt x="1108160" y="1094186"/>
                  </a:lnTo>
                  <a:lnTo>
                    <a:pt x="1116556" y="1102984"/>
                  </a:lnTo>
                  <a:close/>
                  <a:moveTo>
                    <a:pt x="1037733" y="1162391"/>
                  </a:moveTo>
                  <a:lnTo>
                    <a:pt x="1027334" y="1169795"/>
                  </a:lnTo>
                  <a:lnTo>
                    <a:pt x="978847" y="1101646"/>
                  </a:lnTo>
                  <a:lnTo>
                    <a:pt x="989247" y="1094242"/>
                  </a:lnTo>
                  <a:lnTo>
                    <a:pt x="1037733" y="1162391"/>
                  </a:lnTo>
                  <a:close/>
                  <a:moveTo>
                    <a:pt x="1063044" y="1153546"/>
                  </a:moveTo>
                  <a:lnTo>
                    <a:pt x="1010691" y="1190789"/>
                  </a:lnTo>
                  <a:lnTo>
                    <a:pt x="1003633" y="1180877"/>
                  </a:lnTo>
                  <a:lnTo>
                    <a:pt x="1055995" y="1143625"/>
                  </a:lnTo>
                  <a:lnTo>
                    <a:pt x="1063044" y="1153546"/>
                  </a:lnTo>
                  <a:close/>
                  <a:moveTo>
                    <a:pt x="936398" y="1129969"/>
                  </a:moveTo>
                  <a:lnTo>
                    <a:pt x="947163" y="1123070"/>
                  </a:lnTo>
                  <a:lnTo>
                    <a:pt x="996342" y="1199756"/>
                  </a:lnTo>
                  <a:lnTo>
                    <a:pt x="985587" y="1206654"/>
                  </a:lnTo>
                  <a:lnTo>
                    <a:pt x="936398" y="1129969"/>
                  </a:ln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16" name="Freeform: Shape 9">
              <a:extLst>
                <a:ext uri="{FF2B5EF4-FFF2-40B4-BE49-F238E27FC236}">
                  <a16:creationId xmlns:a16="http://schemas.microsoft.com/office/drawing/2014/main" id="{EA9BACFF-2111-35B9-F80F-3FF99E5BF2B8}"/>
                </a:ext>
              </a:extLst>
            </p:cNvPr>
            <p:cNvSpPr/>
            <p:nvPr/>
          </p:nvSpPr>
          <p:spPr>
            <a:xfrm>
              <a:off x="402531" y="272942"/>
              <a:ext cx="1075647" cy="1075592"/>
            </a:xfrm>
            <a:custGeom>
              <a:avLst/>
              <a:gdLst>
                <a:gd name="connsiteX0" fmla="*/ 1075647 w 1075647"/>
                <a:gd name="connsiteY0" fmla="*/ 537796 h 1075592"/>
                <a:gd name="connsiteX1" fmla="*/ 537824 w 1075647"/>
                <a:gd name="connsiteY1" fmla="*/ 1075593 h 1075592"/>
                <a:gd name="connsiteX2" fmla="*/ 0 w 1075647"/>
                <a:gd name="connsiteY2" fmla="*/ 537796 h 1075592"/>
                <a:gd name="connsiteX3" fmla="*/ 537824 w 1075647"/>
                <a:gd name="connsiteY3" fmla="*/ 0 h 1075592"/>
                <a:gd name="connsiteX4" fmla="*/ 1075647 w 1075647"/>
                <a:gd name="connsiteY4" fmla="*/ 537796 h 1075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647" h="1075592">
                  <a:moveTo>
                    <a:pt x="1075647" y="537796"/>
                  </a:moveTo>
                  <a:cubicBezTo>
                    <a:pt x="1075647" y="834813"/>
                    <a:pt x="834855" y="1075593"/>
                    <a:pt x="537824" y="1075593"/>
                  </a:cubicBezTo>
                  <a:cubicBezTo>
                    <a:pt x="240792" y="1075593"/>
                    <a:pt x="0" y="834813"/>
                    <a:pt x="0" y="537796"/>
                  </a:cubicBezTo>
                  <a:cubicBezTo>
                    <a:pt x="0" y="240780"/>
                    <a:pt x="240792" y="0"/>
                    <a:pt x="537824" y="0"/>
                  </a:cubicBezTo>
                  <a:cubicBezTo>
                    <a:pt x="834855" y="0"/>
                    <a:pt x="1075647" y="240780"/>
                    <a:pt x="1075647" y="537796"/>
                  </a:cubicBez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17" name="Freeform: Shape 10">
              <a:extLst>
                <a:ext uri="{FF2B5EF4-FFF2-40B4-BE49-F238E27FC236}">
                  <a16:creationId xmlns:a16="http://schemas.microsoft.com/office/drawing/2014/main" id="{EE78BC55-190C-97D7-9CB4-05551743D10C}"/>
                </a:ext>
              </a:extLst>
            </p:cNvPr>
            <p:cNvSpPr/>
            <p:nvPr/>
          </p:nvSpPr>
          <p:spPr>
            <a:xfrm>
              <a:off x="574684" y="977241"/>
              <a:ext cx="731780" cy="117906"/>
            </a:xfrm>
            <a:custGeom>
              <a:avLst/>
              <a:gdLst>
                <a:gd name="connsiteX0" fmla="*/ 0 w 731780"/>
                <a:gd name="connsiteY0" fmla="*/ 0 h 117906"/>
                <a:gd name="connsiteX1" fmla="*/ 731781 w 731780"/>
                <a:gd name="connsiteY1" fmla="*/ 0 h 117906"/>
                <a:gd name="connsiteX2" fmla="*/ 731781 w 731780"/>
                <a:gd name="connsiteY2" fmla="*/ 117906 h 117906"/>
                <a:gd name="connsiteX3" fmla="*/ 0 w 731780"/>
                <a:gd name="connsiteY3" fmla="*/ 117906 h 117906"/>
              </a:gdLst>
              <a:ahLst/>
              <a:cxnLst>
                <a:cxn ang="0">
                  <a:pos x="connsiteX0" y="connsiteY0"/>
                </a:cxn>
                <a:cxn ang="0">
                  <a:pos x="connsiteX1" y="connsiteY1"/>
                </a:cxn>
                <a:cxn ang="0">
                  <a:pos x="connsiteX2" y="connsiteY2"/>
                </a:cxn>
                <a:cxn ang="0">
                  <a:pos x="connsiteX3" y="connsiteY3"/>
                </a:cxn>
              </a:cxnLst>
              <a:rect l="l" t="t" r="r" b="b"/>
              <a:pathLst>
                <a:path w="731780" h="117906">
                  <a:moveTo>
                    <a:pt x="0" y="0"/>
                  </a:moveTo>
                  <a:lnTo>
                    <a:pt x="731781" y="0"/>
                  </a:lnTo>
                  <a:lnTo>
                    <a:pt x="731781" y="117906"/>
                  </a:lnTo>
                  <a:lnTo>
                    <a:pt x="0" y="117906"/>
                  </a:ln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18" name="Freeform: Shape 11">
              <a:extLst>
                <a:ext uri="{FF2B5EF4-FFF2-40B4-BE49-F238E27FC236}">
                  <a16:creationId xmlns:a16="http://schemas.microsoft.com/office/drawing/2014/main" id="{8B6116D0-4958-CE05-71CA-9E302CEF54E1}"/>
                </a:ext>
              </a:extLst>
            </p:cNvPr>
            <p:cNvSpPr/>
            <p:nvPr/>
          </p:nvSpPr>
          <p:spPr>
            <a:xfrm>
              <a:off x="560934" y="365763"/>
              <a:ext cx="759281" cy="203561"/>
            </a:xfrm>
            <a:custGeom>
              <a:avLst/>
              <a:gdLst>
                <a:gd name="connsiteX0" fmla="*/ 0 w 759281"/>
                <a:gd name="connsiteY0" fmla="*/ 203562 h 203561"/>
                <a:gd name="connsiteX1" fmla="*/ 759281 w 759281"/>
                <a:gd name="connsiteY1" fmla="*/ 203562 h 203561"/>
                <a:gd name="connsiteX2" fmla="*/ 379636 w 759281"/>
                <a:gd name="connsiteY2" fmla="*/ 0 h 203561"/>
              </a:gdLst>
              <a:ahLst/>
              <a:cxnLst>
                <a:cxn ang="0">
                  <a:pos x="connsiteX0" y="connsiteY0"/>
                </a:cxn>
                <a:cxn ang="0">
                  <a:pos x="connsiteX1" y="connsiteY1"/>
                </a:cxn>
                <a:cxn ang="0">
                  <a:pos x="connsiteX2" y="connsiteY2"/>
                </a:cxn>
              </a:cxnLst>
              <a:rect l="l" t="t" r="r" b="b"/>
              <a:pathLst>
                <a:path w="759281" h="203561">
                  <a:moveTo>
                    <a:pt x="0" y="203562"/>
                  </a:moveTo>
                  <a:lnTo>
                    <a:pt x="759281" y="203562"/>
                  </a:lnTo>
                  <a:lnTo>
                    <a:pt x="379636" y="0"/>
                  </a:ln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19" name="Freeform: Shape 12">
              <a:extLst>
                <a:ext uri="{FF2B5EF4-FFF2-40B4-BE49-F238E27FC236}">
                  <a16:creationId xmlns:a16="http://schemas.microsoft.com/office/drawing/2014/main" id="{90892797-12E0-05A4-4715-93F1C45D05BA}"/>
                </a:ext>
              </a:extLst>
            </p:cNvPr>
            <p:cNvSpPr/>
            <p:nvPr/>
          </p:nvSpPr>
          <p:spPr>
            <a:xfrm>
              <a:off x="772730" y="588362"/>
              <a:ext cx="154201" cy="321132"/>
            </a:xfrm>
            <a:custGeom>
              <a:avLst/>
              <a:gdLst>
                <a:gd name="connsiteX0" fmla="*/ 154202 w 154201"/>
                <a:gd name="connsiteY0" fmla="*/ 73148 h 321132"/>
                <a:gd name="connsiteX1" fmla="*/ 72833 w 154201"/>
                <a:gd name="connsiteY1" fmla="*/ 117 h 321132"/>
                <a:gd name="connsiteX2" fmla="*/ 0 w 154201"/>
                <a:gd name="connsiteY2" fmla="*/ 73148 h 321132"/>
                <a:gd name="connsiteX3" fmla="*/ 0 w 154201"/>
                <a:gd name="connsiteY3" fmla="*/ 321132 h 321132"/>
                <a:gd name="connsiteX4" fmla="*/ 53176 w 154201"/>
                <a:gd name="connsiteY4" fmla="*/ 321132 h 321132"/>
                <a:gd name="connsiteX5" fmla="*/ 53176 w 154201"/>
                <a:gd name="connsiteY5" fmla="*/ 274333 h 321132"/>
                <a:gd name="connsiteX6" fmla="*/ 101026 w 154201"/>
                <a:gd name="connsiteY6" fmla="*/ 274333 h 321132"/>
                <a:gd name="connsiteX7" fmla="*/ 101026 w 154201"/>
                <a:gd name="connsiteY7" fmla="*/ 321132 h 321132"/>
                <a:gd name="connsiteX8" fmla="*/ 154202 w 154201"/>
                <a:gd name="connsiteY8" fmla="*/ 321132 h 321132"/>
                <a:gd name="connsiteX9" fmla="*/ 154202 w 154201"/>
                <a:gd name="connsiteY9" fmla="*/ 73148 h 321132"/>
                <a:gd name="connsiteX10" fmla="*/ 101026 w 154201"/>
                <a:gd name="connsiteY10" fmla="*/ 73023 h 321132"/>
                <a:gd name="connsiteX11" fmla="*/ 101026 w 154201"/>
                <a:gd name="connsiteY11" fmla="*/ 237165 h 321132"/>
                <a:gd name="connsiteX12" fmla="*/ 53176 w 154201"/>
                <a:gd name="connsiteY12" fmla="*/ 237165 h 321132"/>
                <a:gd name="connsiteX13" fmla="*/ 53176 w 154201"/>
                <a:gd name="connsiteY13" fmla="*/ 73023 h 321132"/>
                <a:gd name="connsiteX14" fmla="*/ 65138 w 154201"/>
                <a:gd name="connsiteY14" fmla="*/ 52303 h 321132"/>
                <a:gd name="connsiteX15" fmla="*/ 89063 w 154201"/>
                <a:gd name="connsiteY15" fmla="*/ 52303 h 321132"/>
                <a:gd name="connsiteX16" fmla="*/ 101026 w 154201"/>
                <a:gd name="connsiteY16" fmla="*/ 73023 h 32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4201" h="321132">
                  <a:moveTo>
                    <a:pt x="154202" y="73148"/>
                  </a:moveTo>
                  <a:cubicBezTo>
                    <a:pt x="152087" y="31858"/>
                    <a:pt x="117116" y="-2256"/>
                    <a:pt x="72833" y="117"/>
                  </a:cubicBezTo>
                  <a:cubicBezTo>
                    <a:pt x="33678" y="2214"/>
                    <a:pt x="1563" y="33373"/>
                    <a:pt x="0" y="73148"/>
                  </a:cubicBezTo>
                  <a:lnTo>
                    <a:pt x="0" y="321132"/>
                  </a:lnTo>
                  <a:lnTo>
                    <a:pt x="53176" y="321132"/>
                  </a:lnTo>
                  <a:lnTo>
                    <a:pt x="53176" y="274333"/>
                  </a:lnTo>
                  <a:lnTo>
                    <a:pt x="101026" y="274333"/>
                  </a:lnTo>
                  <a:lnTo>
                    <a:pt x="101026" y="321132"/>
                  </a:lnTo>
                  <a:lnTo>
                    <a:pt x="154202" y="321132"/>
                  </a:lnTo>
                  <a:lnTo>
                    <a:pt x="154202" y="73148"/>
                  </a:lnTo>
                  <a:close/>
                  <a:moveTo>
                    <a:pt x="101026" y="73023"/>
                  </a:moveTo>
                  <a:lnTo>
                    <a:pt x="101026" y="237165"/>
                  </a:lnTo>
                  <a:lnTo>
                    <a:pt x="53176" y="237165"/>
                  </a:lnTo>
                  <a:lnTo>
                    <a:pt x="53176" y="73023"/>
                  </a:lnTo>
                  <a:cubicBezTo>
                    <a:pt x="53176" y="64472"/>
                    <a:pt x="57734" y="56573"/>
                    <a:pt x="65138" y="52303"/>
                  </a:cubicBezTo>
                  <a:cubicBezTo>
                    <a:pt x="72543" y="48030"/>
                    <a:pt x="81659" y="48030"/>
                    <a:pt x="89063" y="52303"/>
                  </a:cubicBezTo>
                  <a:cubicBezTo>
                    <a:pt x="96467" y="56573"/>
                    <a:pt x="101026" y="64472"/>
                    <a:pt x="101026" y="73023"/>
                  </a:cubicBez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20" name="Freeform: Shape 13">
              <a:extLst>
                <a:ext uri="{FF2B5EF4-FFF2-40B4-BE49-F238E27FC236}">
                  <a16:creationId xmlns:a16="http://schemas.microsoft.com/office/drawing/2014/main" id="{35FB81ED-C854-7186-3410-F73F29AF6F60}"/>
                </a:ext>
              </a:extLst>
            </p:cNvPr>
            <p:cNvSpPr/>
            <p:nvPr/>
          </p:nvSpPr>
          <p:spPr>
            <a:xfrm>
              <a:off x="560934" y="588378"/>
              <a:ext cx="759281" cy="376423"/>
            </a:xfrm>
            <a:custGeom>
              <a:avLst/>
              <a:gdLst>
                <a:gd name="connsiteX0" fmla="*/ 494431 w 759281"/>
                <a:gd name="connsiteY0" fmla="*/ 73034 h 376423"/>
                <a:gd name="connsiteX1" fmla="*/ 494431 w 759281"/>
                <a:gd name="connsiteY1" fmla="*/ 250842 h 376423"/>
                <a:gd name="connsiteX2" fmla="*/ 470506 w 759281"/>
                <a:gd name="connsiteY2" fmla="*/ 274766 h 376423"/>
                <a:gd name="connsiteX3" fmla="*/ 446581 w 759281"/>
                <a:gd name="connsiteY3" fmla="*/ 250842 h 376423"/>
                <a:gd name="connsiteX4" fmla="*/ 446581 w 759281"/>
                <a:gd name="connsiteY4" fmla="*/ 73034 h 376423"/>
                <a:gd name="connsiteX5" fmla="*/ 458544 w 759281"/>
                <a:gd name="connsiteY5" fmla="*/ 52313 h 376423"/>
                <a:gd name="connsiteX6" fmla="*/ 482469 w 759281"/>
                <a:gd name="connsiteY6" fmla="*/ 52313 h 376423"/>
                <a:gd name="connsiteX7" fmla="*/ 494431 w 759281"/>
                <a:gd name="connsiteY7" fmla="*/ 73034 h 376423"/>
                <a:gd name="connsiteX8" fmla="*/ 466434 w 759281"/>
                <a:gd name="connsiteY8" fmla="*/ 52 h 376423"/>
                <a:gd name="connsiteX9" fmla="*/ 393405 w 759281"/>
                <a:gd name="connsiteY9" fmla="*/ 73159 h 376423"/>
                <a:gd name="connsiteX10" fmla="*/ 393405 w 759281"/>
                <a:gd name="connsiteY10" fmla="*/ 244347 h 376423"/>
                <a:gd name="connsiteX11" fmla="*/ 446581 w 759281"/>
                <a:gd name="connsiteY11" fmla="*/ 318654 h 376423"/>
                <a:gd name="connsiteX12" fmla="*/ 446581 w 759281"/>
                <a:gd name="connsiteY12" fmla="*/ 340257 h 376423"/>
                <a:gd name="connsiteX13" fmla="*/ 0 w 759281"/>
                <a:gd name="connsiteY13" fmla="*/ 340257 h 376423"/>
                <a:gd name="connsiteX14" fmla="*/ 0 w 759281"/>
                <a:gd name="connsiteY14" fmla="*/ 376423 h 376423"/>
                <a:gd name="connsiteX15" fmla="*/ 759281 w 759281"/>
                <a:gd name="connsiteY15" fmla="*/ 376423 h 376423"/>
                <a:gd name="connsiteX16" fmla="*/ 759281 w 759281"/>
                <a:gd name="connsiteY16" fmla="*/ 340257 h 376423"/>
                <a:gd name="connsiteX17" fmla="*/ 494431 w 759281"/>
                <a:gd name="connsiteY17" fmla="*/ 340257 h 376423"/>
                <a:gd name="connsiteX18" fmla="*/ 494431 w 759281"/>
                <a:gd name="connsiteY18" fmla="*/ 318654 h 376423"/>
                <a:gd name="connsiteX19" fmla="*/ 547607 w 759281"/>
                <a:gd name="connsiteY19" fmla="*/ 244347 h 376423"/>
                <a:gd name="connsiteX20" fmla="*/ 547607 w 759281"/>
                <a:gd name="connsiteY20" fmla="*/ 73159 h 376423"/>
                <a:gd name="connsiteX21" fmla="*/ 466434 w 759281"/>
                <a:gd name="connsiteY21" fmla="*/ 52 h 37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59281" h="376423">
                  <a:moveTo>
                    <a:pt x="494431" y="73034"/>
                  </a:moveTo>
                  <a:lnTo>
                    <a:pt x="494431" y="250842"/>
                  </a:lnTo>
                  <a:cubicBezTo>
                    <a:pt x="494431" y="264049"/>
                    <a:pt x="483723" y="274766"/>
                    <a:pt x="470506" y="274766"/>
                  </a:cubicBezTo>
                  <a:cubicBezTo>
                    <a:pt x="457289" y="274766"/>
                    <a:pt x="446581" y="264049"/>
                    <a:pt x="446581" y="250842"/>
                  </a:cubicBezTo>
                  <a:lnTo>
                    <a:pt x="446581" y="73034"/>
                  </a:lnTo>
                  <a:cubicBezTo>
                    <a:pt x="446581" y="64486"/>
                    <a:pt x="451140" y="56583"/>
                    <a:pt x="458544" y="52313"/>
                  </a:cubicBezTo>
                  <a:cubicBezTo>
                    <a:pt x="465948" y="48043"/>
                    <a:pt x="475064" y="48043"/>
                    <a:pt x="482469" y="52313"/>
                  </a:cubicBezTo>
                  <a:cubicBezTo>
                    <a:pt x="489873" y="56583"/>
                    <a:pt x="494431" y="64486"/>
                    <a:pt x="494431" y="73034"/>
                  </a:cubicBezTo>
                  <a:close/>
                  <a:moveTo>
                    <a:pt x="466434" y="52"/>
                  </a:moveTo>
                  <a:cubicBezTo>
                    <a:pt x="426915" y="1416"/>
                    <a:pt x="395146" y="33803"/>
                    <a:pt x="393405" y="73159"/>
                  </a:cubicBezTo>
                  <a:lnTo>
                    <a:pt x="393405" y="244347"/>
                  </a:lnTo>
                  <a:cubicBezTo>
                    <a:pt x="393555" y="277593"/>
                    <a:pt x="414962" y="308349"/>
                    <a:pt x="446581" y="318654"/>
                  </a:cubicBezTo>
                  <a:lnTo>
                    <a:pt x="446581" y="340257"/>
                  </a:lnTo>
                  <a:lnTo>
                    <a:pt x="0" y="340257"/>
                  </a:lnTo>
                  <a:lnTo>
                    <a:pt x="0" y="376423"/>
                  </a:lnTo>
                  <a:lnTo>
                    <a:pt x="759281" y="376423"/>
                  </a:lnTo>
                  <a:lnTo>
                    <a:pt x="759281" y="340257"/>
                  </a:lnTo>
                  <a:lnTo>
                    <a:pt x="494431" y="340257"/>
                  </a:lnTo>
                  <a:lnTo>
                    <a:pt x="494431" y="318654"/>
                  </a:lnTo>
                  <a:cubicBezTo>
                    <a:pt x="526041" y="308321"/>
                    <a:pt x="547476" y="277593"/>
                    <a:pt x="547607" y="244347"/>
                  </a:cubicBezTo>
                  <a:lnTo>
                    <a:pt x="547607" y="73159"/>
                  </a:lnTo>
                  <a:cubicBezTo>
                    <a:pt x="547130" y="34913"/>
                    <a:pt x="513227" y="-1564"/>
                    <a:pt x="466434" y="52"/>
                  </a:cubicBez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21" name="Freeform: Shape 14">
              <a:extLst>
                <a:ext uri="{FF2B5EF4-FFF2-40B4-BE49-F238E27FC236}">
                  <a16:creationId xmlns:a16="http://schemas.microsoft.com/office/drawing/2014/main" id="{771134BF-2923-967D-E09D-18E2C0880C1B}"/>
                </a:ext>
              </a:extLst>
            </p:cNvPr>
            <p:cNvSpPr/>
            <p:nvPr/>
          </p:nvSpPr>
          <p:spPr>
            <a:xfrm>
              <a:off x="1136294" y="588471"/>
              <a:ext cx="154201" cy="321339"/>
            </a:xfrm>
            <a:custGeom>
              <a:avLst/>
              <a:gdLst>
                <a:gd name="connsiteX0" fmla="*/ 0 w 154201"/>
                <a:gd name="connsiteY0" fmla="*/ 0 h 321339"/>
                <a:gd name="connsiteX1" fmla="*/ 0 w 154201"/>
                <a:gd name="connsiteY1" fmla="*/ 244254 h 321339"/>
                <a:gd name="connsiteX2" fmla="*/ 0 w 154201"/>
                <a:gd name="connsiteY2" fmla="*/ 244740 h 321339"/>
                <a:gd name="connsiteX3" fmla="*/ 38695 w 154201"/>
                <a:gd name="connsiteY3" fmla="*/ 311092 h 321339"/>
                <a:gd name="connsiteX4" fmla="*/ 115937 w 154201"/>
                <a:gd name="connsiteY4" fmla="*/ 310849 h 321339"/>
                <a:gd name="connsiteX5" fmla="*/ 154202 w 154201"/>
                <a:gd name="connsiteY5" fmla="*/ 244740 h 321339"/>
                <a:gd name="connsiteX6" fmla="*/ 154202 w 154201"/>
                <a:gd name="connsiteY6" fmla="*/ 244254 h 321339"/>
                <a:gd name="connsiteX7" fmla="*/ 154202 w 154201"/>
                <a:gd name="connsiteY7" fmla="*/ 0 h 321339"/>
                <a:gd name="connsiteX8" fmla="*/ 101026 w 154201"/>
                <a:gd name="connsiteY8" fmla="*/ 0 h 321339"/>
                <a:gd name="connsiteX9" fmla="*/ 101026 w 154201"/>
                <a:gd name="connsiteY9" fmla="*/ 250749 h 321339"/>
                <a:gd name="connsiteX10" fmla="*/ 77101 w 154201"/>
                <a:gd name="connsiteY10" fmla="*/ 274673 h 321339"/>
                <a:gd name="connsiteX11" fmla="*/ 53167 w 154201"/>
                <a:gd name="connsiteY11" fmla="*/ 250749 h 321339"/>
                <a:gd name="connsiteX12" fmla="*/ 53167 w 154201"/>
                <a:gd name="connsiteY12" fmla="*/ 0 h 321339"/>
                <a:gd name="connsiteX13" fmla="*/ 0 w 154201"/>
                <a:gd name="connsiteY13" fmla="*/ 0 h 32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201" h="321339">
                  <a:moveTo>
                    <a:pt x="0" y="0"/>
                  </a:moveTo>
                  <a:lnTo>
                    <a:pt x="0" y="244254"/>
                  </a:lnTo>
                  <a:cubicBezTo>
                    <a:pt x="0" y="244413"/>
                    <a:pt x="0" y="244581"/>
                    <a:pt x="0" y="244740"/>
                  </a:cubicBezTo>
                  <a:cubicBezTo>
                    <a:pt x="178" y="272155"/>
                    <a:pt x="14902" y="297427"/>
                    <a:pt x="38695" y="311092"/>
                  </a:cubicBezTo>
                  <a:cubicBezTo>
                    <a:pt x="62630" y="324842"/>
                    <a:pt x="92087" y="324748"/>
                    <a:pt x="115937" y="310849"/>
                  </a:cubicBezTo>
                  <a:cubicBezTo>
                    <a:pt x="139637" y="297034"/>
                    <a:pt x="154202" y="272155"/>
                    <a:pt x="154202" y="244740"/>
                  </a:cubicBezTo>
                  <a:lnTo>
                    <a:pt x="154202" y="244254"/>
                  </a:lnTo>
                  <a:lnTo>
                    <a:pt x="154202" y="0"/>
                  </a:lnTo>
                  <a:lnTo>
                    <a:pt x="101026" y="0"/>
                  </a:lnTo>
                  <a:lnTo>
                    <a:pt x="101026" y="250749"/>
                  </a:lnTo>
                  <a:cubicBezTo>
                    <a:pt x="101026" y="263956"/>
                    <a:pt x="90308" y="274673"/>
                    <a:pt x="77101" y="274673"/>
                  </a:cubicBezTo>
                  <a:cubicBezTo>
                    <a:pt x="63884" y="274673"/>
                    <a:pt x="53167" y="263956"/>
                    <a:pt x="53167" y="250749"/>
                  </a:cubicBezTo>
                  <a:lnTo>
                    <a:pt x="53167" y="0"/>
                  </a:lnTo>
                  <a:lnTo>
                    <a:pt x="0" y="0"/>
                  </a:ln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22" name="Freeform: Shape 15">
              <a:extLst>
                <a:ext uri="{FF2B5EF4-FFF2-40B4-BE49-F238E27FC236}">
                  <a16:creationId xmlns:a16="http://schemas.microsoft.com/office/drawing/2014/main" id="{B4FDE49A-14DC-E6CB-9BFA-51C0A3E19AC5}"/>
                </a:ext>
              </a:extLst>
            </p:cNvPr>
            <p:cNvSpPr/>
            <p:nvPr/>
          </p:nvSpPr>
          <p:spPr>
            <a:xfrm>
              <a:off x="590653" y="588471"/>
              <a:ext cx="154202" cy="321023"/>
            </a:xfrm>
            <a:custGeom>
              <a:avLst/>
              <a:gdLst>
                <a:gd name="connsiteX0" fmla="*/ 154202 w 154202"/>
                <a:gd name="connsiteY0" fmla="*/ 44216 h 321023"/>
                <a:gd name="connsiteX1" fmla="*/ 154202 w 154202"/>
                <a:gd name="connsiteY1" fmla="*/ 0 h 321023"/>
                <a:gd name="connsiteX2" fmla="*/ 5934 w 154202"/>
                <a:gd name="connsiteY2" fmla="*/ 0 h 321023"/>
                <a:gd name="connsiteX3" fmla="*/ 0 w 154202"/>
                <a:gd name="connsiteY3" fmla="*/ 0 h 321023"/>
                <a:gd name="connsiteX4" fmla="*/ 0 w 154202"/>
                <a:gd name="connsiteY4" fmla="*/ 44216 h 321023"/>
                <a:gd name="connsiteX5" fmla="*/ 50209 w 154202"/>
                <a:gd name="connsiteY5" fmla="*/ 44216 h 321023"/>
                <a:gd name="connsiteX6" fmla="*/ 50209 w 154202"/>
                <a:gd name="connsiteY6" fmla="*/ 321023 h 321023"/>
                <a:gd name="connsiteX7" fmla="*/ 103375 w 154202"/>
                <a:gd name="connsiteY7" fmla="*/ 321023 h 321023"/>
                <a:gd name="connsiteX8" fmla="*/ 103375 w 154202"/>
                <a:gd name="connsiteY8" fmla="*/ 44216 h 32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02" h="321023">
                  <a:moveTo>
                    <a:pt x="154202" y="44216"/>
                  </a:moveTo>
                  <a:lnTo>
                    <a:pt x="154202" y="0"/>
                  </a:lnTo>
                  <a:lnTo>
                    <a:pt x="5934" y="0"/>
                  </a:lnTo>
                  <a:lnTo>
                    <a:pt x="0" y="0"/>
                  </a:lnTo>
                  <a:lnTo>
                    <a:pt x="0" y="44216"/>
                  </a:lnTo>
                  <a:lnTo>
                    <a:pt x="50209" y="44216"/>
                  </a:lnTo>
                  <a:lnTo>
                    <a:pt x="50209" y="321023"/>
                  </a:lnTo>
                  <a:lnTo>
                    <a:pt x="103375" y="321023"/>
                  </a:lnTo>
                  <a:lnTo>
                    <a:pt x="103375" y="44216"/>
                  </a:ln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23" name="Freeform: Shape 16">
              <a:extLst>
                <a:ext uri="{FF2B5EF4-FFF2-40B4-BE49-F238E27FC236}">
                  <a16:creationId xmlns:a16="http://schemas.microsoft.com/office/drawing/2014/main" id="{BF19B275-1D8A-B521-F9FF-574060DE0202}"/>
                </a:ext>
              </a:extLst>
            </p:cNvPr>
            <p:cNvSpPr/>
            <p:nvPr/>
          </p:nvSpPr>
          <p:spPr>
            <a:xfrm>
              <a:off x="574684" y="977241"/>
              <a:ext cx="731780" cy="117915"/>
            </a:xfrm>
            <a:custGeom>
              <a:avLst/>
              <a:gdLst>
                <a:gd name="connsiteX0" fmla="*/ 731781 w 731780"/>
                <a:gd name="connsiteY0" fmla="*/ 0 h 117915"/>
                <a:gd name="connsiteX1" fmla="*/ 0 w 731780"/>
                <a:gd name="connsiteY1" fmla="*/ 0 h 117915"/>
                <a:gd name="connsiteX2" fmla="*/ 0 w 731780"/>
                <a:gd name="connsiteY2" fmla="*/ 117915 h 117915"/>
                <a:gd name="connsiteX3" fmla="*/ 731781 w 731780"/>
                <a:gd name="connsiteY3" fmla="*/ 117915 h 117915"/>
              </a:gdLst>
              <a:ahLst/>
              <a:cxnLst>
                <a:cxn ang="0">
                  <a:pos x="connsiteX0" y="connsiteY0"/>
                </a:cxn>
                <a:cxn ang="0">
                  <a:pos x="connsiteX1" y="connsiteY1"/>
                </a:cxn>
                <a:cxn ang="0">
                  <a:pos x="connsiteX2" y="connsiteY2"/>
                </a:cxn>
                <a:cxn ang="0">
                  <a:pos x="connsiteX3" y="connsiteY3"/>
                </a:cxn>
              </a:cxnLst>
              <a:rect l="l" t="t" r="r" b="b"/>
              <a:pathLst>
                <a:path w="731780" h="117915">
                  <a:moveTo>
                    <a:pt x="731781" y="0"/>
                  </a:moveTo>
                  <a:lnTo>
                    <a:pt x="0" y="0"/>
                  </a:lnTo>
                  <a:lnTo>
                    <a:pt x="0" y="117915"/>
                  </a:lnTo>
                  <a:lnTo>
                    <a:pt x="731781" y="117915"/>
                  </a:ln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sp>
          <p:nvSpPr>
            <p:cNvPr id="24" name="Freeform: Shape 17">
              <a:extLst>
                <a:ext uri="{FF2B5EF4-FFF2-40B4-BE49-F238E27FC236}">
                  <a16:creationId xmlns:a16="http://schemas.microsoft.com/office/drawing/2014/main" id="{A0678D69-FEE4-10F8-3E4D-A5C393087F7C}"/>
                </a:ext>
              </a:extLst>
            </p:cNvPr>
            <p:cNvSpPr/>
            <p:nvPr/>
          </p:nvSpPr>
          <p:spPr>
            <a:xfrm>
              <a:off x="610787" y="379128"/>
              <a:ext cx="659575" cy="176831"/>
            </a:xfrm>
            <a:custGeom>
              <a:avLst/>
              <a:gdLst>
                <a:gd name="connsiteX0" fmla="*/ 0 w 659575"/>
                <a:gd name="connsiteY0" fmla="*/ 176832 h 176831"/>
                <a:gd name="connsiteX1" fmla="*/ 659575 w 659575"/>
                <a:gd name="connsiteY1" fmla="*/ 176832 h 176831"/>
                <a:gd name="connsiteX2" fmla="*/ 329783 w 659575"/>
                <a:gd name="connsiteY2" fmla="*/ 0 h 176831"/>
              </a:gdLst>
              <a:ahLst/>
              <a:cxnLst>
                <a:cxn ang="0">
                  <a:pos x="connsiteX0" y="connsiteY0"/>
                </a:cxn>
                <a:cxn ang="0">
                  <a:pos x="connsiteX1" y="connsiteY1"/>
                </a:cxn>
                <a:cxn ang="0">
                  <a:pos x="connsiteX2" y="connsiteY2"/>
                </a:cxn>
              </a:cxnLst>
              <a:rect l="l" t="t" r="r" b="b"/>
              <a:pathLst>
                <a:path w="659575" h="176831">
                  <a:moveTo>
                    <a:pt x="0" y="176832"/>
                  </a:moveTo>
                  <a:lnTo>
                    <a:pt x="659575" y="176832"/>
                  </a:lnTo>
                  <a:lnTo>
                    <a:pt x="329783" y="0"/>
                  </a:lnTo>
                  <a:close/>
                </a:path>
              </a:pathLst>
            </a:cu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endParaRPr lang="en-US"/>
            </a:p>
          </p:txBody>
        </p:sp>
      </p:grpSp>
    </p:spTree>
    <p:extLst>
      <p:ext uri="{BB962C8B-B14F-4D97-AF65-F5344CB8AC3E}">
        <p14:creationId xmlns:p14="http://schemas.microsoft.com/office/powerpoint/2010/main" val="1927796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DD7D1F-692A-F375-E6C4-5B9057A204CC}"/>
              </a:ext>
            </a:extLst>
          </p:cNvPr>
          <p:cNvSpPr txBox="1"/>
          <p:nvPr/>
        </p:nvSpPr>
        <p:spPr>
          <a:xfrm>
            <a:off x="948350" y="277060"/>
            <a:ext cx="6097508" cy="584775"/>
          </a:xfrm>
          <a:prstGeom prst="rect">
            <a:avLst/>
          </a:prstGeom>
          <a:noFill/>
        </p:spPr>
        <p:txBody>
          <a:bodyPr wrap="square">
            <a:spAutoFit/>
          </a:bodyPr>
          <a:lstStyle/>
          <a:p>
            <a:r>
              <a:rPr lang="en-US" sz="3200" b="1" dirty="0">
                <a:solidFill>
                  <a:srgbClr val="F0FCFF"/>
                </a:solidFill>
                <a:latin typeface="Times New Roman" panose="02020603050405020304" pitchFamily="18" charset="0"/>
                <a:ea typeface="Spline Sans Bold" pitchFamily="34" charset="-122"/>
                <a:cs typeface="Times New Roman" panose="02020603050405020304" pitchFamily="18" charset="0"/>
              </a:rPr>
              <a:t>REJA:</a:t>
            </a:r>
          </a:p>
        </p:txBody>
      </p:sp>
      <p:sp>
        <p:nvSpPr>
          <p:cNvPr id="5" name="TextBox 4">
            <a:extLst>
              <a:ext uri="{FF2B5EF4-FFF2-40B4-BE49-F238E27FC236}">
                <a16:creationId xmlns:a16="http://schemas.microsoft.com/office/drawing/2014/main" id="{D9F34021-690C-BB4C-0E05-1BAC093A3C14}"/>
              </a:ext>
            </a:extLst>
          </p:cNvPr>
          <p:cNvSpPr txBox="1"/>
          <p:nvPr/>
        </p:nvSpPr>
        <p:spPr>
          <a:xfrm>
            <a:off x="1591147" y="1204111"/>
            <a:ext cx="7806350" cy="461665"/>
          </a:xfrm>
          <a:prstGeom prst="rect">
            <a:avLst/>
          </a:prstGeom>
          <a:noFill/>
        </p:spPr>
        <p:txBody>
          <a:bodyPr wrap="square">
            <a:spAutoFit/>
          </a:bodyPr>
          <a:lstStyle/>
          <a:p>
            <a:pPr marL="285750" indent="-285750">
              <a:buFont typeface="Wingdings" panose="05000000000000000000" pitchFamily="2" charset="2"/>
              <a:buChar char="§"/>
            </a:pPr>
            <a:r>
              <a:rPr lang="en-US" sz="2400" b="1" dirty="0">
                <a:solidFill>
                  <a:srgbClr val="F0FCFF"/>
                </a:solidFill>
                <a:latin typeface="Times New Roman" panose="02020603050405020304" pitchFamily="18" charset="0"/>
                <a:ea typeface="Spline Sans Bold" pitchFamily="34" charset="-122"/>
                <a:cs typeface="Times New Roman" panose="02020603050405020304" pitchFamily="18" charset="0"/>
              </a:rPr>
              <a:t>DATA  SCIENCE UCHUN CHIZIQLI ALGEBRA</a:t>
            </a:r>
            <a:endParaRPr lang="ru-RU" sz="2400" dirty="0"/>
          </a:p>
        </p:txBody>
      </p:sp>
      <p:sp>
        <p:nvSpPr>
          <p:cNvPr id="6" name="TextBox 5">
            <a:extLst>
              <a:ext uri="{FF2B5EF4-FFF2-40B4-BE49-F238E27FC236}">
                <a16:creationId xmlns:a16="http://schemas.microsoft.com/office/drawing/2014/main" id="{D7977F24-9980-93C7-1482-BC104137CF93}"/>
              </a:ext>
            </a:extLst>
          </p:cNvPr>
          <p:cNvSpPr txBox="1"/>
          <p:nvPr/>
        </p:nvSpPr>
        <p:spPr>
          <a:xfrm>
            <a:off x="1591147" y="1777219"/>
            <a:ext cx="7806350" cy="461665"/>
          </a:xfrm>
          <a:prstGeom prst="rect">
            <a:avLst/>
          </a:prstGeom>
          <a:noFill/>
        </p:spPr>
        <p:txBody>
          <a:bodyPr wrap="square">
            <a:spAutoFit/>
          </a:bodyPr>
          <a:lstStyle/>
          <a:p>
            <a:pPr marL="285750" indent="-285750">
              <a:buFont typeface="Wingdings" panose="05000000000000000000" pitchFamily="2" charset="2"/>
              <a:buChar char="§"/>
            </a:pPr>
            <a:r>
              <a:rPr lang="en-US" sz="2400" b="1" dirty="0">
                <a:solidFill>
                  <a:srgbClr val="F0FCFF"/>
                </a:solidFill>
                <a:latin typeface="Times New Roman" panose="02020603050405020304" pitchFamily="18" charset="0"/>
                <a:ea typeface="Spline Sans Bold" pitchFamily="34" charset="-122"/>
                <a:cs typeface="Times New Roman" panose="02020603050405020304" pitchFamily="18" charset="0"/>
              </a:rPr>
              <a:t>DATA  SCIENCE UCHUN STATISTIKA</a:t>
            </a:r>
            <a:endParaRPr lang="ru-RU" sz="2400" dirty="0"/>
          </a:p>
        </p:txBody>
      </p:sp>
    </p:spTree>
    <p:extLst>
      <p:ext uri="{BB962C8B-B14F-4D97-AF65-F5344CB8AC3E}">
        <p14:creationId xmlns:p14="http://schemas.microsoft.com/office/powerpoint/2010/main" val="442277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B68FB0-197D-CD79-D401-39DED07613A2}"/>
              </a:ext>
            </a:extLst>
          </p:cNvPr>
          <p:cNvSpPr txBox="1"/>
          <p:nvPr/>
        </p:nvSpPr>
        <p:spPr>
          <a:xfrm>
            <a:off x="740121" y="2516460"/>
            <a:ext cx="6097508" cy="1323439"/>
          </a:xfrm>
          <a:prstGeom prst="rect">
            <a:avLst/>
          </a:prstGeom>
          <a:noFill/>
        </p:spPr>
        <p:txBody>
          <a:bodyPr wrap="square">
            <a:spAutoFit/>
          </a:bodyPr>
          <a:lstStyle/>
          <a:p>
            <a:r>
              <a:rPr lang="en-US" sz="4000" b="1" dirty="0">
                <a:solidFill>
                  <a:srgbClr val="F0FCFF"/>
                </a:solidFill>
                <a:latin typeface="Times New Roman" panose="02020603050405020304" pitchFamily="18" charset="0"/>
                <a:ea typeface="Spline Sans Bold" pitchFamily="34" charset="-122"/>
                <a:cs typeface="Times New Roman" panose="02020603050405020304" pitchFamily="18" charset="0"/>
              </a:rPr>
              <a:t>DATA  SCIENCE UCHUN CHIZIQLI ALGEBRA</a:t>
            </a:r>
            <a:endParaRPr lang="ru-RU" sz="4000" dirty="0"/>
          </a:p>
        </p:txBody>
      </p:sp>
    </p:spTree>
    <p:extLst>
      <p:ext uri="{BB962C8B-B14F-4D97-AF65-F5344CB8AC3E}">
        <p14:creationId xmlns:p14="http://schemas.microsoft.com/office/powerpoint/2010/main" val="2473029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0A18B-40A7-5923-2A4D-85A372C4EBA7}"/>
              </a:ext>
            </a:extLst>
          </p:cNvPr>
          <p:cNvSpPr txBox="1"/>
          <p:nvPr/>
        </p:nvSpPr>
        <p:spPr>
          <a:xfrm>
            <a:off x="866869" y="385703"/>
            <a:ext cx="6097508" cy="584775"/>
          </a:xfrm>
          <a:prstGeom prst="rect">
            <a:avLst/>
          </a:prstGeom>
          <a:noFill/>
        </p:spPr>
        <p:txBody>
          <a:bodyPr wrap="square">
            <a:spAutoFit/>
          </a:bodyPr>
          <a:lstStyle/>
          <a:p>
            <a:r>
              <a:rPr lang="en-US" sz="3200" b="1" dirty="0">
                <a:solidFill>
                  <a:srgbClr val="F0FCFF"/>
                </a:solidFill>
                <a:latin typeface="Times New Roman" panose="02020603050405020304" pitchFamily="18" charset="0"/>
                <a:ea typeface="Spline Sans Bold" pitchFamily="34" charset="-122"/>
                <a:cs typeface="Times New Roman" panose="02020603050405020304" pitchFamily="18" charset="0"/>
              </a:rPr>
              <a:t>VEKTORLAR</a:t>
            </a:r>
            <a:endParaRPr lang="ru-RU" sz="3200" dirty="0"/>
          </a:p>
        </p:txBody>
      </p:sp>
      <p:sp>
        <p:nvSpPr>
          <p:cNvPr id="5" name="TextBox 4">
            <a:extLst>
              <a:ext uri="{FF2B5EF4-FFF2-40B4-BE49-F238E27FC236}">
                <a16:creationId xmlns:a16="http://schemas.microsoft.com/office/drawing/2014/main" id="{610BBA3E-AF0C-2718-A12C-27650BD9D060}"/>
              </a:ext>
            </a:extLst>
          </p:cNvPr>
          <p:cNvSpPr txBox="1"/>
          <p:nvPr/>
        </p:nvSpPr>
        <p:spPr>
          <a:xfrm>
            <a:off x="930244" y="1046605"/>
            <a:ext cx="6097508" cy="523220"/>
          </a:xfrm>
          <a:prstGeom prst="rect">
            <a:avLst/>
          </a:prstGeom>
          <a:noFill/>
        </p:spPr>
        <p:txBody>
          <a:bodyPr wrap="square">
            <a:spAutoFit/>
          </a:bodyPr>
          <a:lstStyle/>
          <a:p>
            <a:r>
              <a:rPr lang="tr-TR" sz="2800" b="1" dirty="0">
                <a:solidFill>
                  <a:srgbClr val="FFC000"/>
                </a:solidFill>
                <a:latin typeface="Times New Roman" panose="02020603050405020304" pitchFamily="18" charset="0"/>
                <a:cs typeface="Times New Roman" panose="02020603050405020304" pitchFamily="18" charset="0"/>
              </a:rPr>
              <a:t>Vektor Nima?</a:t>
            </a:r>
            <a:endParaRPr lang="ru-RU" sz="2800" b="1" dirty="0">
              <a:solidFill>
                <a:srgbClr val="FFC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52E6056-B694-68E0-7B7F-36994F17F9FC}"/>
              </a:ext>
            </a:extLst>
          </p:cNvPr>
          <p:cNvSpPr txBox="1"/>
          <p:nvPr/>
        </p:nvSpPr>
        <p:spPr>
          <a:xfrm>
            <a:off x="930244" y="1831435"/>
            <a:ext cx="10087823" cy="830997"/>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Vektor oddiygina bir nechta sonning tartibli ro'yxati yoki to'plamidir. Bu sonlar vektorning </a:t>
            </a:r>
            <a:r>
              <a:rPr lang="tr-TR" sz="2400" b="1" dirty="0">
                <a:latin typeface="Times New Roman" panose="02020603050405020304" pitchFamily="18" charset="0"/>
                <a:cs typeface="Times New Roman" panose="02020603050405020304" pitchFamily="18" charset="0"/>
              </a:rPr>
              <a:t>komponentlari</a:t>
            </a:r>
            <a:r>
              <a:rPr lang="tr-TR" sz="2400" dirty="0">
                <a:latin typeface="Times New Roman" panose="02020603050405020304" pitchFamily="18" charset="0"/>
                <a:cs typeface="Times New Roman" panose="02020603050405020304" pitchFamily="18" charset="0"/>
              </a:rPr>
              <a:t> deyiladi.</a:t>
            </a:r>
            <a:endParaRPr lang="ru-RU" sz="2400" dirty="0">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8A5ADDE4-D7AB-F746-2167-C0CE4F52E64F}"/>
              </a:ext>
            </a:extLst>
          </p:cNvPr>
          <p:cNvPicPr>
            <a:picLocks noChangeAspect="1"/>
          </p:cNvPicPr>
          <p:nvPr/>
        </p:nvPicPr>
        <p:blipFill>
          <a:blip r:embed="rId2">
            <a:biLevel thresh="50000"/>
            <a:extLst>
              <a:ext uri="{BEBA8EAE-BF5A-486C-A8C5-ECC9F3942E4B}">
                <a14:imgProps xmlns:a14="http://schemas.microsoft.com/office/drawing/2010/main">
                  <a14:imgLayer r:embed="rId3">
                    <a14:imgEffect>
                      <a14:colorTemperature colorTemp="5900"/>
                    </a14:imgEffect>
                  </a14:imgLayer>
                </a14:imgProps>
              </a:ext>
            </a:extLst>
          </a:blip>
          <a:stretch>
            <a:fillRect/>
          </a:stretch>
        </p:blipFill>
        <p:spPr>
          <a:xfrm>
            <a:off x="3147601" y="2924042"/>
            <a:ext cx="5896798" cy="2152950"/>
          </a:xfrm>
          <a:prstGeom prst="rect">
            <a:avLst/>
          </a:prstGeom>
          <a:ln>
            <a:solidFill>
              <a:schemeClr val="tx1"/>
            </a:solidFill>
          </a:ln>
        </p:spPr>
      </p:pic>
    </p:spTree>
    <p:extLst>
      <p:ext uri="{BB962C8B-B14F-4D97-AF65-F5344CB8AC3E}">
        <p14:creationId xmlns:p14="http://schemas.microsoft.com/office/powerpoint/2010/main" val="3753055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3E7362-A824-D472-41DE-53DED0DAD344}"/>
              </a:ext>
            </a:extLst>
          </p:cNvPr>
          <p:cNvSpPr txBox="1"/>
          <p:nvPr/>
        </p:nvSpPr>
        <p:spPr>
          <a:xfrm>
            <a:off x="866869" y="385703"/>
            <a:ext cx="6097508" cy="584775"/>
          </a:xfrm>
          <a:prstGeom prst="rect">
            <a:avLst/>
          </a:prstGeom>
          <a:noFill/>
        </p:spPr>
        <p:txBody>
          <a:bodyPr wrap="square">
            <a:spAutoFit/>
          </a:bodyPr>
          <a:lstStyle/>
          <a:p>
            <a:r>
              <a:rPr lang="en-US" sz="3200" b="1" dirty="0">
                <a:solidFill>
                  <a:srgbClr val="F0FCFF"/>
                </a:solidFill>
                <a:latin typeface="Times New Roman" panose="02020603050405020304" pitchFamily="18" charset="0"/>
                <a:ea typeface="Spline Sans Bold" pitchFamily="34" charset="-122"/>
                <a:cs typeface="Times New Roman" panose="02020603050405020304" pitchFamily="18" charset="0"/>
              </a:rPr>
              <a:t>VEKTORLAR</a:t>
            </a:r>
            <a:endParaRPr lang="ru-RU" sz="3200" dirty="0"/>
          </a:p>
        </p:txBody>
      </p:sp>
      <p:sp>
        <p:nvSpPr>
          <p:cNvPr id="4" name="TextBox 3">
            <a:extLst>
              <a:ext uri="{FF2B5EF4-FFF2-40B4-BE49-F238E27FC236}">
                <a16:creationId xmlns:a16="http://schemas.microsoft.com/office/drawing/2014/main" id="{01CE3A14-6D4F-3CEF-CF1E-93B86857EDC6}"/>
              </a:ext>
            </a:extLst>
          </p:cNvPr>
          <p:cNvSpPr txBox="1"/>
          <p:nvPr/>
        </p:nvSpPr>
        <p:spPr>
          <a:xfrm>
            <a:off x="866869" y="1414098"/>
            <a:ext cx="9254905" cy="461665"/>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Misol:</a:t>
            </a:r>
            <a:r>
              <a:rPr lang="en-US" sz="2400" dirty="0">
                <a:latin typeface="Times New Roman" panose="02020603050405020304" pitchFamily="18" charset="0"/>
                <a:cs typeface="Times New Roman" panose="02020603050405020304" pitchFamily="18" charset="0"/>
              </a:rPr>
              <a:t> </a:t>
            </a:r>
            <a:r>
              <a:rPr lang="tr-TR" sz="2400" dirty="0">
                <a:latin typeface="Times New Roman" panose="02020603050405020304" pitchFamily="18" charset="0"/>
                <a:cs typeface="Times New Roman" panose="02020603050405020304" pitchFamily="18" charset="0"/>
              </a:rPr>
              <a:t>Agar talabaning ma’lumotlari quyidagicha bo‘lsa:</a:t>
            </a:r>
            <a:endParaRPr lang="ru-RU" sz="2400" dirty="0">
              <a:latin typeface="Times New Roman" panose="02020603050405020304" pitchFamily="18" charset="0"/>
              <a:cs typeface="Times New Roman" panose="02020603050405020304" pitchFamily="18" charset="0"/>
            </a:endParaRPr>
          </a:p>
        </p:txBody>
      </p:sp>
      <p:graphicFrame>
        <p:nvGraphicFramePr>
          <p:cNvPr id="5" name="Таблица 4">
            <a:extLst>
              <a:ext uri="{FF2B5EF4-FFF2-40B4-BE49-F238E27FC236}">
                <a16:creationId xmlns:a16="http://schemas.microsoft.com/office/drawing/2014/main" id="{9EC125F0-22AC-1BB1-1888-E88980176C6F}"/>
              </a:ext>
            </a:extLst>
          </p:cNvPr>
          <p:cNvGraphicFramePr>
            <a:graphicFrameLocks noGrp="1"/>
          </p:cNvGraphicFramePr>
          <p:nvPr>
            <p:extLst>
              <p:ext uri="{D42A27DB-BD31-4B8C-83A1-F6EECF244321}">
                <p14:modId xmlns:p14="http://schemas.microsoft.com/office/powerpoint/2010/main" val="1161989139"/>
              </p:ext>
            </p:extLst>
          </p:nvPr>
        </p:nvGraphicFramePr>
        <p:xfrm>
          <a:off x="957404" y="2147145"/>
          <a:ext cx="6430224" cy="2823208"/>
        </p:xfrm>
        <a:graphic>
          <a:graphicData uri="http://schemas.openxmlformats.org/drawingml/2006/table">
            <a:tbl>
              <a:tblPr>
                <a:tableStyleId>{5940675A-B579-460E-94D1-54222C63F5DA}</a:tableStyleId>
              </a:tblPr>
              <a:tblGrid>
                <a:gridCol w="3215112">
                  <a:extLst>
                    <a:ext uri="{9D8B030D-6E8A-4147-A177-3AD203B41FA5}">
                      <a16:colId xmlns:a16="http://schemas.microsoft.com/office/drawing/2014/main" val="4099644776"/>
                    </a:ext>
                  </a:extLst>
                </a:gridCol>
                <a:gridCol w="3215112">
                  <a:extLst>
                    <a:ext uri="{9D8B030D-6E8A-4147-A177-3AD203B41FA5}">
                      <a16:colId xmlns:a16="http://schemas.microsoft.com/office/drawing/2014/main" val="287168217"/>
                    </a:ext>
                  </a:extLst>
                </a:gridCol>
              </a:tblGrid>
              <a:tr h="705802">
                <a:tc>
                  <a:txBody>
                    <a:bodyPr/>
                    <a:lstStyle/>
                    <a:p>
                      <a:pPr>
                        <a:buNone/>
                      </a:pPr>
                      <a:r>
                        <a:rPr lang="tr-TR" dirty="0">
                          <a:latin typeface="Times New Roman" panose="02020603050405020304" pitchFamily="18" charset="0"/>
                          <a:cs typeface="Times New Roman" panose="02020603050405020304" pitchFamily="18" charset="0"/>
                        </a:rPr>
                        <a:t>Xususiyat</a:t>
                      </a:r>
                    </a:p>
                  </a:txBody>
                  <a:tcPr anchor="ctr">
                    <a:solidFill>
                      <a:schemeClr val="tx2">
                        <a:lumMod val="25000"/>
                      </a:schemeClr>
                    </a:solidFill>
                  </a:tcPr>
                </a:tc>
                <a:tc>
                  <a:txBody>
                    <a:bodyPr/>
                    <a:lstStyle/>
                    <a:p>
                      <a:pPr>
                        <a:buNone/>
                      </a:pPr>
                      <a:r>
                        <a:rPr lang="tr-TR" dirty="0">
                          <a:latin typeface="Times New Roman" panose="02020603050405020304" pitchFamily="18" charset="0"/>
                          <a:cs typeface="Times New Roman" panose="02020603050405020304" pitchFamily="18" charset="0"/>
                        </a:rPr>
                        <a:t>Qiymat</a:t>
                      </a:r>
                    </a:p>
                  </a:txBody>
                  <a:tcPr anchor="ctr">
                    <a:solidFill>
                      <a:schemeClr val="tx2">
                        <a:lumMod val="25000"/>
                      </a:schemeClr>
                    </a:solidFill>
                  </a:tcPr>
                </a:tc>
                <a:extLst>
                  <a:ext uri="{0D108BD9-81ED-4DB2-BD59-A6C34878D82A}">
                    <a16:rowId xmlns:a16="http://schemas.microsoft.com/office/drawing/2014/main" val="2016810314"/>
                  </a:ext>
                </a:extLst>
              </a:tr>
              <a:tr h="705802">
                <a:tc>
                  <a:txBody>
                    <a:bodyPr/>
                    <a:lstStyle/>
                    <a:p>
                      <a:pPr>
                        <a:buNone/>
                      </a:pPr>
                      <a:r>
                        <a:rPr lang="tr-TR">
                          <a:latin typeface="Times New Roman" panose="02020603050405020304" pitchFamily="18" charset="0"/>
                          <a:cs typeface="Times New Roman" panose="02020603050405020304" pitchFamily="18" charset="0"/>
                        </a:rPr>
                        <a:t>Yoshi</a:t>
                      </a:r>
                    </a:p>
                  </a:txBody>
                  <a:tcPr anchor="ctr"/>
                </a:tc>
                <a:tc>
                  <a:txBody>
                    <a:bodyPr/>
                    <a:lstStyle/>
                    <a:p>
                      <a:pPr>
                        <a:buNone/>
                      </a:pPr>
                      <a:r>
                        <a:rPr lang="ru-RU" dirty="0">
                          <a:latin typeface="Times New Roman" panose="02020603050405020304" pitchFamily="18" charset="0"/>
                          <a:cs typeface="Times New Roman" panose="02020603050405020304" pitchFamily="18" charset="0"/>
                        </a:rPr>
                        <a:t>20</a:t>
                      </a:r>
                    </a:p>
                  </a:txBody>
                  <a:tcPr anchor="ctr"/>
                </a:tc>
                <a:extLst>
                  <a:ext uri="{0D108BD9-81ED-4DB2-BD59-A6C34878D82A}">
                    <a16:rowId xmlns:a16="http://schemas.microsoft.com/office/drawing/2014/main" val="1867370200"/>
                  </a:ext>
                </a:extLst>
              </a:tr>
              <a:tr h="705802">
                <a:tc>
                  <a:txBody>
                    <a:bodyPr/>
                    <a:lstStyle/>
                    <a:p>
                      <a:pPr>
                        <a:buNone/>
                      </a:pPr>
                      <a:r>
                        <a:rPr lang="tr-TR">
                          <a:latin typeface="Times New Roman" panose="02020603050405020304" pitchFamily="18" charset="0"/>
                          <a:cs typeface="Times New Roman" panose="02020603050405020304" pitchFamily="18" charset="0"/>
                        </a:rPr>
                        <a:t>Bahosi</a:t>
                      </a:r>
                    </a:p>
                  </a:txBody>
                  <a:tcPr anchor="ctr"/>
                </a:tc>
                <a:tc>
                  <a:txBody>
                    <a:bodyPr/>
                    <a:lstStyle/>
                    <a:p>
                      <a:pPr>
                        <a:buNone/>
                      </a:pPr>
                      <a:r>
                        <a:rPr lang="ru-RU" dirty="0">
                          <a:latin typeface="Times New Roman" panose="02020603050405020304" pitchFamily="18" charset="0"/>
                          <a:cs typeface="Times New Roman" panose="02020603050405020304" pitchFamily="18" charset="0"/>
                        </a:rPr>
                        <a:t>85</a:t>
                      </a:r>
                    </a:p>
                  </a:txBody>
                  <a:tcPr anchor="ctr"/>
                </a:tc>
                <a:extLst>
                  <a:ext uri="{0D108BD9-81ED-4DB2-BD59-A6C34878D82A}">
                    <a16:rowId xmlns:a16="http://schemas.microsoft.com/office/drawing/2014/main" val="144451614"/>
                  </a:ext>
                </a:extLst>
              </a:tr>
              <a:tr h="705802">
                <a:tc>
                  <a:txBody>
                    <a:bodyPr/>
                    <a:lstStyle/>
                    <a:p>
                      <a:pPr>
                        <a:buNone/>
                      </a:pPr>
                      <a:r>
                        <a:rPr lang="tr-TR" dirty="0">
                          <a:latin typeface="Times New Roman" panose="02020603050405020304" pitchFamily="18" charset="0"/>
                          <a:cs typeface="Times New Roman" panose="02020603050405020304" pitchFamily="18" charset="0"/>
                        </a:rPr>
                        <a:t>Kursi</a:t>
                      </a:r>
                    </a:p>
                  </a:txBody>
                  <a:tcPr anchor="ctr"/>
                </a:tc>
                <a:tc>
                  <a:txBody>
                    <a:bodyPr/>
                    <a:lstStyle/>
                    <a:p>
                      <a:pPr>
                        <a:buNone/>
                      </a:pPr>
                      <a:r>
                        <a:rPr lang="ru-RU" dirty="0">
                          <a:latin typeface="Times New Roman" panose="02020603050405020304" pitchFamily="18" charset="0"/>
                          <a:cs typeface="Times New Roman" panose="02020603050405020304" pitchFamily="18" charset="0"/>
                        </a:rPr>
                        <a:t>3</a:t>
                      </a:r>
                    </a:p>
                  </a:txBody>
                  <a:tcPr anchor="ctr"/>
                </a:tc>
                <a:extLst>
                  <a:ext uri="{0D108BD9-81ED-4DB2-BD59-A6C34878D82A}">
                    <a16:rowId xmlns:a16="http://schemas.microsoft.com/office/drawing/2014/main" val="1434731290"/>
                  </a:ext>
                </a:extLst>
              </a:tr>
            </a:tbl>
          </a:graphicData>
        </a:graphic>
      </p:graphicFrame>
      <p:sp>
        <p:nvSpPr>
          <p:cNvPr id="7" name="TextBox 6">
            <a:extLst>
              <a:ext uri="{FF2B5EF4-FFF2-40B4-BE49-F238E27FC236}">
                <a16:creationId xmlns:a16="http://schemas.microsoft.com/office/drawing/2014/main" id="{0A46C2A3-D048-EF03-31E2-6A122A8E92A3}"/>
              </a:ext>
            </a:extLst>
          </p:cNvPr>
          <p:cNvSpPr txBox="1"/>
          <p:nvPr/>
        </p:nvSpPr>
        <p:spPr>
          <a:xfrm>
            <a:off x="7666022" y="2412374"/>
            <a:ext cx="4166857" cy="830997"/>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Bu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misolda</a:t>
            </a:r>
            <a:r>
              <a:rPr lang="tr-TR" sz="2400" dirty="0">
                <a:latin typeface="Times New Roman" panose="02020603050405020304" pitchFamily="18" charset="0"/>
                <a:cs typeface="Times New Roman" panose="02020603050405020304" pitchFamily="18" charset="0"/>
              </a:rPr>
              <a:t> talaba </a:t>
            </a:r>
            <a:r>
              <a:rPr lang="tr-TR" sz="2400" b="1" dirty="0">
                <a:latin typeface="Times New Roman" panose="02020603050405020304" pitchFamily="18" charset="0"/>
                <a:cs typeface="Times New Roman" panose="02020603050405020304" pitchFamily="18" charset="0"/>
              </a:rPr>
              <a:t>vektor</a:t>
            </a:r>
            <a:r>
              <a:rPr lang="tr-TR" sz="2400" dirty="0">
                <a:latin typeface="Times New Roman" panose="02020603050405020304" pitchFamily="18" charset="0"/>
                <a:cs typeface="Times New Roman" panose="02020603050405020304" pitchFamily="18" charset="0"/>
              </a:rPr>
              <a:t> sifatida:</a:t>
            </a:r>
            <a:endParaRPr lang="ru-RU"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643B4FD-689B-CC3F-0B6E-05B72E58758A}"/>
              </a:ext>
            </a:extLst>
          </p:cNvPr>
          <p:cNvSpPr txBox="1"/>
          <p:nvPr/>
        </p:nvSpPr>
        <p:spPr>
          <a:xfrm>
            <a:off x="8394826" y="3353020"/>
            <a:ext cx="1799376" cy="523220"/>
          </a:xfrm>
          <a:prstGeom prst="rect">
            <a:avLst/>
          </a:prstGeom>
          <a:noFill/>
          <a:ln>
            <a:solidFill>
              <a:schemeClr val="tx1"/>
            </a:solidFill>
          </a:ln>
        </p:spPr>
        <p:txBody>
          <a:bodyPr wrap="square">
            <a:spAutoFit/>
          </a:bodyPr>
          <a:lstStyle/>
          <a:p>
            <a:r>
              <a:rPr lang="ru-RU" sz="2800" dirty="0">
                <a:latin typeface="Times New Roman" panose="02020603050405020304" pitchFamily="18" charset="0"/>
                <a:cs typeface="Times New Roman" panose="02020603050405020304" pitchFamily="18" charset="0"/>
              </a:rPr>
              <a:t>[20, 85, 3]</a:t>
            </a:r>
          </a:p>
        </p:txBody>
      </p:sp>
      <p:sp>
        <p:nvSpPr>
          <p:cNvPr id="11" name="TextBox 10">
            <a:extLst>
              <a:ext uri="{FF2B5EF4-FFF2-40B4-BE49-F238E27FC236}">
                <a16:creationId xmlns:a16="http://schemas.microsoft.com/office/drawing/2014/main" id="{D11DDD19-C7E6-7754-A609-D775D5E9FB4B}"/>
              </a:ext>
            </a:extLst>
          </p:cNvPr>
          <p:cNvSpPr txBox="1"/>
          <p:nvPr/>
        </p:nvSpPr>
        <p:spPr>
          <a:xfrm>
            <a:off x="7666023" y="4095360"/>
            <a:ext cx="4166856"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k</a:t>
            </a:r>
            <a:r>
              <a:rPr lang="tr-TR" sz="2400" dirty="0">
                <a:latin typeface="Times New Roman" panose="02020603050405020304" pitchFamily="18" charset="0"/>
                <a:cs typeface="Times New Roman" panose="02020603050405020304" pitchFamily="18" charset="0"/>
              </a:rPr>
              <a:t>o‘rinishida ifodalanadi.</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5989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FAC652-45CC-3084-547C-6D180926F3A6}"/>
              </a:ext>
            </a:extLst>
          </p:cNvPr>
          <p:cNvSpPr txBox="1"/>
          <p:nvPr/>
        </p:nvSpPr>
        <p:spPr>
          <a:xfrm>
            <a:off x="866869" y="385703"/>
            <a:ext cx="6097508" cy="584775"/>
          </a:xfrm>
          <a:prstGeom prst="rect">
            <a:avLst/>
          </a:prstGeom>
          <a:noFill/>
        </p:spPr>
        <p:txBody>
          <a:bodyPr wrap="square">
            <a:spAutoFit/>
          </a:bodyPr>
          <a:lstStyle/>
          <a:p>
            <a:r>
              <a:rPr lang="en-US" sz="3200" b="1" dirty="0">
                <a:solidFill>
                  <a:srgbClr val="F0FCFF"/>
                </a:solidFill>
                <a:latin typeface="Times New Roman" panose="02020603050405020304" pitchFamily="18" charset="0"/>
                <a:ea typeface="Spline Sans Bold" pitchFamily="34" charset="-122"/>
                <a:cs typeface="Times New Roman" panose="02020603050405020304" pitchFamily="18" charset="0"/>
              </a:rPr>
              <a:t>VEKTORLAR</a:t>
            </a:r>
            <a:endParaRPr lang="ru-RU" sz="3200" dirty="0"/>
          </a:p>
        </p:txBody>
      </p:sp>
      <p:sp>
        <p:nvSpPr>
          <p:cNvPr id="4" name="TextBox 3">
            <a:extLst>
              <a:ext uri="{FF2B5EF4-FFF2-40B4-BE49-F238E27FC236}">
                <a16:creationId xmlns:a16="http://schemas.microsoft.com/office/drawing/2014/main" id="{605A6BFA-A7F9-3609-9647-0334CAF6E225}"/>
              </a:ext>
            </a:extLst>
          </p:cNvPr>
          <p:cNvSpPr txBox="1"/>
          <p:nvPr/>
        </p:nvSpPr>
        <p:spPr>
          <a:xfrm>
            <a:off x="1120366" y="970478"/>
            <a:ext cx="9426921" cy="707886"/>
          </a:xfrm>
          <a:prstGeom prst="rect">
            <a:avLst/>
          </a:prstGeom>
          <a:noFill/>
        </p:spPr>
        <p:txBody>
          <a:bodyPr wrap="square">
            <a:spAutoFit/>
          </a:bodyPr>
          <a:lstStyle/>
          <a:p>
            <a:pPr marL="285750" indent="-285750">
              <a:buFont typeface="Wingdings" panose="05000000000000000000" pitchFamily="2" charset="2"/>
              <a:buChar char="§"/>
            </a:pPr>
            <a:r>
              <a:rPr lang="tr-TR" sz="2000" dirty="0">
                <a:latin typeface="Times New Roman" panose="02020603050405020304" pitchFamily="18" charset="0"/>
                <a:cs typeface="Times New Roman" panose="02020603050405020304" pitchFamily="18" charset="0"/>
              </a:rPr>
              <a:t>Machine Learning modellari </a:t>
            </a:r>
            <a:r>
              <a:rPr lang="tr-TR" sz="2000" b="1" dirty="0">
                <a:latin typeface="Times New Roman" panose="02020603050405020304" pitchFamily="18" charset="0"/>
                <a:cs typeface="Times New Roman" panose="02020603050405020304" pitchFamily="18" charset="0"/>
              </a:rPr>
              <a:t>faqat sonlar bilan ishlaydi</a:t>
            </a:r>
            <a:r>
              <a:rPr lang="tr-TR"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tr-TR" sz="2000" dirty="0">
                <a:latin typeface="Times New Roman" panose="02020603050405020304" pitchFamily="18" charset="0"/>
                <a:cs typeface="Times New Roman" panose="02020603050405020304" pitchFamily="18" charset="0"/>
              </a:rPr>
              <a:t>Shuning uchun matn, rasm, ovoz, kategoriyalar — </a:t>
            </a:r>
            <a:r>
              <a:rPr lang="tr-TR" sz="2000" b="1" dirty="0">
                <a:latin typeface="Times New Roman" panose="02020603050405020304" pitchFamily="18" charset="0"/>
                <a:cs typeface="Times New Roman" panose="02020603050405020304" pitchFamily="18" charset="0"/>
              </a:rPr>
              <a:t>hammasi vektorga o‘tkaziladi</a:t>
            </a:r>
            <a:r>
              <a:rPr lang="tr-TR" sz="2000" dirty="0">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34FD9A54-D74D-2953-E11C-2C41D9FA2570}"/>
              </a:ext>
            </a:extLst>
          </p:cNvPr>
          <p:cNvSpPr txBox="1"/>
          <p:nvPr/>
        </p:nvSpPr>
        <p:spPr>
          <a:xfrm>
            <a:off x="1229008" y="1663056"/>
            <a:ext cx="6097508" cy="461665"/>
          </a:xfrm>
          <a:prstGeom prst="rect">
            <a:avLst/>
          </a:prstGeom>
          <a:noFill/>
        </p:spPr>
        <p:txBody>
          <a:bodyPr wrap="square">
            <a:spAutoFit/>
          </a:bodyPr>
          <a:lstStyle/>
          <a:p>
            <a:r>
              <a:rPr lang="tr-TR" sz="2400" i="1" dirty="0">
                <a:solidFill>
                  <a:srgbClr val="FFC000"/>
                </a:solidFill>
                <a:latin typeface="Times New Roman" panose="02020603050405020304" pitchFamily="18" charset="0"/>
                <a:cs typeface="Times New Roman" panose="02020603050405020304" pitchFamily="18" charset="0"/>
              </a:rPr>
              <a:t>Ma’lumotlar turiga qarab vektor</a:t>
            </a:r>
            <a:r>
              <a:rPr lang="en-US" sz="2400" i="1" dirty="0" err="1">
                <a:solidFill>
                  <a:srgbClr val="FFC000"/>
                </a:solidFill>
                <a:latin typeface="Times New Roman" panose="02020603050405020304" pitchFamily="18" charset="0"/>
                <a:cs typeface="Times New Roman" panose="02020603050405020304" pitchFamily="18" charset="0"/>
              </a:rPr>
              <a:t>larga</a:t>
            </a:r>
            <a:r>
              <a:rPr lang="tr-TR" sz="2400" i="1" dirty="0">
                <a:solidFill>
                  <a:srgbClr val="FFC000"/>
                </a:solidFill>
                <a:latin typeface="Times New Roman" panose="02020603050405020304" pitchFamily="18" charset="0"/>
                <a:cs typeface="Times New Roman" panose="02020603050405020304" pitchFamily="18" charset="0"/>
              </a:rPr>
              <a:t> misollar</a:t>
            </a:r>
            <a:r>
              <a:rPr lang="en-US" sz="2400" i="1" dirty="0">
                <a:solidFill>
                  <a:srgbClr val="FFC000"/>
                </a:solidFill>
                <a:latin typeface="Times New Roman" panose="02020603050405020304" pitchFamily="18" charset="0"/>
                <a:cs typeface="Times New Roman" panose="02020603050405020304" pitchFamily="18" charset="0"/>
              </a:rPr>
              <a:t>:</a:t>
            </a:r>
            <a:endParaRPr lang="ru-RU" sz="2400" i="1" dirty="0">
              <a:solidFill>
                <a:srgbClr val="FFC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F4818F1-F3EB-CC65-744F-FF7818FF5C8B}"/>
              </a:ext>
            </a:extLst>
          </p:cNvPr>
          <p:cNvSpPr txBox="1"/>
          <p:nvPr/>
        </p:nvSpPr>
        <p:spPr>
          <a:xfrm>
            <a:off x="1229008" y="2124721"/>
            <a:ext cx="6097508" cy="461665"/>
          </a:xfrm>
          <a:prstGeom prst="rect">
            <a:avLst/>
          </a:prstGeom>
          <a:noFill/>
        </p:spPr>
        <p:txBody>
          <a:bodyPr wrap="square">
            <a:spAutoFit/>
          </a:bodyPr>
          <a:lstStyle/>
          <a:p>
            <a:pPr marL="342900" indent="-342900">
              <a:buFont typeface="+mj-lt"/>
              <a:buAutoNum type="arabicPeriod"/>
            </a:pPr>
            <a:r>
              <a:rPr lang="tr-TR" sz="2400" dirty="0">
                <a:solidFill>
                  <a:srgbClr val="FFC000"/>
                </a:solidFill>
                <a:latin typeface="Times New Roman" panose="02020603050405020304" pitchFamily="18" charset="0"/>
                <a:cs typeface="Times New Roman" panose="02020603050405020304" pitchFamily="18" charset="0"/>
              </a:rPr>
              <a:t>Raqamli ma’lumotlar</a:t>
            </a:r>
            <a:endParaRPr lang="ru-RU" sz="2400" dirty="0">
              <a:solidFill>
                <a:srgbClr val="FFC0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1988C13-5655-8D7E-BB1F-782AC0EDCA4C}"/>
              </a:ext>
            </a:extLst>
          </p:cNvPr>
          <p:cNvSpPr txBox="1"/>
          <p:nvPr/>
        </p:nvSpPr>
        <p:spPr>
          <a:xfrm>
            <a:off x="1938574" y="2630278"/>
            <a:ext cx="6097508" cy="369332"/>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[160, 70, 25]  # </a:t>
            </a:r>
            <a:r>
              <a:rPr lang="ru-RU" dirty="0" err="1">
                <a:latin typeface="Times New Roman" panose="02020603050405020304" pitchFamily="18" charset="0"/>
                <a:cs typeface="Times New Roman" panose="02020603050405020304" pitchFamily="18" charset="0"/>
              </a:rPr>
              <a:t>bo'yi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vazni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yoshi</a:t>
            </a:r>
            <a:endParaRPr lang="ru-RU"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7B89A69-6AE2-7C61-F19B-5883F555490A}"/>
              </a:ext>
            </a:extLst>
          </p:cNvPr>
          <p:cNvSpPr txBox="1"/>
          <p:nvPr/>
        </p:nvSpPr>
        <p:spPr>
          <a:xfrm>
            <a:off x="1229008" y="3062343"/>
            <a:ext cx="7326517" cy="461665"/>
          </a:xfrm>
          <a:prstGeom prst="rect">
            <a:avLst/>
          </a:prstGeom>
          <a:noFill/>
        </p:spPr>
        <p:txBody>
          <a:bodyPr wrap="square">
            <a:spAutoFit/>
          </a:bodyPr>
          <a:lstStyle/>
          <a:p>
            <a:r>
              <a:rPr lang="en-US" sz="2400" dirty="0">
                <a:solidFill>
                  <a:srgbClr val="FFC000"/>
                </a:solidFill>
                <a:latin typeface="Times New Roman" panose="02020603050405020304" pitchFamily="18" charset="0"/>
                <a:cs typeface="Times New Roman" panose="02020603050405020304" pitchFamily="18" charset="0"/>
              </a:rPr>
              <a:t>2. </a:t>
            </a:r>
            <a:r>
              <a:rPr lang="tr-TR" sz="2400" dirty="0">
                <a:solidFill>
                  <a:srgbClr val="FFC000"/>
                </a:solidFill>
                <a:latin typeface="Times New Roman" panose="02020603050405020304" pitchFamily="18" charset="0"/>
                <a:cs typeface="Times New Roman" panose="02020603050405020304" pitchFamily="18" charset="0"/>
              </a:rPr>
              <a:t>Kategoriyalashgan ma’lumotlar (One-hot encoding)</a:t>
            </a:r>
            <a:endParaRPr lang="ru-RU" sz="2400" dirty="0">
              <a:solidFill>
                <a:srgbClr val="FFC00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6E28E2AD-9599-937E-A39A-BE12564D4BDD}"/>
              </a:ext>
            </a:extLst>
          </p:cNvPr>
          <p:cNvSpPr txBox="1"/>
          <p:nvPr/>
        </p:nvSpPr>
        <p:spPr>
          <a:xfrm>
            <a:off x="1938574" y="3498224"/>
            <a:ext cx="6097508" cy="923330"/>
          </a:xfrm>
          <a:prstGeom prst="rect">
            <a:avLst/>
          </a:prstGeom>
          <a:noFill/>
        </p:spPr>
        <p:txBody>
          <a:bodyPr wrap="square">
            <a:spAutoFit/>
          </a:bodyPr>
          <a:lstStyle/>
          <a:p>
            <a:pPr>
              <a:buNone/>
            </a:pPr>
            <a:r>
              <a:rPr lang="tr-TR" dirty="0">
                <a:latin typeface="Times New Roman" panose="02020603050405020304" pitchFamily="18" charset="0"/>
                <a:cs typeface="Times New Roman" panose="02020603050405020304" pitchFamily="18" charset="0"/>
              </a:rPr>
              <a:t>One-hot vektor:</a:t>
            </a:r>
          </a:p>
          <a:p>
            <a:pPr>
              <a:buNone/>
            </a:pPr>
            <a:r>
              <a:rPr lang="tr-TR" dirty="0">
                <a:latin typeface="Times New Roman" panose="02020603050405020304" pitchFamily="18" charset="0"/>
                <a:cs typeface="Times New Roman" panose="02020603050405020304" pitchFamily="18" charset="0"/>
              </a:rPr>
              <a:t>Erkak → </a:t>
            </a:r>
            <a:r>
              <a:rPr lang="tr-TR" b="1" dirty="0">
                <a:latin typeface="Times New Roman" panose="02020603050405020304" pitchFamily="18" charset="0"/>
                <a:cs typeface="Times New Roman" panose="02020603050405020304" pitchFamily="18" charset="0"/>
              </a:rPr>
              <a:t>[1, 0]</a:t>
            </a:r>
            <a:br>
              <a:rPr lang="tr-TR" dirty="0">
                <a:latin typeface="Times New Roman" panose="02020603050405020304" pitchFamily="18" charset="0"/>
                <a:cs typeface="Times New Roman" panose="02020603050405020304" pitchFamily="18" charset="0"/>
              </a:rPr>
            </a:br>
            <a:r>
              <a:rPr lang="tr-TR" dirty="0">
                <a:latin typeface="Times New Roman" panose="02020603050405020304" pitchFamily="18" charset="0"/>
                <a:cs typeface="Times New Roman" panose="02020603050405020304" pitchFamily="18" charset="0"/>
              </a:rPr>
              <a:t>Ayol → </a:t>
            </a:r>
            <a:r>
              <a:rPr lang="tr-TR" b="1" dirty="0">
                <a:latin typeface="Times New Roman" panose="02020603050405020304" pitchFamily="18" charset="0"/>
                <a:cs typeface="Times New Roman" panose="02020603050405020304" pitchFamily="18" charset="0"/>
              </a:rPr>
              <a:t>[0, 1]</a:t>
            </a:r>
            <a:endParaRPr lang="tr-TR"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B8DC95C-5B4E-0414-AFD4-B4FCF884C59E}"/>
              </a:ext>
            </a:extLst>
          </p:cNvPr>
          <p:cNvSpPr txBox="1"/>
          <p:nvPr/>
        </p:nvSpPr>
        <p:spPr>
          <a:xfrm>
            <a:off x="1229008" y="4363042"/>
            <a:ext cx="6097508" cy="461665"/>
          </a:xfrm>
          <a:prstGeom prst="rect">
            <a:avLst/>
          </a:prstGeom>
          <a:noFill/>
        </p:spPr>
        <p:txBody>
          <a:bodyPr wrap="square">
            <a:spAutoFit/>
          </a:bodyPr>
          <a:lstStyle/>
          <a:p>
            <a:r>
              <a:rPr lang="en-US" sz="2400" dirty="0">
                <a:solidFill>
                  <a:srgbClr val="FFC000"/>
                </a:solidFill>
                <a:latin typeface="Times New Roman" panose="02020603050405020304" pitchFamily="18" charset="0"/>
                <a:cs typeface="Times New Roman" panose="02020603050405020304" pitchFamily="18" charset="0"/>
              </a:rPr>
              <a:t>3. </a:t>
            </a:r>
            <a:r>
              <a:rPr lang="tr-TR" sz="2400" dirty="0">
                <a:solidFill>
                  <a:srgbClr val="FFC000"/>
                </a:solidFill>
                <a:latin typeface="Times New Roman" panose="02020603050405020304" pitchFamily="18" charset="0"/>
                <a:cs typeface="Times New Roman" panose="02020603050405020304" pitchFamily="18" charset="0"/>
              </a:rPr>
              <a:t>Matn (Text) vektorlari</a:t>
            </a:r>
            <a:endParaRPr lang="ru-RU" sz="2400" dirty="0">
              <a:solidFill>
                <a:srgbClr val="FFC000"/>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F771753F-66E6-A9B5-3B39-67EB43F9EF84}"/>
              </a:ext>
            </a:extLst>
          </p:cNvPr>
          <p:cNvSpPr txBox="1"/>
          <p:nvPr/>
        </p:nvSpPr>
        <p:spPr>
          <a:xfrm>
            <a:off x="1583791" y="4824707"/>
            <a:ext cx="6097508" cy="646331"/>
          </a:xfrm>
          <a:prstGeom prst="rect">
            <a:avLst/>
          </a:prstGeom>
          <a:noFill/>
        </p:spPr>
        <p:txBody>
          <a:bodyPr wrap="square">
            <a:spAutoFit/>
          </a:bodyPr>
          <a:lstStyle/>
          <a:p>
            <a:r>
              <a:rPr lang="tr-TR" dirty="0">
                <a:latin typeface="Times New Roman" panose="02020603050405020304" pitchFamily="18" charset="0"/>
                <a:cs typeface="Times New Roman" panose="02020603050405020304" pitchFamily="18" charset="0"/>
              </a:rPr>
              <a:t>“Salom” →</a:t>
            </a:r>
            <a:br>
              <a:rPr lang="tr-TR"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[0.23, 0.91, -0.11, 0.55, ...]</a:t>
            </a:r>
            <a:r>
              <a:rPr lang="tr-TR" dirty="0">
                <a:latin typeface="Times New Roman" panose="02020603050405020304" pitchFamily="18" charset="0"/>
                <a:cs typeface="Times New Roman" panose="02020603050405020304" pitchFamily="18" charset="0"/>
              </a:rPr>
              <a:t> (768 ta o‘lchamli vektor)</a:t>
            </a:r>
            <a:endParaRPr lang="ru-RU"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D1D7B27-C323-C121-9A27-EF115FA50E44}"/>
              </a:ext>
            </a:extLst>
          </p:cNvPr>
          <p:cNvSpPr txBox="1"/>
          <p:nvPr/>
        </p:nvSpPr>
        <p:spPr>
          <a:xfrm>
            <a:off x="1229008" y="5503766"/>
            <a:ext cx="6097508" cy="461665"/>
          </a:xfrm>
          <a:prstGeom prst="rect">
            <a:avLst/>
          </a:prstGeom>
          <a:noFill/>
        </p:spPr>
        <p:txBody>
          <a:bodyPr wrap="square">
            <a:spAutoFit/>
          </a:bodyPr>
          <a:lstStyle/>
          <a:p>
            <a:r>
              <a:rPr lang="en-US" sz="2400" dirty="0">
                <a:solidFill>
                  <a:srgbClr val="FFC000"/>
                </a:solidFill>
                <a:latin typeface="Times New Roman" panose="02020603050405020304" pitchFamily="18" charset="0"/>
                <a:cs typeface="Times New Roman" panose="02020603050405020304" pitchFamily="18" charset="0"/>
              </a:rPr>
              <a:t>4. </a:t>
            </a:r>
            <a:r>
              <a:rPr lang="tr-TR" sz="2400" dirty="0">
                <a:solidFill>
                  <a:srgbClr val="FFC000"/>
                </a:solidFill>
                <a:latin typeface="Times New Roman" panose="02020603050405020304" pitchFamily="18" charset="0"/>
                <a:cs typeface="Times New Roman" panose="02020603050405020304" pitchFamily="18" charset="0"/>
              </a:rPr>
              <a:t>Rasm vektori</a:t>
            </a:r>
            <a:endParaRPr lang="ru-RU" sz="2400" dirty="0">
              <a:solidFill>
                <a:srgbClr val="FFC000"/>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6728EA60-402A-CEDF-E8D7-F0F59176C9B8}"/>
              </a:ext>
            </a:extLst>
          </p:cNvPr>
          <p:cNvSpPr txBox="1"/>
          <p:nvPr/>
        </p:nvSpPr>
        <p:spPr>
          <a:xfrm>
            <a:off x="1583791" y="5998159"/>
            <a:ext cx="6097508" cy="646331"/>
          </a:xfrm>
          <a:prstGeom prst="rect">
            <a:avLst/>
          </a:prstGeom>
          <a:noFill/>
        </p:spPr>
        <p:txBody>
          <a:bodyPr wrap="square">
            <a:spAutoFit/>
          </a:bodyPr>
          <a:lstStyle/>
          <a:p>
            <a:r>
              <a:rPr lang="tr-TR" dirty="0">
                <a:latin typeface="Times New Roman" panose="02020603050405020304" pitchFamily="18" charset="0"/>
                <a:cs typeface="Times New Roman" panose="02020603050405020304" pitchFamily="18" charset="0"/>
              </a:rPr>
              <a:t>32×32 o‘lchamdagi rasm:</a:t>
            </a:r>
            <a:br>
              <a:rPr lang="tr-TR"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1024 ta son</a:t>
            </a:r>
            <a:r>
              <a:rPr lang="tr-TR" dirty="0">
                <a:latin typeface="Times New Roman" panose="02020603050405020304" pitchFamily="18" charset="0"/>
                <a:cs typeface="Times New Roman" panose="02020603050405020304" pitchFamily="18" charset="0"/>
              </a:rPr>
              <a:t> → </a:t>
            </a:r>
            <a:r>
              <a:rPr lang="tr-TR" b="1" dirty="0">
                <a:latin typeface="Times New Roman" panose="02020603050405020304" pitchFamily="18" charset="0"/>
                <a:cs typeface="Times New Roman" panose="02020603050405020304" pitchFamily="18" charset="0"/>
              </a:rPr>
              <a:t>1024 o‘lchamli vektor</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6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F59434-B825-9C47-4565-9512E2DE674B}"/>
              </a:ext>
            </a:extLst>
          </p:cNvPr>
          <p:cNvSpPr txBox="1"/>
          <p:nvPr/>
        </p:nvSpPr>
        <p:spPr>
          <a:xfrm>
            <a:off x="839708" y="385703"/>
            <a:ext cx="6097508" cy="584775"/>
          </a:xfrm>
          <a:prstGeom prst="rect">
            <a:avLst/>
          </a:prstGeom>
          <a:noFill/>
        </p:spPr>
        <p:txBody>
          <a:bodyPr wrap="square">
            <a:spAutoFit/>
          </a:bodyPr>
          <a:lstStyle/>
          <a:p>
            <a:r>
              <a:rPr lang="en-US" sz="3200" b="1" dirty="0">
                <a:solidFill>
                  <a:srgbClr val="F0FCFF"/>
                </a:solidFill>
                <a:latin typeface="Times New Roman" panose="02020603050405020304" pitchFamily="18" charset="0"/>
                <a:ea typeface="Spline Sans Bold" pitchFamily="34" charset="-122"/>
                <a:cs typeface="Times New Roman" panose="02020603050405020304" pitchFamily="18" charset="0"/>
              </a:rPr>
              <a:t>MATRITSALAR</a:t>
            </a:r>
            <a:endParaRPr lang="ru-RU" sz="3200" dirty="0"/>
          </a:p>
        </p:txBody>
      </p:sp>
      <p:graphicFrame>
        <p:nvGraphicFramePr>
          <p:cNvPr id="5" name="Таблица 4">
            <a:extLst>
              <a:ext uri="{FF2B5EF4-FFF2-40B4-BE49-F238E27FC236}">
                <a16:creationId xmlns:a16="http://schemas.microsoft.com/office/drawing/2014/main" id="{D579316B-1810-C946-5293-E8D372150E5D}"/>
              </a:ext>
            </a:extLst>
          </p:cNvPr>
          <p:cNvGraphicFramePr>
            <a:graphicFrameLocks noGrp="1"/>
          </p:cNvGraphicFramePr>
          <p:nvPr>
            <p:extLst>
              <p:ext uri="{D42A27DB-BD31-4B8C-83A1-F6EECF244321}">
                <p14:modId xmlns:p14="http://schemas.microsoft.com/office/powerpoint/2010/main" val="4075952934"/>
              </p:ext>
            </p:extLst>
          </p:nvPr>
        </p:nvGraphicFramePr>
        <p:xfrm>
          <a:off x="8079715" y="2181018"/>
          <a:ext cx="2793498" cy="2495964"/>
        </p:xfrm>
        <a:graphic>
          <a:graphicData uri="http://schemas.openxmlformats.org/drawingml/2006/table">
            <a:tbl>
              <a:tblPr firstRow="1" bandRow="1">
                <a:tableStyleId>{5940675A-B579-460E-94D1-54222C63F5DA}</a:tableStyleId>
              </a:tblPr>
              <a:tblGrid>
                <a:gridCol w="931166">
                  <a:extLst>
                    <a:ext uri="{9D8B030D-6E8A-4147-A177-3AD203B41FA5}">
                      <a16:colId xmlns:a16="http://schemas.microsoft.com/office/drawing/2014/main" val="679167725"/>
                    </a:ext>
                  </a:extLst>
                </a:gridCol>
                <a:gridCol w="931166">
                  <a:extLst>
                    <a:ext uri="{9D8B030D-6E8A-4147-A177-3AD203B41FA5}">
                      <a16:colId xmlns:a16="http://schemas.microsoft.com/office/drawing/2014/main" val="2245690328"/>
                    </a:ext>
                  </a:extLst>
                </a:gridCol>
                <a:gridCol w="931166">
                  <a:extLst>
                    <a:ext uri="{9D8B030D-6E8A-4147-A177-3AD203B41FA5}">
                      <a16:colId xmlns:a16="http://schemas.microsoft.com/office/drawing/2014/main" val="836381935"/>
                    </a:ext>
                  </a:extLst>
                </a:gridCol>
              </a:tblGrid>
              <a:tr h="831988">
                <a:tc>
                  <a:txBody>
                    <a:bodyPr/>
                    <a:lstStyle/>
                    <a:p>
                      <a:pPr algn="ctr"/>
                      <a:r>
                        <a:rPr lang="en-US" sz="2400" dirty="0"/>
                        <a:t>20</a:t>
                      </a:r>
                      <a:endParaRPr lang="ru-RU" sz="2400" dirty="0"/>
                    </a:p>
                  </a:txBody>
                  <a:tcPr anchor="ctr"/>
                </a:tc>
                <a:tc>
                  <a:txBody>
                    <a:bodyPr/>
                    <a:lstStyle/>
                    <a:p>
                      <a:pPr algn="ctr"/>
                      <a:r>
                        <a:rPr lang="en-US" sz="2400" dirty="0"/>
                        <a:t>30</a:t>
                      </a:r>
                      <a:endParaRPr lang="ru-RU" sz="2400" dirty="0"/>
                    </a:p>
                  </a:txBody>
                  <a:tcPr anchor="ctr"/>
                </a:tc>
                <a:tc>
                  <a:txBody>
                    <a:bodyPr/>
                    <a:lstStyle/>
                    <a:p>
                      <a:pPr algn="ctr"/>
                      <a:r>
                        <a:rPr lang="en-US" sz="2400" dirty="0"/>
                        <a:t>40</a:t>
                      </a:r>
                      <a:endParaRPr lang="ru-RU" sz="2400" dirty="0"/>
                    </a:p>
                  </a:txBody>
                  <a:tcPr anchor="ctr"/>
                </a:tc>
                <a:extLst>
                  <a:ext uri="{0D108BD9-81ED-4DB2-BD59-A6C34878D82A}">
                    <a16:rowId xmlns:a16="http://schemas.microsoft.com/office/drawing/2014/main" val="1368967170"/>
                  </a:ext>
                </a:extLst>
              </a:tr>
              <a:tr h="831988">
                <a:tc>
                  <a:txBody>
                    <a:bodyPr/>
                    <a:lstStyle/>
                    <a:p>
                      <a:pPr algn="ctr"/>
                      <a:r>
                        <a:rPr lang="en-US" sz="2400" dirty="0"/>
                        <a:t>101</a:t>
                      </a:r>
                      <a:endParaRPr lang="ru-RU" sz="2400" dirty="0"/>
                    </a:p>
                  </a:txBody>
                  <a:tcPr anchor="ctr"/>
                </a:tc>
                <a:tc>
                  <a:txBody>
                    <a:bodyPr/>
                    <a:lstStyle/>
                    <a:p>
                      <a:pPr algn="ctr"/>
                      <a:r>
                        <a:rPr lang="en-US" sz="2400" dirty="0"/>
                        <a:t>100</a:t>
                      </a:r>
                      <a:endParaRPr lang="ru-RU" sz="2400" dirty="0"/>
                    </a:p>
                  </a:txBody>
                  <a:tcPr anchor="ctr"/>
                </a:tc>
                <a:tc>
                  <a:txBody>
                    <a:bodyPr/>
                    <a:lstStyle/>
                    <a:p>
                      <a:pPr algn="ctr"/>
                      <a:r>
                        <a:rPr lang="en-US" sz="2400" dirty="0"/>
                        <a:t>101</a:t>
                      </a:r>
                      <a:endParaRPr lang="ru-RU" sz="2400" dirty="0"/>
                    </a:p>
                  </a:txBody>
                  <a:tcPr anchor="ctr"/>
                </a:tc>
                <a:extLst>
                  <a:ext uri="{0D108BD9-81ED-4DB2-BD59-A6C34878D82A}">
                    <a16:rowId xmlns:a16="http://schemas.microsoft.com/office/drawing/2014/main" val="3066843070"/>
                  </a:ext>
                </a:extLst>
              </a:tr>
              <a:tr h="831988">
                <a:tc>
                  <a:txBody>
                    <a:bodyPr/>
                    <a:lstStyle/>
                    <a:p>
                      <a:pPr algn="ctr"/>
                      <a:r>
                        <a:rPr lang="en-US" sz="2400" dirty="0"/>
                        <a:t>280</a:t>
                      </a:r>
                      <a:endParaRPr lang="ru-RU" sz="2400" dirty="0"/>
                    </a:p>
                  </a:txBody>
                  <a:tcPr anchor="ctr"/>
                </a:tc>
                <a:tc>
                  <a:txBody>
                    <a:bodyPr/>
                    <a:lstStyle/>
                    <a:p>
                      <a:pPr algn="ctr"/>
                      <a:r>
                        <a:rPr lang="en-US" sz="2400" dirty="0"/>
                        <a:t>821</a:t>
                      </a:r>
                      <a:endParaRPr lang="ru-RU" sz="2400" dirty="0"/>
                    </a:p>
                  </a:txBody>
                  <a:tcPr anchor="ctr"/>
                </a:tc>
                <a:tc>
                  <a:txBody>
                    <a:bodyPr/>
                    <a:lstStyle/>
                    <a:p>
                      <a:pPr algn="ctr"/>
                      <a:r>
                        <a:rPr lang="en-US" sz="2400" dirty="0"/>
                        <a:t>365</a:t>
                      </a:r>
                      <a:endParaRPr lang="ru-RU" sz="2400" dirty="0"/>
                    </a:p>
                  </a:txBody>
                  <a:tcPr anchor="ctr"/>
                </a:tc>
                <a:extLst>
                  <a:ext uri="{0D108BD9-81ED-4DB2-BD59-A6C34878D82A}">
                    <a16:rowId xmlns:a16="http://schemas.microsoft.com/office/drawing/2014/main" val="923508411"/>
                  </a:ext>
                </a:extLst>
              </a:tr>
            </a:tbl>
          </a:graphicData>
        </a:graphic>
      </p:graphicFrame>
      <p:sp>
        <p:nvSpPr>
          <p:cNvPr id="7" name="TextBox 6">
            <a:extLst>
              <a:ext uri="{FF2B5EF4-FFF2-40B4-BE49-F238E27FC236}">
                <a16:creationId xmlns:a16="http://schemas.microsoft.com/office/drawing/2014/main" id="{4F2748D6-427C-722F-3EA6-8FDD9E210FAA}"/>
              </a:ext>
            </a:extLst>
          </p:cNvPr>
          <p:cNvSpPr txBox="1"/>
          <p:nvPr/>
        </p:nvSpPr>
        <p:spPr>
          <a:xfrm>
            <a:off x="839708" y="1263888"/>
            <a:ext cx="6097508" cy="830997"/>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Matritsa</a:t>
            </a:r>
            <a:r>
              <a:rPr lang="tr-TR" sz="2400" dirty="0">
                <a:solidFill>
                  <a:srgbClr val="FFC000"/>
                </a:solidFill>
                <a:latin typeface="Times New Roman" panose="02020603050405020304" pitchFamily="18" charset="0"/>
                <a:cs typeface="Times New Roman" panose="02020603050405020304" pitchFamily="18" charset="0"/>
              </a:rPr>
              <a:t> </a:t>
            </a:r>
            <a:r>
              <a:rPr lang="tr-TR" sz="2400" dirty="0">
                <a:latin typeface="Times New Roman" panose="02020603050405020304" pitchFamily="18" charset="0"/>
                <a:cs typeface="Times New Roman" panose="02020603050405020304" pitchFamily="18" charset="0"/>
              </a:rPr>
              <a:t>– bu sonlardan tashkil topgan jadval yoki 2D vektor.</a:t>
            </a:r>
            <a:endParaRPr lang="ru-RU" sz="2400" dirty="0">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id="{FC29A72B-1DFF-DCAF-5EBD-E82CF82C0353}"/>
              </a:ext>
            </a:extLst>
          </p:cNvPr>
          <p:cNvSpPr>
            <a:spLocks noChangeArrowheads="1"/>
          </p:cNvSpPr>
          <p:nvPr/>
        </p:nvSpPr>
        <p:spPr bwMode="auto">
          <a:xfrm>
            <a:off x="1521989" y="2388295"/>
            <a:ext cx="220124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400" dirty="0" err="1">
                <a:latin typeface="Times New Roman" panose="02020603050405020304" pitchFamily="18" charset="0"/>
                <a:cs typeface="Times New Roman" panose="02020603050405020304" pitchFamily="18" charset="0"/>
              </a:rPr>
              <a:t>Vektor</a:t>
            </a:r>
            <a:r>
              <a:rPr lang="ru-RU" altLang="ru-RU" sz="2400" dirty="0">
                <a:latin typeface="Times New Roman" panose="02020603050405020304" pitchFamily="18" charset="0"/>
                <a:cs typeface="Times New Roman" panose="02020603050405020304" pitchFamily="18" charset="0"/>
              </a:rPr>
              <a:t> = 1D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400" dirty="0" err="1">
                <a:latin typeface="Times New Roman" panose="02020603050405020304" pitchFamily="18" charset="0"/>
                <a:cs typeface="Times New Roman" panose="02020603050405020304" pitchFamily="18" charset="0"/>
              </a:rPr>
              <a:t>Matritsa</a:t>
            </a:r>
            <a:r>
              <a:rPr lang="ru-RU" altLang="ru-RU" sz="2400" dirty="0">
                <a:latin typeface="Times New Roman" panose="02020603050405020304" pitchFamily="18" charset="0"/>
                <a:cs typeface="Times New Roman" panose="02020603050405020304" pitchFamily="18" charset="0"/>
              </a:rPr>
              <a:t> = 2D</a:t>
            </a:r>
          </a:p>
        </p:txBody>
      </p:sp>
      <p:sp>
        <p:nvSpPr>
          <p:cNvPr id="10" name="TextBox 9">
            <a:extLst>
              <a:ext uri="{FF2B5EF4-FFF2-40B4-BE49-F238E27FC236}">
                <a16:creationId xmlns:a16="http://schemas.microsoft.com/office/drawing/2014/main" id="{62A7208D-1A6C-24DC-FC42-EC53EB28B94E}"/>
              </a:ext>
            </a:extLst>
          </p:cNvPr>
          <p:cNvSpPr txBox="1"/>
          <p:nvPr/>
        </p:nvSpPr>
        <p:spPr>
          <a:xfrm>
            <a:off x="839708" y="3835103"/>
            <a:ext cx="6097508" cy="830997"/>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Matritsa </a:t>
            </a:r>
            <a:r>
              <a:rPr lang="tr-TR" sz="2400" b="1" dirty="0">
                <a:latin typeface="Times New Roman" panose="02020603050405020304" pitchFamily="18" charset="0"/>
                <a:cs typeface="Times New Roman" panose="02020603050405020304" pitchFamily="18" charset="0"/>
              </a:rPr>
              <a:t>satrlardan </a:t>
            </a:r>
            <a:r>
              <a:rPr lang="tr-TR" sz="2400" b="1" dirty="0">
                <a:solidFill>
                  <a:srgbClr val="FFC000"/>
                </a:solidFill>
                <a:latin typeface="Times New Roman" panose="02020603050405020304" pitchFamily="18" charset="0"/>
                <a:cs typeface="Times New Roman" panose="02020603050405020304" pitchFamily="18" charset="0"/>
              </a:rPr>
              <a:t>(rows) </a:t>
            </a:r>
            <a:r>
              <a:rPr lang="tr-TR" sz="2400" b="1" dirty="0">
                <a:latin typeface="Times New Roman" panose="02020603050405020304" pitchFamily="18" charset="0"/>
                <a:cs typeface="Times New Roman" panose="02020603050405020304" pitchFamily="18" charset="0"/>
              </a:rPr>
              <a:t>va ustunlardan </a:t>
            </a:r>
            <a:r>
              <a:rPr lang="tr-TR" sz="2400" b="1" dirty="0">
                <a:solidFill>
                  <a:srgbClr val="FFC000"/>
                </a:solidFill>
                <a:latin typeface="Times New Roman" panose="02020603050405020304" pitchFamily="18" charset="0"/>
                <a:cs typeface="Times New Roman" panose="02020603050405020304" pitchFamily="18" charset="0"/>
              </a:rPr>
              <a:t>(columns)</a:t>
            </a:r>
            <a:r>
              <a:rPr lang="tr-TR" sz="2400" dirty="0">
                <a:solidFill>
                  <a:srgbClr val="FFC000"/>
                </a:solidFill>
                <a:latin typeface="Times New Roman" panose="02020603050405020304" pitchFamily="18" charset="0"/>
                <a:cs typeface="Times New Roman" panose="02020603050405020304" pitchFamily="18" charset="0"/>
              </a:rPr>
              <a:t> </a:t>
            </a:r>
            <a:r>
              <a:rPr lang="tr-TR" sz="2400" dirty="0">
                <a:latin typeface="Times New Roman" panose="02020603050405020304" pitchFamily="18" charset="0"/>
                <a:cs typeface="Times New Roman" panose="02020603050405020304" pitchFamily="18" charset="0"/>
              </a:rPr>
              <a:t>iborat.</a:t>
            </a:r>
            <a:endParaRPr lang="ru-RU" sz="2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4A006D5-C37E-7B2F-1933-BDF5EC10DB54}"/>
              </a:ext>
            </a:extLst>
          </p:cNvPr>
          <p:cNvSpPr txBox="1"/>
          <p:nvPr/>
        </p:nvSpPr>
        <p:spPr>
          <a:xfrm>
            <a:off x="8897293" y="1633220"/>
            <a:ext cx="1763664"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columns</a:t>
            </a:r>
            <a:endParaRPr lang="ru-RU" sz="2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571267B-A45F-CE4D-743D-1C742B46043E}"/>
              </a:ext>
            </a:extLst>
          </p:cNvPr>
          <p:cNvSpPr txBox="1"/>
          <p:nvPr/>
        </p:nvSpPr>
        <p:spPr>
          <a:xfrm rot="16200000">
            <a:off x="6976826" y="3045391"/>
            <a:ext cx="1337649"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rows</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6830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FDFCD0-B1B6-454A-1305-1C41522BAE0E}"/>
              </a:ext>
            </a:extLst>
          </p:cNvPr>
          <p:cNvSpPr txBox="1"/>
          <p:nvPr/>
        </p:nvSpPr>
        <p:spPr>
          <a:xfrm>
            <a:off x="740120" y="385703"/>
            <a:ext cx="6097508" cy="584775"/>
          </a:xfrm>
          <a:prstGeom prst="rect">
            <a:avLst/>
          </a:prstGeom>
          <a:noFill/>
        </p:spPr>
        <p:txBody>
          <a:bodyPr wrap="square">
            <a:spAutoFit/>
          </a:bodyPr>
          <a:lstStyle/>
          <a:p>
            <a:r>
              <a:rPr lang="en-US" sz="3200" b="1" dirty="0">
                <a:solidFill>
                  <a:srgbClr val="F0FCFF"/>
                </a:solidFill>
                <a:latin typeface="Times New Roman" panose="02020603050405020304" pitchFamily="18" charset="0"/>
                <a:ea typeface="Spline Sans Bold" pitchFamily="34" charset="-122"/>
                <a:cs typeface="Times New Roman" panose="02020603050405020304" pitchFamily="18" charset="0"/>
              </a:rPr>
              <a:t>MATRITSALAR</a:t>
            </a:r>
            <a:endParaRPr lang="ru-RU" sz="3200" dirty="0"/>
          </a:p>
        </p:txBody>
      </p:sp>
      <p:graphicFrame>
        <p:nvGraphicFramePr>
          <p:cNvPr id="3" name="Таблица 2">
            <a:extLst>
              <a:ext uri="{FF2B5EF4-FFF2-40B4-BE49-F238E27FC236}">
                <a16:creationId xmlns:a16="http://schemas.microsoft.com/office/drawing/2014/main" id="{AD4EB6E2-1A59-48C7-AC03-742B451CD69E}"/>
              </a:ext>
            </a:extLst>
          </p:cNvPr>
          <p:cNvGraphicFramePr>
            <a:graphicFrameLocks noGrp="1"/>
          </p:cNvGraphicFramePr>
          <p:nvPr>
            <p:extLst>
              <p:ext uri="{D42A27DB-BD31-4B8C-83A1-F6EECF244321}">
                <p14:modId xmlns:p14="http://schemas.microsoft.com/office/powerpoint/2010/main" val="874494076"/>
              </p:ext>
            </p:extLst>
          </p:nvPr>
        </p:nvGraphicFramePr>
        <p:xfrm>
          <a:off x="839708" y="2219569"/>
          <a:ext cx="6097508" cy="3574648"/>
        </p:xfrm>
        <a:graphic>
          <a:graphicData uri="http://schemas.openxmlformats.org/drawingml/2006/table">
            <a:tbl>
              <a:tblPr>
                <a:tableStyleId>{616DA210-FB5B-4158-B5E0-FEB733F419BA}</a:tableStyleId>
              </a:tblPr>
              <a:tblGrid>
                <a:gridCol w="1524377">
                  <a:extLst>
                    <a:ext uri="{9D8B030D-6E8A-4147-A177-3AD203B41FA5}">
                      <a16:colId xmlns:a16="http://schemas.microsoft.com/office/drawing/2014/main" val="2254998797"/>
                    </a:ext>
                  </a:extLst>
                </a:gridCol>
                <a:gridCol w="1524377">
                  <a:extLst>
                    <a:ext uri="{9D8B030D-6E8A-4147-A177-3AD203B41FA5}">
                      <a16:colId xmlns:a16="http://schemas.microsoft.com/office/drawing/2014/main" val="2920128638"/>
                    </a:ext>
                  </a:extLst>
                </a:gridCol>
                <a:gridCol w="1524377">
                  <a:extLst>
                    <a:ext uri="{9D8B030D-6E8A-4147-A177-3AD203B41FA5}">
                      <a16:colId xmlns:a16="http://schemas.microsoft.com/office/drawing/2014/main" val="555262630"/>
                    </a:ext>
                  </a:extLst>
                </a:gridCol>
                <a:gridCol w="1524377">
                  <a:extLst>
                    <a:ext uri="{9D8B030D-6E8A-4147-A177-3AD203B41FA5}">
                      <a16:colId xmlns:a16="http://schemas.microsoft.com/office/drawing/2014/main" val="4157533816"/>
                    </a:ext>
                  </a:extLst>
                </a:gridCol>
              </a:tblGrid>
              <a:tr h="893662">
                <a:tc>
                  <a:txBody>
                    <a:bodyPr/>
                    <a:lstStyle/>
                    <a:p>
                      <a:pPr>
                        <a:buNone/>
                      </a:pPr>
                      <a:r>
                        <a:rPr lang="tr-TR">
                          <a:latin typeface="Times New Roman" panose="02020603050405020304" pitchFamily="18" charset="0"/>
                          <a:cs typeface="Times New Roman" panose="02020603050405020304" pitchFamily="18" charset="0"/>
                        </a:rPr>
                        <a:t>Ism</a:t>
                      </a:r>
                    </a:p>
                  </a:txBody>
                  <a:tcPr anchor="ctr">
                    <a:solidFill>
                      <a:schemeClr val="tx2">
                        <a:lumMod val="25000"/>
                      </a:schemeClr>
                    </a:solidFill>
                  </a:tcPr>
                </a:tc>
                <a:tc>
                  <a:txBody>
                    <a:bodyPr/>
                    <a:lstStyle/>
                    <a:p>
                      <a:pPr>
                        <a:buNone/>
                      </a:pPr>
                      <a:r>
                        <a:rPr lang="tr-TR">
                          <a:latin typeface="Times New Roman" panose="02020603050405020304" pitchFamily="18" charset="0"/>
                          <a:cs typeface="Times New Roman" panose="02020603050405020304" pitchFamily="18" charset="0"/>
                        </a:rPr>
                        <a:t>Matematika</a:t>
                      </a:r>
                    </a:p>
                  </a:txBody>
                  <a:tcPr anchor="ctr">
                    <a:solidFill>
                      <a:schemeClr val="tx2">
                        <a:lumMod val="25000"/>
                      </a:schemeClr>
                    </a:solidFill>
                  </a:tcPr>
                </a:tc>
                <a:tc>
                  <a:txBody>
                    <a:bodyPr/>
                    <a:lstStyle/>
                    <a:p>
                      <a:pPr>
                        <a:buNone/>
                      </a:pPr>
                      <a:r>
                        <a:rPr lang="tr-TR" dirty="0">
                          <a:latin typeface="Times New Roman" panose="02020603050405020304" pitchFamily="18" charset="0"/>
                          <a:cs typeface="Times New Roman" panose="02020603050405020304" pitchFamily="18" charset="0"/>
                        </a:rPr>
                        <a:t>Fizika</a:t>
                      </a:r>
                    </a:p>
                  </a:txBody>
                  <a:tcPr anchor="ctr">
                    <a:solidFill>
                      <a:schemeClr val="tx2">
                        <a:lumMod val="25000"/>
                      </a:schemeClr>
                    </a:solidFill>
                  </a:tcPr>
                </a:tc>
                <a:tc>
                  <a:txBody>
                    <a:bodyPr/>
                    <a:lstStyle/>
                    <a:p>
                      <a:pPr>
                        <a:buNone/>
                      </a:pPr>
                      <a:r>
                        <a:rPr lang="tr-TR" dirty="0">
                          <a:latin typeface="Times New Roman" panose="02020603050405020304" pitchFamily="18" charset="0"/>
                          <a:cs typeface="Times New Roman" panose="02020603050405020304" pitchFamily="18" charset="0"/>
                        </a:rPr>
                        <a:t>Ingliz tili</a:t>
                      </a:r>
                    </a:p>
                  </a:txBody>
                  <a:tcPr anchor="ctr">
                    <a:solidFill>
                      <a:schemeClr val="tx2">
                        <a:lumMod val="25000"/>
                      </a:schemeClr>
                    </a:solidFill>
                  </a:tcPr>
                </a:tc>
                <a:extLst>
                  <a:ext uri="{0D108BD9-81ED-4DB2-BD59-A6C34878D82A}">
                    <a16:rowId xmlns:a16="http://schemas.microsoft.com/office/drawing/2014/main" val="1658785064"/>
                  </a:ext>
                </a:extLst>
              </a:tr>
              <a:tr h="893662">
                <a:tc>
                  <a:txBody>
                    <a:bodyPr/>
                    <a:lstStyle/>
                    <a:p>
                      <a:pPr>
                        <a:buNone/>
                      </a:pPr>
                      <a:r>
                        <a:rPr lang="tr-TR">
                          <a:latin typeface="Times New Roman" panose="02020603050405020304" pitchFamily="18" charset="0"/>
                          <a:cs typeface="Times New Roman" panose="02020603050405020304" pitchFamily="18" charset="0"/>
                        </a:rPr>
                        <a:t>Ali</a:t>
                      </a:r>
                    </a:p>
                  </a:txBody>
                  <a:tcPr anchor="ctr"/>
                </a:tc>
                <a:tc>
                  <a:txBody>
                    <a:bodyPr/>
                    <a:lstStyle/>
                    <a:p>
                      <a:pPr>
                        <a:buNone/>
                      </a:pPr>
                      <a:r>
                        <a:rPr lang="ru-RU">
                          <a:latin typeface="Times New Roman" panose="02020603050405020304" pitchFamily="18" charset="0"/>
                          <a:cs typeface="Times New Roman" panose="02020603050405020304" pitchFamily="18" charset="0"/>
                        </a:rPr>
                        <a:t>90</a:t>
                      </a:r>
                    </a:p>
                  </a:txBody>
                  <a:tcPr anchor="ctr"/>
                </a:tc>
                <a:tc>
                  <a:txBody>
                    <a:bodyPr/>
                    <a:lstStyle/>
                    <a:p>
                      <a:pPr>
                        <a:buNone/>
                      </a:pPr>
                      <a:r>
                        <a:rPr lang="ru-RU">
                          <a:latin typeface="Times New Roman" panose="02020603050405020304" pitchFamily="18" charset="0"/>
                          <a:cs typeface="Times New Roman" panose="02020603050405020304" pitchFamily="18" charset="0"/>
                        </a:rPr>
                        <a:t>85</a:t>
                      </a:r>
                    </a:p>
                  </a:txBody>
                  <a:tcPr anchor="ctr"/>
                </a:tc>
                <a:tc>
                  <a:txBody>
                    <a:bodyPr/>
                    <a:lstStyle/>
                    <a:p>
                      <a:pPr>
                        <a:buNone/>
                      </a:pPr>
                      <a:r>
                        <a:rPr lang="ru-RU" dirty="0">
                          <a:latin typeface="Times New Roman" panose="02020603050405020304" pitchFamily="18" charset="0"/>
                          <a:cs typeface="Times New Roman" panose="02020603050405020304" pitchFamily="18" charset="0"/>
                        </a:rPr>
                        <a:t>80</a:t>
                      </a:r>
                    </a:p>
                  </a:txBody>
                  <a:tcPr anchor="ctr"/>
                </a:tc>
                <a:extLst>
                  <a:ext uri="{0D108BD9-81ED-4DB2-BD59-A6C34878D82A}">
                    <a16:rowId xmlns:a16="http://schemas.microsoft.com/office/drawing/2014/main" val="931323018"/>
                  </a:ext>
                </a:extLst>
              </a:tr>
              <a:tr h="893662">
                <a:tc>
                  <a:txBody>
                    <a:bodyPr/>
                    <a:lstStyle/>
                    <a:p>
                      <a:pPr>
                        <a:buNone/>
                      </a:pPr>
                      <a:r>
                        <a:rPr lang="tr-TR">
                          <a:latin typeface="Times New Roman" panose="02020603050405020304" pitchFamily="18" charset="0"/>
                          <a:cs typeface="Times New Roman" panose="02020603050405020304" pitchFamily="18" charset="0"/>
                        </a:rPr>
                        <a:t>Valijon</a:t>
                      </a:r>
                    </a:p>
                  </a:txBody>
                  <a:tcPr anchor="ctr"/>
                </a:tc>
                <a:tc>
                  <a:txBody>
                    <a:bodyPr/>
                    <a:lstStyle/>
                    <a:p>
                      <a:pPr>
                        <a:buNone/>
                      </a:pPr>
                      <a:r>
                        <a:rPr lang="ru-RU">
                          <a:latin typeface="Times New Roman" panose="02020603050405020304" pitchFamily="18" charset="0"/>
                          <a:cs typeface="Times New Roman" panose="02020603050405020304" pitchFamily="18" charset="0"/>
                        </a:rPr>
                        <a:t>70</a:t>
                      </a:r>
                    </a:p>
                  </a:txBody>
                  <a:tcPr anchor="ctr"/>
                </a:tc>
                <a:tc>
                  <a:txBody>
                    <a:bodyPr/>
                    <a:lstStyle/>
                    <a:p>
                      <a:pPr>
                        <a:buNone/>
                      </a:pPr>
                      <a:r>
                        <a:rPr lang="ru-RU">
                          <a:latin typeface="Times New Roman" panose="02020603050405020304" pitchFamily="18" charset="0"/>
                          <a:cs typeface="Times New Roman" panose="02020603050405020304" pitchFamily="18" charset="0"/>
                        </a:rPr>
                        <a:t>75</a:t>
                      </a:r>
                    </a:p>
                  </a:txBody>
                  <a:tcPr anchor="ctr"/>
                </a:tc>
                <a:tc>
                  <a:txBody>
                    <a:bodyPr/>
                    <a:lstStyle/>
                    <a:p>
                      <a:pPr>
                        <a:buNone/>
                      </a:pPr>
                      <a:r>
                        <a:rPr lang="ru-RU">
                          <a:latin typeface="Times New Roman" panose="02020603050405020304" pitchFamily="18" charset="0"/>
                          <a:cs typeface="Times New Roman" panose="02020603050405020304" pitchFamily="18" charset="0"/>
                        </a:rPr>
                        <a:t>88</a:t>
                      </a:r>
                    </a:p>
                  </a:txBody>
                  <a:tcPr anchor="ctr"/>
                </a:tc>
                <a:extLst>
                  <a:ext uri="{0D108BD9-81ED-4DB2-BD59-A6C34878D82A}">
                    <a16:rowId xmlns:a16="http://schemas.microsoft.com/office/drawing/2014/main" val="1923240857"/>
                  </a:ext>
                </a:extLst>
              </a:tr>
              <a:tr h="893662">
                <a:tc>
                  <a:txBody>
                    <a:bodyPr/>
                    <a:lstStyle/>
                    <a:p>
                      <a:pPr>
                        <a:buNone/>
                      </a:pPr>
                      <a:r>
                        <a:rPr lang="tr-TR">
                          <a:latin typeface="Times New Roman" panose="02020603050405020304" pitchFamily="18" charset="0"/>
                          <a:cs typeface="Times New Roman" panose="02020603050405020304" pitchFamily="18" charset="0"/>
                        </a:rPr>
                        <a:t>Gulnoza</a:t>
                      </a:r>
                    </a:p>
                  </a:txBody>
                  <a:tcPr anchor="ctr"/>
                </a:tc>
                <a:tc>
                  <a:txBody>
                    <a:bodyPr/>
                    <a:lstStyle/>
                    <a:p>
                      <a:pPr>
                        <a:buNone/>
                      </a:pPr>
                      <a:r>
                        <a:rPr lang="ru-RU">
                          <a:latin typeface="Times New Roman" panose="02020603050405020304" pitchFamily="18" charset="0"/>
                          <a:cs typeface="Times New Roman" panose="02020603050405020304" pitchFamily="18" charset="0"/>
                        </a:rPr>
                        <a:t>95</a:t>
                      </a:r>
                    </a:p>
                  </a:txBody>
                  <a:tcPr anchor="ctr"/>
                </a:tc>
                <a:tc>
                  <a:txBody>
                    <a:bodyPr/>
                    <a:lstStyle/>
                    <a:p>
                      <a:pPr>
                        <a:buNone/>
                      </a:pPr>
                      <a:r>
                        <a:rPr lang="ru-RU">
                          <a:latin typeface="Times New Roman" panose="02020603050405020304" pitchFamily="18" charset="0"/>
                          <a:cs typeface="Times New Roman" panose="02020603050405020304" pitchFamily="18" charset="0"/>
                        </a:rPr>
                        <a:t>90</a:t>
                      </a:r>
                    </a:p>
                  </a:txBody>
                  <a:tcPr anchor="ctr"/>
                </a:tc>
                <a:tc>
                  <a:txBody>
                    <a:bodyPr/>
                    <a:lstStyle/>
                    <a:p>
                      <a:pPr>
                        <a:buNone/>
                      </a:pPr>
                      <a:r>
                        <a:rPr lang="ru-RU" dirty="0">
                          <a:latin typeface="Times New Roman" panose="02020603050405020304" pitchFamily="18" charset="0"/>
                          <a:cs typeface="Times New Roman" panose="02020603050405020304" pitchFamily="18" charset="0"/>
                        </a:rPr>
                        <a:t>92</a:t>
                      </a:r>
                    </a:p>
                  </a:txBody>
                  <a:tcPr anchor="ctr"/>
                </a:tc>
                <a:extLst>
                  <a:ext uri="{0D108BD9-81ED-4DB2-BD59-A6C34878D82A}">
                    <a16:rowId xmlns:a16="http://schemas.microsoft.com/office/drawing/2014/main" val="2853705221"/>
                  </a:ext>
                </a:extLst>
              </a:tr>
            </a:tbl>
          </a:graphicData>
        </a:graphic>
      </p:graphicFrame>
      <p:sp>
        <p:nvSpPr>
          <p:cNvPr id="4" name="TextBox 3">
            <a:extLst>
              <a:ext uri="{FF2B5EF4-FFF2-40B4-BE49-F238E27FC236}">
                <a16:creationId xmlns:a16="http://schemas.microsoft.com/office/drawing/2014/main" id="{33B65697-D08D-1FE9-11C3-704C36D6866D}"/>
              </a:ext>
            </a:extLst>
          </p:cNvPr>
          <p:cNvSpPr txBox="1"/>
          <p:nvPr/>
        </p:nvSpPr>
        <p:spPr>
          <a:xfrm>
            <a:off x="740120" y="1549787"/>
            <a:ext cx="4356981" cy="461665"/>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Misol:</a:t>
            </a:r>
            <a:r>
              <a:rPr lang="en-US" sz="2400" dirty="0">
                <a:latin typeface="Times New Roman" panose="02020603050405020304" pitchFamily="18" charset="0"/>
                <a:cs typeface="Times New Roman" panose="02020603050405020304" pitchFamily="18" charset="0"/>
              </a:rPr>
              <a:t> </a:t>
            </a:r>
            <a:r>
              <a:rPr lang="tr-TR" sz="2400" dirty="0">
                <a:latin typeface="Times New Roman" panose="02020603050405020304" pitchFamily="18" charset="0"/>
                <a:cs typeface="Times New Roman" panose="02020603050405020304" pitchFamily="18" charset="0"/>
              </a:rPr>
              <a:t>Talabalar baholari jadvali:</a:t>
            </a:r>
            <a:endParaRPr lang="ru-RU"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2A9290C-1D45-2A8D-60F5-2ABF4EC6C895}"/>
              </a:ext>
            </a:extLst>
          </p:cNvPr>
          <p:cNvSpPr txBox="1"/>
          <p:nvPr/>
        </p:nvSpPr>
        <p:spPr>
          <a:xfrm>
            <a:off x="7014173" y="2219569"/>
            <a:ext cx="5035990" cy="400110"/>
          </a:xfrm>
          <a:prstGeom prst="rect">
            <a:avLst/>
          </a:prstGeom>
          <a:noFill/>
        </p:spPr>
        <p:txBody>
          <a:bodyPr wrap="square">
            <a:spAutoFit/>
          </a:bodyPr>
          <a:lstStyle/>
          <a:p>
            <a:r>
              <a:rPr lang="tr-TR" sz="2000" dirty="0">
                <a:latin typeface="Times New Roman" panose="02020603050405020304" pitchFamily="18" charset="0"/>
                <a:cs typeface="Times New Roman" panose="02020603050405020304" pitchFamily="18" charset="0"/>
              </a:rPr>
              <a:t>Bu jadval → </a:t>
            </a:r>
            <a:r>
              <a:rPr lang="tr-TR" sz="2000" b="1" dirty="0">
                <a:latin typeface="Times New Roman" panose="02020603050405020304" pitchFamily="18" charset="0"/>
                <a:cs typeface="Times New Roman" panose="02020603050405020304" pitchFamily="18" charset="0"/>
              </a:rPr>
              <a:t>matritsa</a:t>
            </a:r>
            <a:r>
              <a:rPr lang="tr-TR" sz="2000" dirty="0">
                <a:latin typeface="Times New Roman" panose="02020603050405020304" pitchFamily="18" charset="0"/>
                <a:cs typeface="Times New Roman" panose="02020603050405020304" pitchFamily="18" charset="0"/>
              </a:rPr>
              <a:t> sifatida ifodala</a:t>
            </a:r>
            <a:r>
              <a:rPr lang="en-US" sz="2000" dirty="0" err="1">
                <a:latin typeface="Times New Roman" panose="02020603050405020304" pitchFamily="18" charset="0"/>
                <a:cs typeface="Times New Roman" panose="02020603050405020304" pitchFamily="18" charset="0"/>
              </a:rPr>
              <a:t>sh</a:t>
            </a:r>
            <a:r>
              <a:rPr lang="en-US" sz="2000" dirty="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D221416-E152-DE76-06F2-45E59A9E443A}"/>
              </a:ext>
            </a:extLst>
          </p:cNvPr>
          <p:cNvSpPr txBox="1"/>
          <p:nvPr/>
        </p:nvSpPr>
        <p:spPr>
          <a:xfrm>
            <a:off x="8073428" y="2827796"/>
            <a:ext cx="2917479" cy="1938992"/>
          </a:xfrm>
          <a:prstGeom prst="rect">
            <a:avLst/>
          </a:prstGeom>
          <a:noFill/>
          <a:ln>
            <a:solidFill>
              <a:schemeClr val="tx1"/>
            </a:solidFill>
          </a:ln>
        </p:spPr>
        <p:txBody>
          <a:bodyPr wrap="square">
            <a:spAutoFit/>
          </a:bodyPr>
          <a:lstStyle/>
          <a:p>
            <a:r>
              <a:rPr lang="ru-RU" sz="2400" dirty="0">
                <a:latin typeface="Times New Roman" panose="02020603050405020304" pitchFamily="18" charset="0"/>
                <a:cs typeface="Times New Roman" panose="02020603050405020304" pitchFamily="18" charset="0"/>
              </a:rPr>
              <a:t>[</a:t>
            </a:r>
          </a:p>
          <a:p>
            <a:r>
              <a:rPr lang="ru-RU" sz="2400" dirty="0">
                <a:latin typeface="Times New Roman" panose="02020603050405020304" pitchFamily="18" charset="0"/>
                <a:cs typeface="Times New Roman" panose="02020603050405020304" pitchFamily="18" charset="0"/>
              </a:rPr>
              <a:t> [90, 85, 80],</a:t>
            </a:r>
          </a:p>
          <a:p>
            <a:r>
              <a:rPr lang="ru-RU" sz="2400" dirty="0">
                <a:latin typeface="Times New Roman" panose="02020603050405020304" pitchFamily="18" charset="0"/>
                <a:cs typeface="Times New Roman" panose="02020603050405020304" pitchFamily="18" charset="0"/>
              </a:rPr>
              <a:t> [70, 75, 88],</a:t>
            </a:r>
          </a:p>
          <a:p>
            <a:r>
              <a:rPr lang="ru-RU" sz="2400" dirty="0">
                <a:latin typeface="Times New Roman" panose="02020603050405020304" pitchFamily="18" charset="0"/>
                <a:cs typeface="Times New Roman" panose="02020603050405020304" pitchFamily="18" charset="0"/>
              </a:rPr>
              <a:t> [95, 90, 92]</a:t>
            </a:r>
          </a:p>
          <a:p>
            <a:r>
              <a:rPr lang="ru-RU" sz="2400" dirty="0">
                <a:latin typeface="Times New Roman" panose="02020603050405020304" pitchFamily="18" charset="0"/>
                <a:cs typeface="Times New Roman" panose="02020603050405020304" pitchFamily="18" charset="0"/>
              </a:rPr>
              <a:t>]</a:t>
            </a:r>
          </a:p>
        </p:txBody>
      </p:sp>
      <p:sp>
        <p:nvSpPr>
          <p:cNvPr id="9" name="Rectangle 1">
            <a:extLst>
              <a:ext uri="{FF2B5EF4-FFF2-40B4-BE49-F238E27FC236}">
                <a16:creationId xmlns:a16="http://schemas.microsoft.com/office/drawing/2014/main" id="{C02A991A-A362-253D-541E-B8625ACA0860}"/>
              </a:ext>
            </a:extLst>
          </p:cNvPr>
          <p:cNvSpPr>
            <a:spLocks noChangeArrowheads="1"/>
          </p:cNvSpPr>
          <p:nvPr/>
        </p:nvSpPr>
        <p:spPr bwMode="auto">
          <a:xfrm>
            <a:off x="7020963" y="5034934"/>
            <a:ext cx="526932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dirty="0" err="1">
                <a:latin typeface="Times New Roman" panose="02020603050405020304" pitchFamily="18" charset="0"/>
                <a:cs typeface="Times New Roman" panose="02020603050405020304" pitchFamily="18" charset="0"/>
              </a:rPr>
              <a:t>Har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bir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satir</a:t>
            </a:r>
            <a:r>
              <a:rPr lang="ru-RU" altLang="ru-RU" sz="2000" dirty="0">
                <a:latin typeface="Times New Roman" panose="02020603050405020304" pitchFamily="18" charset="0"/>
                <a:cs typeface="Times New Roman" panose="02020603050405020304" pitchFamily="18" charset="0"/>
              </a:rPr>
              <a:t> → </a:t>
            </a:r>
            <a:r>
              <a:rPr lang="ru-RU" altLang="ru-RU" sz="2000" dirty="0" err="1">
                <a:latin typeface="Times New Roman" panose="02020603050405020304" pitchFamily="18" charset="0"/>
                <a:cs typeface="Times New Roman" panose="02020603050405020304" pitchFamily="18" charset="0"/>
              </a:rPr>
              <a:t>bitta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talabaning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vektori</a:t>
            </a:r>
            <a:endParaRPr lang="ru-RU" altLang="ru-RU" sz="2000"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dirty="0" err="1">
                <a:latin typeface="Times New Roman" panose="02020603050405020304" pitchFamily="18" charset="0"/>
                <a:cs typeface="Times New Roman" panose="02020603050405020304" pitchFamily="18" charset="0"/>
              </a:rPr>
              <a:t>Har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bir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ustun</a:t>
            </a:r>
            <a:r>
              <a:rPr lang="ru-RU" altLang="ru-RU" sz="2000" dirty="0">
                <a:latin typeface="Times New Roman" panose="02020603050405020304" pitchFamily="18" charset="0"/>
                <a:cs typeface="Times New Roman" panose="02020603050405020304" pitchFamily="18" charset="0"/>
              </a:rPr>
              <a:t> → </a:t>
            </a:r>
            <a:r>
              <a:rPr lang="ru-RU" altLang="ru-RU" sz="2000" dirty="0" err="1">
                <a:latin typeface="Times New Roman" panose="02020603050405020304" pitchFamily="18" charset="0"/>
                <a:cs typeface="Times New Roman" panose="02020603050405020304" pitchFamily="18" charset="0"/>
              </a:rPr>
              <a:t>bitta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fan</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bo‘yicha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barcha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talabalarning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ma’lumotlari</a:t>
            </a:r>
            <a:endParaRPr lang="ru-RU" alt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292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681DC9-66AD-CD4C-BD76-1882B057E88F}"/>
              </a:ext>
            </a:extLst>
          </p:cNvPr>
          <p:cNvSpPr txBox="1"/>
          <p:nvPr/>
        </p:nvSpPr>
        <p:spPr>
          <a:xfrm>
            <a:off x="722013" y="349489"/>
            <a:ext cx="6097508" cy="584775"/>
          </a:xfrm>
          <a:prstGeom prst="rect">
            <a:avLst/>
          </a:prstGeom>
          <a:noFill/>
        </p:spPr>
        <p:txBody>
          <a:bodyPr wrap="square">
            <a:spAutoFit/>
          </a:bodyPr>
          <a:lstStyle/>
          <a:p>
            <a:r>
              <a:rPr lang="en-US" sz="3200" b="1" dirty="0">
                <a:solidFill>
                  <a:srgbClr val="F0FCFF"/>
                </a:solidFill>
                <a:latin typeface="Times New Roman" panose="02020603050405020304" pitchFamily="18" charset="0"/>
                <a:ea typeface="Spline Sans Bold" pitchFamily="34" charset="-122"/>
                <a:cs typeface="Times New Roman" panose="02020603050405020304" pitchFamily="18" charset="0"/>
              </a:rPr>
              <a:t>MATRITSALAR</a:t>
            </a:r>
            <a:endParaRPr lang="ru-RU" sz="3200" dirty="0"/>
          </a:p>
        </p:txBody>
      </p:sp>
      <p:sp>
        <p:nvSpPr>
          <p:cNvPr id="4" name="TextBox 3">
            <a:extLst>
              <a:ext uri="{FF2B5EF4-FFF2-40B4-BE49-F238E27FC236}">
                <a16:creationId xmlns:a16="http://schemas.microsoft.com/office/drawing/2014/main" id="{8CE5559F-754E-5F8F-390A-D02C6A6888EF}"/>
              </a:ext>
            </a:extLst>
          </p:cNvPr>
          <p:cNvSpPr txBox="1"/>
          <p:nvPr/>
        </p:nvSpPr>
        <p:spPr>
          <a:xfrm>
            <a:off x="722013" y="1055659"/>
            <a:ext cx="6097508" cy="461665"/>
          </a:xfrm>
          <a:prstGeom prst="rect">
            <a:avLst/>
          </a:prstGeom>
          <a:noFill/>
        </p:spPr>
        <p:txBody>
          <a:bodyPr wrap="square">
            <a:spAutoFit/>
          </a:bodyPr>
          <a:lstStyle/>
          <a:p>
            <a:r>
              <a:rPr lang="pt-BR" sz="2400" dirty="0">
                <a:latin typeface="Times New Roman" panose="02020603050405020304" pitchFamily="18" charset="0"/>
                <a:cs typeface="Times New Roman" panose="02020603050405020304" pitchFamily="18" charset="0"/>
              </a:rPr>
              <a:t>Nega Data Science da matritsalar muhim?</a:t>
            </a:r>
            <a:endParaRPr lang="ru-RU"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24A55F5-5119-3A2F-248A-404FE34750D9}"/>
              </a:ext>
            </a:extLst>
          </p:cNvPr>
          <p:cNvSpPr txBox="1"/>
          <p:nvPr/>
        </p:nvSpPr>
        <p:spPr>
          <a:xfrm>
            <a:off x="1183363" y="1638719"/>
            <a:ext cx="10341697" cy="4467057"/>
          </a:xfrm>
          <a:prstGeom prst="rect">
            <a:avLst/>
          </a:prstGeom>
          <a:noFill/>
        </p:spPr>
        <p:txBody>
          <a:bodyPr wrap="square">
            <a:spAutoFit/>
          </a:bodyPr>
          <a:lstStyle/>
          <a:p>
            <a:pPr>
              <a:lnSpc>
                <a:spcPct val="150000"/>
              </a:lnSpc>
              <a:buFont typeface="+mj-lt"/>
              <a:buAutoNum type="arabicPeriod"/>
            </a:pPr>
            <a:r>
              <a:rPr lang="tr-TR" sz="2400" b="1" dirty="0">
                <a:solidFill>
                  <a:srgbClr val="FFC000"/>
                </a:solidFill>
                <a:latin typeface="Times New Roman" panose="02020603050405020304" pitchFamily="18" charset="0"/>
                <a:cs typeface="Times New Roman" panose="02020603050405020304" pitchFamily="18" charset="0"/>
              </a:rPr>
              <a:t>Datasetlarni saqlash</a:t>
            </a:r>
            <a:r>
              <a:rPr lang="tr-TR" sz="2400" dirty="0">
                <a:solidFill>
                  <a:srgbClr val="FFC000"/>
                </a:solidFill>
                <a:latin typeface="Times New Roman" panose="02020603050405020304" pitchFamily="18" charset="0"/>
                <a:cs typeface="Times New Roman" panose="02020603050405020304" pitchFamily="18" charset="0"/>
              </a:rPr>
              <a:t>:</a:t>
            </a:r>
          </a:p>
          <a:p>
            <a:pPr marL="742950" lvl="1" indent="-285750">
              <a:lnSpc>
                <a:spcPct val="150000"/>
              </a:lnSpc>
              <a:buFont typeface="+mj-lt"/>
              <a:buAutoNum type="arabicPeriod"/>
            </a:pPr>
            <a:r>
              <a:rPr lang="tr-TR" sz="2400" dirty="0">
                <a:latin typeface="Times New Roman" panose="02020603050405020304" pitchFamily="18" charset="0"/>
                <a:cs typeface="Times New Roman" panose="02020603050405020304" pitchFamily="18" charset="0"/>
              </a:rPr>
              <a:t>Har bir satir = bitta obyekt</a:t>
            </a:r>
          </a:p>
          <a:p>
            <a:pPr marL="742950" lvl="1" indent="-285750">
              <a:lnSpc>
                <a:spcPct val="150000"/>
              </a:lnSpc>
              <a:buFont typeface="+mj-lt"/>
              <a:buAutoNum type="arabicPeriod"/>
            </a:pPr>
            <a:r>
              <a:rPr lang="tr-TR" sz="2400" dirty="0">
                <a:latin typeface="Times New Roman" panose="02020603050405020304" pitchFamily="18" charset="0"/>
                <a:cs typeface="Times New Roman" panose="02020603050405020304" pitchFamily="18" charset="0"/>
              </a:rPr>
              <a:t>Har bir ustun = xususiyat (feature)</a:t>
            </a:r>
          </a:p>
          <a:p>
            <a:pPr>
              <a:lnSpc>
                <a:spcPct val="150000"/>
              </a:lnSpc>
              <a:buFont typeface="+mj-lt"/>
              <a:buAutoNum type="arabicPeriod"/>
            </a:pPr>
            <a:r>
              <a:rPr lang="tr-TR" sz="2400" b="1" dirty="0">
                <a:solidFill>
                  <a:srgbClr val="FFC000"/>
                </a:solidFill>
                <a:latin typeface="Times New Roman" panose="02020603050405020304" pitchFamily="18" charset="0"/>
                <a:cs typeface="Times New Roman" panose="02020603050405020304" pitchFamily="18" charset="0"/>
              </a:rPr>
              <a:t>ML algoritmlari bilan ishlash</a:t>
            </a:r>
            <a:r>
              <a:rPr lang="tr-TR" sz="2400" dirty="0">
                <a:solidFill>
                  <a:srgbClr val="FFC000"/>
                </a:solidFill>
                <a:latin typeface="Times New Roman" panose="02020603050405020304" pitchFamily="18" charset="0"/>
                <a:cs typeface="Times New Roman" panose="02020603050405020304" pitchFamily="18" charset="0"/>
              </a:rPr>
              <a:t>:</a:t>
            </a:r>
          </a:p>
          <a:p>
            <a:pPr marL="742950" lvl="1" indent="-285750">
              <a:lnSpc>
                <a:spcPct val="150000"/>
              </a:lnSpc>
              <a:buFont typeface="+mj-lt"/>
              <a:buAutoNum type="arabicPeriod"/>
            </a:pPr>
            <a:r>
              <a:rPr lang="tr-TR" sz="2400" dirty="0">
                <a:latin typeface="Times New Roman" panose="02020603050405020304" pitchFamily="18" charset="0"/>
                <a:cs typeface="Times New Roman" panose="02020603050405020304" pitchFamily="18" charset="0"/>
              </a:rPr>
              <a:t>Regression, Classification, Clustering, Neural Network — hammasi </a:t>
            </a:r>
            <a:r>
              <a:rPr lang="tr-TR" sz="2400" b="1" dirty="0">
                <a:latin typeface="Times New Roman" panose="02020603050405020304" pitchFamily="18" charset="0"/>
                <a:cs typeface="Times New Roman" panose="02020603050405020304" pitchFamily="18" charset="0"/>
              </a:rPr>
              <a:t>matritsa ustida amallar</a:t>
            </a:r>
            <a:r>
              <a:rPr lang="tr-TR" sz="2400" dirty="0">
                <a:latin typeface="Times New Roman" panose="02020603050405020304" pitchFamily="18" charset="0"/>
                <a:cs typeface="Times New Roman" panose="02020603050405020304" pitchFamily="18" charset="0"/>
              </a:rPr>
              <a:t> qiladi.</a:t>
            </a:r>
          </a:p>
          <a:p>
            <a:pPr>
              <a:lnSpc>
                <a:spcPct val="150000"/>
              </a:lnSpc>
              <a:buFont typeface="+mj-lt"/>
              <a:buAutoNum type="arabicPeriod"/>
            </a:pPr>
            <a:r>
              <a:rPr lang="en-US" sz="2400" b="1" dirty="0" err="1">
                <a:solidFill>
                  <a:srgbClr val="FFC000"/>
                </a:solidFill>
                <a:latin typeface="Times New Roman" panose="02020603050405020304" pitchFamily="18" charset="0"/>
                <a:cs typeface="Times New Roman" panose="02020603050405020304" pitchFamily="18" charset="0"/>
              </a:rPr>
              <a:t>Chiziqli</a:t>
            </a:r>
            <a:r>
              <a:rPr lang="tr-TR" sz="2400" b="1" dirty="0">
                <a:solidFill>
                  <a:srgbClr val="FFC000"/>
                </a:solidFill>
                <a:latin typeface="Times New Roman" panose="02020603050405020304" pitchFamily="18" charset="0"/>
                <a:cs typeface="Times New Roman" panose="02020603050405020304" pitchFamily="18" charset="0"/>
              </a:rPr>
              <a:t> algebra operatsiyalari</a:t>
            </a:r>
            <a:r>
              <a:rPr lang="tr-TR" sz="2400" dirty="0">
                <a:solidFill>
                  <a:srgbClr val="FFC000"/>
                </a:solidFill>
                <a:latin typeface="Times New Roman" panose="02020603050405020304" pitchFamily="18" charset="0"/>
                <a:cs typeface="Times New Roman" panose="02020603050405020304" pitchFamily="18" charset="0"/>
              </a:rPr>
              <a:t>:</a:t>
            </a:r>
          </a:p>
          <a:p>
            <a:pPr marL="742950" lvl="1" indent="-285750">
              <a:lnSpc>
                <a:spcPct val="150000"/>
              </a:lnSpc>
              <a:buFont typeface="+mj-lt"/>
              <a:buAutoNum type="arabicPeriod"/>
            </a:pPr>
            <a:r>
              <a:rPr lang="tr-TR" sz="2400" dirty="0">
                <a:latin typeface="Times New Roman" panose="02020603050405020304" pitchFamily="18" charset="0"/>
                <a:cs typeface="Times New Roman" panose="02020603050405020304" pitchFamily="18" charset="0"/>
              </a:rPr>
              <a:t>Dot product, inverse, transpose, determinant — hammasi matritsa ustida.</a:t>
            </a:r>
          </a:p>
        </p:txBody>
      </p:sp>
    </p:spTree>
    <p:extLst>
      <p:ext uri="{BB962C8B-B14F-4D97-AF65-F5344CB8AC3E}">
        <p14:creationId xmlns:p14="http://schemas.microsoft.com/office/powerpoint/2010/main" val="2893849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55C634-2F5E-0661-2B1D-933147BC7986}"/>
              </a:ext>
            </a:extLst>
          </p:cNvPr>
          <p:cNvSpPr txBox="1"/>
          <p:nvPr/>
        </p:nvSpPr>
        <p:spPr>
          <a:xfrm>
            <a:off x="722013" y="349489"/>
            <a:ext cx="6097508" cy="584775"/>
          </a:xfrm>
          <a:prstGeom prst="rect">
            <a:avLst/>
          </a:prstGeom>
          <a:noFill/>
        </p:spPr>
        <p:txBody>
          <a:bodyPr wrap="square">
            <a:spAutoFit/>
          </a:bodyPr>
          <a:lstStyle/>
          <a:p>
            <a:r>
              <a:rPr lang="en-US" sz="3200" b="1" dirty="0">
                <a:solidFill>
                  <a:srgbClr val="F0FCFF"/>
                </a:solidFill>
                <a:latin typeface="Times New Roman" panose="02020603050405020304" pitchFamily="18" charset="0"/>
                <a:ea typeface="Spline Sans Bold" pitchFamily="34" charset="-122"/>
                <a:cs typeface="Times New Roman" panose="02020603050405020304" pitchFamily="18" charset="0"/>
              </a:rPr>
              <a:t>MATRITSALAR</a:t>
            </a:r>
            <a:endParaRPr lang="ru-RU" sz="3200" dirty="0"/>
          </a:p>
        </p:txBody>
      </p:sp>
      <p:pic>
        <p:nvPicPr>
          <p:cNvPr id="5" name="Рисунок 4">
            <a:extLst>
              <a:ext uri="{FF2B5EF4-FFF2-40B4-BE49-F238E27FC236}">
                <a16:creationId xmlns:a16="http://schemas.microsoft.com/office/drawing/2014/main" id="{ED6893AA-F17E-C2C7-F562-3EBEDC2628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013" y="1505867"/>
            <a:ext cx="4954290" cy="2477145"/>
          </a:xfrm>
          <a:prstGeom prst="rect">
            <a:avLst/>
          </a:prstGeom>
        </p:spPr>
      </p:pic>
      <p:sp>
        <p:nvSpPr>
          <p:cNvPr id="7" name="TextBox 6">
            <a:extLst>
              <a:ext uri="{FF2B5EF4-FFF2-40B4-BE49-F238E27FC236}">
                <a16:creationId xmlns:a16="http://schemas.microsoft.com/office/drawing/2014/main" id="{47D4E0DB-F039-D016-2329-AE194C60B768}"/>
              </a:ext>
            </a:extLst>
          </p:cNvPr>
          <p:cNvSpPr txBox="1"/>
          <p:nvPr/>
        </p:nvSpPr>
        <p:spPr>
          <a:xfrm>
            <a:off x="785388" y="1136536"/>
            <a:ext cx="3116656" cy="369332"/>
          </a:xfrm>
          <a:prstGeom prst="rect">
            <a:avLst/>
          </a:prstGeom>
          <a:noFill/>
        </p:spPr>
        <p:txBody>
          <a:bodyPr wrap="square">
            <a:spAutoFit/>
          </a:bodyPr>
          <a:lstStyle/>
          <a:p>
            <a:pPr algn="l" fontAlgn="base">
              <a:buNone/>
            </a:pPr>
            <a:r>
              <a:rPr lang="tr-TR" b="1" i="0" dirty="0">
                <a:solidFill>
                  <a:srgbClr val="FFFFFF"/>
                </a:solidFill>
                <a:effectLst/>
                <a:latin typeface="Times New Roman" panose="02020603050405020304" pitchFamily="18" charset="0"/>
                <a:ea typeface="Yu Gothic" panose="020B0400000000000000" pitchFamily="34" charset="-128"/>
                <a:cs typeface="Times New Roman" panose="02020603050405020304" pitchFamily="18" charset="0"/>
              </a:rPr>
              <a:t>Matritsalarni qo'shish</a:t>
            </a:r>
          </a:p>
        </p:txBody>
      </p:sp>
      <p:pic>
        <p:nvPicPr>
          <p:cNvPr id="9" name="Рисунок 8">
            <a:extLst>
              <a:ext uri="{FF2B5EF4-FFF2-40B4-BE49-F238E27FC236}">
                <a16:creationId xmlns:a16="http://schemas.microsoft.com/office/drawing/2014/main" id="{9B562FD6-AC82-C4DB-BF3B-649933802B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7698" y="4483087"/>
            <a:ext cx="4992345" cy="2346403"/>
          </a:xfrm>
          <a:prstGeom prst="rect">
            <a:avLst/>
          </a:prstGeom>
        </p:spPr>
      </p:pic>
      <p:sp>
        <p:nvSpPr>
          <p:cNvPr id="10" name="TextBox 9">
            <a:extLst>
              <a:ext uri="{FF2B5EF4-FFF2-40B4-BE49-F238E27FC236}">
                <a16:creationId xmlns:a16="http://schemas.microsoft.com/office/drawing/2014/main" id="{80A007FC-2F42-6BE3-1BC8-D31FD81D9121}"/>
              </a:ext>
            </a:extLst>
          </p:cNvPr>
          <p:cNvSpPr txBox="1"/>
          <p:nvPr/>
        </p:nvSpPr>
        <p:spPr>
          <a:xfrm>
            <a:off x="3902044" y="4167678"/>
            <a:ext cx="6097508" cy="369332"/>
          </a:xfrm>
          <a:prstGeom prst="rect">
            <a:avLst/>
          </a:prstGeom>
          <a:noFill/>
        </p:spPr>
        <p:txBody>
          <a:bodyPr wrap="square">
            <a:spAutoFit/>
          </a:bodyPr>
          <a:lstStyle/>
          <a:p>
            <a:pPr algn="l" fontAlgn="base">
              <a:buNone/>
            </a:pPr>
            <a:r>
              <a:rPr lang="tr-TR" b="1" i="0" dirty="0">
                <a:solidFill>
                  <a:srgbClr val="FFFFFF"/>
                </a:solidFill>
                <a:effectLst/>
                <a:latin typeface="Times New Roman" panose="02020603050405020304" pitchFamily="18" charset="0"/>
                <a:ea typeface="Yu Gothic" panose="020B0400000000000000" pitchFamily="34" charset="-128"/>
                <a:cs typeface="Times New Roman" panose="02020603050405020304" pitchFamily="18" charset="0"/>
              </a:rPr>
              <a:t>Matritsalarni </a:t>
            </a:r>
            <a:r>
              <a:rPr lang="en-US" b="1" dirty="0" err="1">
                <a:solidFill>
                  <a:srgbClr val="FFFFFF"/>
                </a:solidFill>
                <a:latin typeface="Times New Roman" panose="02020603050405020304" pitchFamily="18" charset="0"/>
                <a:ea typeface="Yu Gothic" panose="020B0400000000000000" pitchFamily="34" charset="-128"/>
                <a:cs typeface="Times New Roman" panose="02020603050405020304" pitchFamily="18" charset="0"/>
              </a:rPr>
              <a:t>ayirish</a:t>
            </a:r>
            <a:endParaRPr lang="tr-TR" b="1" i="0" dirty="0">
              <a:solidFill>
                <a:srgbClr val="FFFFFF"/>
              </a:solidFill>
              <a:effectLst/>
              <a:latin typeface="Times New Roman" panose="02020603050405020304" pitchFamily="18" charset="0"/>
              <a:ea typeface="Yu Gothic" panose="020B0400000000000000" pitchFamily="34" charset="-128"/>
              <a:cs typeface="Times New Roman" panose="02020603050405020304" pitchFamily="18" charset="0"/>
            </a:endParaRPr>
          </a:p>
        </p:txBody>
      </p:sp>
      <p:pic>
        <p:nvPicPr>
          <p:cNvPr id="12" name="Рисунок 11">
            <a:extLst>
              <a:ext uri="{FF2B5EF4-FFF2-40B4-BE49-F238E27FC236}">
                <a16:creationId xmlns:a16="http://schemas.microsoft.com/office/drawing/2014/main" id="{37B30D2F-2D71-ECA9-6493-8F862FB0EF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9521" y="1505866"/>
            <a:ext cx="4954290" cy="2477145"/>
          </a:xfrm>
          <a:prstGeom prst="rect">
            <a:avLst/>
          </a:prstGeom>
        </p:spPr>
      </p:pic>
      <p:sp>
        <p:nvSpPr>
          <p:cNvPr id="13" name="TextBox 12">
            <a:extLst>
              <a:ext uri="{FF2B5EF4-FFF2-40B4-BE49-F238E27FC236}">
                <a16:creationId xmlns:a16="http://schemas.microsoft.com/office/drawing/2014/main" id="{9E60D493-2BB9-1505-EA61-A11D4F0F827B}"/>
              </a:ext>
            </a:extLst>
          </p:cNvPr>
          <p:cNvSpPr txBox="1"/>
          <p:nvPr/>
        </p:nvSpPr>
        <p:spPr>
          <a:xfrm>
            <a:off x="6673062" y="1136536"/>
            <a:ext cx="4633962" cy="369332"/>
          </a:xfrm>
          <a:prstGeom prst="rect">
            <a:avLst/>
          </a:prstGeom>
          <a:noFill/>
        </p:spPr>
        <p:txBody>
          <a:bodyPr wrap="square">
            <a:spAutoFit/>
          </a:bodyPr>
          <a:lstStyle/>
          <a:p>
            <a:pPr algn="l" fontAlgn="base">
              <a:buNone/>
            </a:pPr>
            <a:r>
              <a:rPr lang="tr-TR" b="1" i="0" dirty="0">
                <a:solidFill>
                  <a:srgbClr val="FFFFFF"/>
                </a:solidFill>
                <a:effectLst/>
                <a:latin typeface="Times New Roman" panose="02020603050405020304" pitchFamily="18" charset="0"/>
                <a:ea typeface="Yu Gothic" panose="020B0400000000000000" pitchFamily="34" charset="-128"/>
                <a:cs typeface="Times New Roman" panose="02020603050405020304" pitchFamily="18" charset="0"/>
              </a:rPr>
              <a:t>Matritsalarni </a:t>
            </a:r>
            <a:r>
              <a:rPr lang="en-US" b="1" dirty="0" err="1">
                <a:solidFill>
                  <a:srgbClr val="FFFFFF"/>
                </a:solidFill>
                <a:latin typeface="Times New Roman" panose="02020603050405020304" pitchFamily="18" charset="0"/>
                <a:ea typeface="Yu Gothic" panose="020B0400000000000000" pitchFamily="34" charset="-128"/>
                <a:cs typeface="Times New Roman" panose="02020603050405020304" pitchFamily="18" charset="0"/>
              </a:rPr>
              <a:t>skalyar</a:t>
            </a:r>
            <a:r>
              <a:rPr lang="en-US" b="1" dirty="0">
                <a:solidFill>
                  <a:srgbClr val="FFFFFF"/>
                </a:solidFill>
                <a:latin typeface="Times New Roman" panose="02020603050405020304" pitchFamily="18" charset="0"/>
                <a:ea typeface="Yu Gothic" panose="020B0400000000000000" pitchFamily="34" charset="-128"/>
                <a:cs typeface="Times New Roman" panose="02020603050405020304" pitchFamily="18" charset="0"/>
              </a:rPr>
              <a:t> </a:t>
            </a:r>
            <a:r>
              <a:rPr lang="en-US" b="1" dirty="0" err="1">
                <a:solidFill>
                  <a:srgbClr val="FFFFFF"/>
                </a:solidFill>
                <a:latin typeface="Times New Roman" panose="02020603050405020304" pitchFamily="18" charset="0"/>
                <a:ea typeface="Yu Gothic" panose="020B0400000000000000" pitchFamily="34" charset="-128"/>
                <a:cs typeface="Times New Roman" panose="02020603050405020304" pitchFamily="18" charset="0"/>
              </a:rPr>
              <a:t>ko’paytmasi</a:t>
            </a:r>
            <a:endParaRPr lang="tr-TR" b="1" i="0" dirty="0">
              <a:solidFill>
                <a:srgbClr val="FFFFFF"/>
              </a:solidFill>
              <a:effectLst/>
              <a:latin typeface="Times New Roman" panose="02020603050405020304" pitchFamily="18" charset="0"/>
              <a:ea typeface="Yu Gothic" panose="020B0400000000000000" pitchFamily="34" charset="-128"/>
              <a:cs typeface="Times New Roman" panose="02020603050405020304" pitchFamily="18" charset="0"/>
            </a:endParaRPr>
          </a:p>
        </p:txBody>
      </p:sp>
    </p:spTree>
    <p:extLst>
      <p:ext uri="{BB962C8B-B14F-4D97-AF65-F5344CB8AC3E}">
        <p14:creationId xmlns:p14="http://schemas.microsoft.com/office/powerpoint/2010/main" val="1886938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E44D13-1763-D198-A69A-382CAB63C57B}"/>
              </a:ext>
            </a:extLst>
          </p:cNvPr>
          <p:cNvSpPr txBox="1"/>
          <p:nvPr/>
        </p:nvSpPr>
        <p:spPr>
          <a:xfrm>
            <a:off x="722013" y="349489"/>
            <a:ext cx="6097508" cy="584775"/>
          </a:xfrm>
          <a:prstGeom prst="rect">
            <a:avLst/>
          </a:prstGeom>
          <a:noFill/>
        </p:spPr>
        <p:txBody>
          <a:bodyPr wrap="square">
            <a:spAutoFit/>
          </a:bodyPr>
          <a:lstStyle/>
          <a:p>
            <a:r>
              <a:rPr lang="en-US" sz="3200" b="1" dirty="0">
                <a:solidFill>
                  <a:srgbClr val="F0FCFF"/>
                </a:solidFill>
                <a:latin typeface="Times New Roman" panose="02020603050405020304" pitchFamily="18" charset="0"/>
                <a:ea typeface="Spline Sans Bold" pitchFamily="34" charset="-122"/>
                <a:cs typeface="Times New Roman" panose="02020603050405020304" pitchFamily="18" charset="0"/>
              </a:rPr>
              <a:t>MATRITSALAR</a:t>
            </a:r>
            <a:endParaRPr lang="ru-RU" sz="3200" dirty="0"/>
          </a:p>
        </p:txBody>
      </p:sp>
      <p:pic>
        <p:nvPicPr>
          <p:cNvPr id="3" name="Picture 4" descr="Matritsa-ko'paytirish">
            <a:extLst>
              <a:ext uri="{FF2B5EF4-FFF2-40B4-BE49-F238E27FC236}">
                <a16:creationId xmlns:a16="http://schemas.microsoft.com/office/drawing/2014/main" id="{6870A4AD-89B8-D516-A20A-A6ACEFB2A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957" y="1914977"/>
            <a:ext cx="5046742" cy="15140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496178-AD31-4596-86F5-5A4F5FB15B3B}"/>
              </a:ext>
            </a:extLst>
          </p:cNvPr>
          <p:cNvSpPr txBox="1"/>
          <p:nvPr/>
        </p:nvSpPr>
        <p:spPr>
          <a:xfrm>
            <a:off x="722013" y="1534462"/>
            <a:ext cx="6097508" cy="369332"/>
          </a:xfrm>
          <a:prstGeom prst="rect">
            <a:avLst/>
          </a:prstGeom>
          <a:noFill/>
        </p:spPr>
        <p:txBody>
          <a:bodyPr wrap="square">
            <a:spAutoFit/>
          </a:bodyPr>
          <a:lstStyle/>
          <a:p>
            <a:pPr algn="l" fontAlgn="base">
              <a:buNone/>
            </a:pPr>
            <a:r>
              <a:rPr lang="tr-TR" b="1" i="0" dirty="0">
                <a:solidFill>
                  <a:srgbClr val="FFFFFF"/>
                </a:solidFill>
                <a:effectLst/>
                <a:latin typeface="Times New Roman" panose="02020603050405020304" pitchFamily="18" charset="0"/>
                <a:cs typeface="Times New Roman" panose="02020603050405020304" pitchFamily="18" charset="0"/>
              </a:rPr>
              <a:t>Matritsalarni </a:t>
            </a:r>
            <a:r>
              <a:rPr lang="en-US" b="1" i="0" dirty="0" err="1">
                <a:solidFill>
                  <a:srgbClr val="FFFFFF"/>
                </a:solidFill>
                <a:effectLst/>
                <a:latin typeface="Times New Roman" panose="02020603050405020304" pitchFamily="18" charset="0"/>
                <a:cs typeface="Times New Roman" panose="02020603050405020304" pitchFamily="18" charset="0"/>
              </a:rPr>
              <a:t>ko’paytirish</a:t>
            </a:r>
            <a:endParaRPr lang="tr-TR" b="1" i="0" dirty="0">
              <a:solidFill>
                <a:srgbClr val="FFFFFF"/>
              </a:solidFill>
              <a:effectLst/>
              <a:latin typeface="Times New Roman" panose="02020603050405020304" pitchFamily="18" charset="0"/>
              <a:cs typeface="Times New Roman" panose="02020603050405020304" pitchFamily="18" charset="0"/>
            </a:endParaRPr>
          </a:p>
        </p:txBody>
      </p:sp>
      <p:pic>
        <p:nvPicPr>
          <p:cNvPr id="6" name="Рисунок 5">
            <a:extLst>
              <a:ext uri="{FF2B5EF4-FFF2-40B4-BE49-F238E27FC236}">
                <a16:creationId xmlns:a16="http://schemas.microsoft.com/office/drawing/2014/main" id="{C39D8A9A-9B90-C447-AB44-F5513B313A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9910" y="1903794"/>
            <a:ext cx="5668688" cy="2834344"/>
          </a:xfrm>
          <a:prstGeom prst="rect">
            <a:avLst/>
          </a:prstGeom>
        </p:spPr>
      </p:pic>
      <p:sp>
        <p:nvSpPr>
          <p:cNvPr id="8" name="TextBox 7">
            <a:extLst>
              <a:ext uri="{FF2B5EF4-FFF2-40B4-BE49-F238E27FC236}">
                <a16:creationId xmlns:a16="http://schemas.microsoft.com/office/drawing/2014/main" id="{ECE86013-A95B-CC3D-EC25-8F027DE8C43C}"/>
              </a:ext>
            </a:extLst>
          </p:cNvPr>
          <p:cNvSpPr txBox="1"/>
          <p:nvPr/>
        </p:nvSpPr>
        <p:spPr>
          <a:xfrm>
            <a:off x="6223875" y="1534462"/>
            <a:ext cx="6097508" cy="369332"/>
          </a:xfrm>
          <a:prstGeom prst="rect">
            <a:avLst/>
          </a:prstGeom>
          <a:noFill/>
        </p:spPr>
        <p:txBody>
          <a:bodyPr wrap="square">
            <a:spAutoFit/>
          </a:bodyPr>
          <a:lstStyle/>
          <a:p>
            <a:pPr algn="l" fontAlgn="base">
              <a:buNone/>
            </a:pPr>
            <a:r>
              <a:rPr lang="en-US" b="1" i="0" dirty="0" err="1">
                <a:solidFill>
                  <a:srgbClr val="FFFFFF"/>
                </a:solidFill>
                <a:effectLst/>
                <a:latin typeface="Times New Roman" panose="02020603050405020304" pitchFamily="18" charset="0"/>
                <a:cs typeface="Times New Roman" panose="02020603050405020304" pitchFamily="18" charset="0"/>
              </a:rPr>
              <a:t>Teskari</a:t>
            </a:r>
            <a:r>
              <a:rPr lang="en-US" b="1" i="0" dirty="0">
                <a:solidFill>
                  <a:srgbClr val="FFFFFF"/>
                </a:solidFill>
                <a:effectLst/>
                <a:latin typeface="Times New Roman" panose="02020603050405020304" pitchFamily="18" charset="0"/>
                <a:cs typeface="Times New Roman" panose="02020603050405020304" pitchFamily="18" charset="0"/>
              </a:rPr>
              <a:t> </a:t>
            </a:r>
            <a:r>
              <a:rPr lang="en-US" b="1" i="0" dirty="0" err="1">
                <a:solidFill>
                  <a:srgbClr val="FFFFFF"/>
                </a:solidFill>
                <a:effectLst/>
                <a:latin typeface="Times New Roman" panose="02020603050405020304" pitchFamily="18" charset="0"/>
                <a:cs typeface="Times New Roman" panose="02020603050405020304" pitchFamily="18" charset="0"/>
              </a:rPr>
              <a:t>matritsa</a:t>
            </a:r>
            <a:endParaRPr lang="tr-TR" b="1" i="0" dirty="0">
              <a:solidFill>
                <a:srgbClr val="FFFFFF"/>
              </a:solidFill>
              <a:effectLst/>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5984B8A1-1C3A-EFD6-03BA-1277BFED56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957" y="4145808"/>
            <a:ext cx="5267043" cy="2633522"/>
          </a:xfrm>
          <a:prstGeom prst="rect">
            <a:avLst/>
          </a:prstGeom>
        </p:spPr>
      </p:pic>
      <p:sp>
        <p:nvSpPr>
          <p:cNvPr id="11" name="TextBox 10">
            <a:extLst>
              <a:ext uri="{FF2B5EF4-FFF2-40B4-BE49-F238E27FC236}">
                <a16:creationId xmlns:a16="http://schemas.microsoft.com/office/drawing/2014/main" id="{5462E418-3BDF-2408-BED7-1908D97620A1}"/>
              </a:ext>
            </a:extLst>
          </p:cNvPr>
          <p:cNvSpPr txBox="1"/>
          <p:nvPr/>
        </p:nvSpPr>
        <p:spPr>
          <a:xfrm>
            <a:off x="722013" y="3776476"/>
            <a:ext cx="6097508" cy="369332"/>
          </a:xfrm>
          <a:prstGeom prst="rect">
            <a:avLst/>
          </a:prstGeom>
          <a:noFill/>
        </p:spPr>
        <p:txBody>
          <a:bodyPr wrap="square">
            <a:spAutoFit/>
          </a:bodyPr>
          <a:lstStyle/>
          <a:p>
            <a:pPr algn="l" fontAlgn="base">
              <a:buNone/>
            </a:pPr>
            <a:r>
              <a:rPr lang="tr-TR" b="1" i="0" dirty="0">
                <a:solidFill>
                  <a:srgbClr val="FFFFFF"/>
                </a:solidFill>
                <a:effectLst/>
                <a:latin typeface="Times New Roman" panose="02020603050405020304" pitchFamily="18" charset="0"/>
                <a:cs typeface="Times New Roman" panose="02020603050405020304" pitchFamily="18" charset="0"/>
              </a:rPr>
              <a:t>Matritsalarni </a:t>
            </a:r>
            <a:r>
              <a:rPr lang="en-US" b="1" dirty="0" err="1">
                <a:solidFill>
                  <a:srgbClr val="FFFFFF"/>
                </a:solidFill>
                <a:latin typeface="Times New Roman" panose="02020603050405020304" pitchFamily="18" charset="0"/>
                <a:cs typeface="Times New Roman" panose="02020603050405020304" pitchFamily="18" charset="0"/>
              </a:rPr>
              <a:t>transpors</a:t>
            </a:r>
            <a:r>
              <a:rPr lang="en-US" b="1" dirty="0">
                <a:solidFill>
                  <a:srgbClr val="FFFFFF"/>
                </a:solidFill>
                <a:latin typeface="Times New Roman" panose="02020603050405020304" pitchFamily="18" charset="0"/>
                <a:cs typeface="Times New Roman" panose="02020603050405020304" pitchFamily="18" charset="0"/>
              </a:rPr>
              <a:t> </a:t>
            </a:r>
            <a:r>
              <a:rPr lang="en-US" b="1" dirty="0" err="1">
                <a:solidFill>
                  <a:srgbClr val="FFFFFF"/>
                </a:solidFill>
                <a:latin typeface="Times New Roman" panose="02020603050405020304" pitchFamily="18" charset="0"/>
                <a:cs typeface="Times New Roman" panose="02020603050405020304" pitchFamily="18" charset="0"/>
              </a:rPr>
              <a:t>qilish</a:t>
            </a:r>
            <a:endParaRPr lang="tr-TR" b="1" i="0" dirty="0">
              <a:solidFill>
                <a:srgbClr val="FFFFFF"/>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519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6AE38A-240D-409A-1C62-42A8F4D4867F}"/>
              </a:ext>
            </a:extLst>
          </p:cNvPr>
          <p:cNvSpPr txBox="1"/>
          <p:nvPr/>
        </p:nvSpPr>
        <p:spPr>
          <a:xfrm>
            <a:off x="722012" y="349489"/>
            <a:ext cx="8322399"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CHIZIQLI TRANSFORMATSIYA</a:t>
            </a:r>
            <a:endParaRPr lang="ru-RU"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87A357C-733F-223E-BF55-4D869005DBE2}"/>
              </a:ext>
            </a:extLst>
          </p:cNvPr>
          <p:cNvSpPr txBox="1"/>
          <p:nvPr/>
        </p:nvSpPr>
        <p:spPr>
          <a:xfrm>
            <a:off x="821603" y="1336316"/>
            <a:ext cx="6097508" cy="461665"/>
          </a:xfrm>
          <a:prstGeom prst="rect">
            <a:avLst/>
          </a:prstGeom>
          <a:noFill/>
        </p:spPr>
        <p:txBody>
          <a:bodyPr wrap="square">
            <a:spAutoFit/>
          </a:bodyPr>
          <a:lstStyle/>
          <a:p>
            <a:r>
              <a:rPr lang="tr-TR" sz="2400" b="1">
                <a:solidFill>
                  <a:srgbClr val="FFC000"/>
                </a:solidFill>
                <a:latin typeface="Times New Roman" panose="02020603050405020304" pitchFamily="18" charset="0"/>
                <a:cs typeface="Times New Roman" panose="02020603050405020304" pitchFamily="18" charset="0"/>
              </a:rPr>
              <a:t>Chiziqli transformatsiya nima?</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2457760-7307-CE7C-95C9-0A2A6CC2BACA}"/>
              </a:ext>
            </a:extLst>
          </p:cNvPr>
          <p:cNvSpPr txBox="1"/>
          <p:nvPr/>
        </p:nvSpPr>
        <p:spPr>
          <a:xfrm>
            <a:off x="1147527" y="1874108"/>
            <a:ext cx="10359428" cy="830997"/>
          </a:xfrm>
          <a:prstGeom prst="rect">
            <a:avLst/>
          </a:prstGeom>
          <a:noFill/>
        </p:spPr>
        <p:txBody>
          <a:bodyPr wrap="square">
            <a:spAutoFit/>
          </a:bodyPr>
          <a:lstStyle/>
          <a:p>
            <a:r>
              <a:rPr lang="tr-TR" sz="2400" b="1" dirty="0">
                <a:latin typeface="Times New Roman" panose="02020603050405020304" pitchFamily="18" charset="0"/>
                <a:cs typeface="Times New Roman" panose="02020603050405020304" pitchFamily="18" charset="0"/>
              </a:rPr>
              <a:t>Chiziqli transformatsiya</a:t>
            </a:r>
            <a:r>
              <a:rPr lang="tr-TR" sz="2400" dirty="0">
                <a:latin typeface="Times New Roman" panose="02020603050405020304" pitchFamily="18" charset="0"/>
                <a:cs typeface="Times New Roman" panose="02020603050405020304" pitchFamily="18" charset="0"/>
              </a:rPr>
              <a:t> – bu vektorlarni yoki matritsalarni o‘zgartirishning </a:t>
            </a:r>
            <a:r>
              <a:rPr lang="tr-TR" sz="2400" b="1" dirty="0">
                <a:latin typeface="Times New Roman" panose="02020603050405020304" pitchFamily="18" charset="0"/>
                <a:cs typeface="Times New Roman" panose="02020603050405020304" pitchFamily="18" charset="0"/>
              </a:rPr>
              <a:t>linear (to‘g‘ri chiziqli) qoidasi</a:t>
            </a:r>
            <a:r>
              <a:rPr lang="tr-TR" sz="2400" dirty="0">
                <a:latin typeface="Times New Roman" panose="02020603050405020304" pitchFamily="18" charset="0"/>
                <a:cs typeface="Times New Roman" panose="02020603050405020304" pitchFamily="18" charset="0"/>
              </a:rPr>
              <a:t> bilan amalga oshiriladigan amali.</a:t>
            </a:r>
            <a:endParaRPr lang="ru-RU"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A5AB43C-4F4E-9286-3C94-8E0D291A8270}"/>
              </a:ext>
            </a:extLst>
          </p:cNvPr>
          <p:cNvSpPr txBox="1"/>
          <p:nvPr/>
        </p:nvSpPr>
        <p:spPr>
          <a:xfrm>
            <a:off x="912136" y="2857359"/>
            <a:ext cx="6097508" cy="461665"/>
          </a:xfrm>
          <a:prstGeom prst="rect">
            <a:avLst/>
          </a:prstGeom>
          <a:noFill/>
        </p:spPr>
        <p:txBody>
          <a:bodyPr wrap="square">
            <a:spAutoFit/>
          </a:bodyPr>
          <a:lstStyle/>
          <a:p>
            <a:r>
              <a:rPr lang="tr-TR" sz="2400" i="1" dirty="0">
                <a:solidFill>
                  <a:srgbClr val="FFC000"/>
                </a:solidFill>
                <a:latin typeface="Times New Roman" panose="02020603050405020304" pitchFamily="18" charset="0"/>
                <a:cs typeface="Times New Roman" panose="02020603050405020304" pitchFamily="18" charset="0"/>
              </a:rPr>
              <a:t>Matematika tilida:</a:t>
            </a:r>
            <a:endParaRPr lang="ru-RU" sz="2400" i="1" dirty="0">
              <a:solidFill>
                <a:srgbClr val="FFC000"/>
              </a:solidFill>
              <a:latin typeface="Times New Roman" panose="02020603050405020304" pitchFamily="18" charset="0"/>
              <a:cs typeface="Times New Roman" panose="02020603050405020304" pitchFamily="18" charset="0"/>
            </a:endParaRPr>
          </a:p>
        </p:txBody>
      </p:sp>
      <p:pic>
        <p:nvPicPr>
          <p:cNvPr id="12" name="Рисунок 11">
            <a:extLst>
              <a:ext uri="{FF2B5EF4-FFF2-40B4-BE49-F238E27FC236}">
                <a16:creationId xmlns:a16="http://schemas.microsoft.com/office/drawing/2014/main" id="{2E10FD53-49E4-307B-6640-38EF9B89167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044143" y="3532389"/>
            <a:ext cx="2372056" cy="762106"/>
          </a:xfrm>
          <a:prstGeom prst="rect">
            <a:avLst/>
          </a:prstGeom>
          <a:ln>
            <a:solidFill>
              <a:schemeClr val="tx1"/>
            </a:solidFill>
          </a:ln>
        </p:spPr>
      </p:pic>
      <p:sp>
        <p:nvSpPr>
          <p:cNvPr id="13" name="Rectangle 1">
            <a:extLst>
              <a:ext uri="{FF2B5EF4-FFF2-40B4-BE49-F238E27FC236}">
                <a16:creationId xmlns:a16="http://schemas.microsoft.com/office/drawing/2014/main" id="{A40DE8EB-2C10-4FE2-A6A2-6D3C59C5F0A1}"/>
              </a:ext>
            </a:extLst>
          </p:cNvPr>
          <p:cNvSpPr>
            <a:spLocks noChangeArrowheads="1"/>
          </p:cNvSpPr>
          <p:nvPr/>
        </p:nvSpPr>
        <p:spPr bwMode="auto">
          <a:xfrm>
            <a:off x="912136" y="4507860"/>
            <a:ext cx="487303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x → </a:t>
            </a:r>
            <a:r>
              <a:rPr kumimoji="0" lang="ru-RU" altLang="ru-RU" sz="1800" b="0" i="0" u="none" strike="noStrike" cap="none" normalizeH="0" baseline="0" dirty="0" err="1">
                <a:ln>
                  <a:noFill/>
                </a:ln>
                <a:effectLst/>
                <a:latin typeface="Times New Roman" panose="02020603050405020304" pitchFamily="18" charset="0"/>
                <a:cs typeface="Times New Roman" panose="02020603050405020304" pitchFamily="18" charset="0"/>
              </a:rPr>
              <a:t>kiruvchi</a:t>
            </a: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effectLst/>
                <a:latin typeface="Times New Roman" panose="02020603050405020304" pitchFamily="18" charset="0"/>
                <a:cs typeface="Times New Roman" panose="02020603050405020304" pitchFamily="18" charset="0"/>
              </a:rPr>
              <a:t>vektor</a:t>
            </a:r>
            <a:endPar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A → </a:t>
            </a:r>
            <a:r>
              <a:rPr kumimoji="0" lang="ru-RU" altLang="ru-RU" sz="1800" b="0" i="0" u="none" strike="noStrike" cap="none" normalizeH="0" baseline="0" dirty="0" err="1">
                <a:ln>
                  <a:noFill/>
                </a:ln>
                <a:effectLst/>
                <a:latin typeface="Times New Roman" panose="02020603050405020304" pitchFamily="18" charset="0"/>
                <a:cs typeface="Times New Roman" panose="02020603050405020304" pitchFamily="18" charset="0"/>
              </a:rPr>
              <a:t>matritsa</a:t>
            </a: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effectLst/>
                <a:latin typeface="Times New Roman" panose="02020603050405020304" pitchFamily="18" charset="0"/>
                <a:cs typeface="Times New Roman" panose="02020603050405020304" pitchFamily="18" charset="0"/>
              </a:rPr>
              <a:t>transformatsiya</a:t>
            </a: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effectLst/>
                <a:latin typeface="Times New Roman" panose="02020603050405020304" pitchFamily="18" charset="0"/>
                <a:cs typeface="Times New Roman" panose="02020603050405020304" pitchFamily="18" charset="0"/>
              </a:rPr>
              <a:t>matritsasi</a:t>
            </a: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T(x) → </a:t>
            </a:r>
            <a:r>
              <a:rPr kumimoji="0" lang="ru-RU" altLang="ru-RU" sz="1800" b="0" i="0" u="none" strike="noStrike" cap="none" normalizeH="0" baseline="0" dirty="0" err="1">
                <a:ln>
                  <a:noFill/>
                </a:ln>
                <a:effectLst/>
                <a:latin typeface="Times New Roman" panose="02020603050405020304" pitchFamily="18" charset="0"/>
                <a:cs typeface="Times New Roman" panose="02020603050405020304" pitchFamily="18" charset="0"/>
              </a:rPr>
              <a:t>natija</a:t>
            </a: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effectLst/>
                <a:latin typeface="Times New Roman" panose="02020603050405020304" pitchFamily="18" charset="0"/>
                <a:cs typeface="Times New Roman" panose="02020603050405020304" pitchFamily="18" charset="0"/>
              </a:rPr>
              <a:t>o‘zgartirilgan</a:t>
            </a: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effectLst/>
                <a:latin typeface="Times New Roman" panose="02020603050405020304" pitchFamily="18" charset="0"/>
                <a:cs typeface="Times New Roman" panose="02020603050405020304" pitchFamily="18" charset="0"/>
              </a:rPr>
              <a:t>vektor</a:t>
            </a:r>
            <a:r>
              <a:rPr kumimoji="0" lang="ru-RU" altLang="ru-RU" sz="1800" b="0" i="0" u="none" strike="noStrike" cap="none" normalizeH="0" baseline="0" dirty="0">
                <a:ln>
                  <a:noFill/>
                </a:ln>
                <a:effectLst/>
                <a:latin typeface="Times New Roman" panose="02020603050405020304" pitchFamily="18" charset="0"/>
                <a:cs typeface="Times New Roman" panose="02020603050405020304" pitchFamily="18" charset="0"/>
              </a:rPr>
              <a:t>)</a:t>
            </a:r>
          </a:p>
        </p:txBody>
      </p:sp>
      <p:pic>
        <p:nvPicPr>
          <p:cNvPr id="15" name="Рисунок 14">
            <a:extLst>
              <a:ext uri="{FF2B5EF4-FFF2-40B4-BE49-F238E27FC236}">
                <a16:creationId xmlns:a16="http://schemas.microsoft.com/office/drawing/2014/main" id="{426E3A0D-12F6-BCBF-5123-D44742928B74}"/>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5698071" y="3105461"/>
            <a:ext cx="5953124" cy="2497219"/>
          </a:xfrm>
          <a:prstGeom prst="rect">
            <a:avLst/>
          </a:prstGeom>
        </p:spPr>
      </p:pic>
    </p:spTree>
    <p:extLst>
      <p:ext uri="{BB962C8B-B14F-4D97-AF65-F5344CB8AC3E}">
        <p14:creationId xmlns:p14="http://schemas.microsoft.com/office/powerpoint/2010/main" val="736028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E715A2-A269-B1E4-35CF-BA34972E0D76}"/>
              </a:ext>
            </a:extLst>
          </p:cNvPr>
          <p:cNvSpPr txBox="1"/>
          <p:nvPr/>
        </p:nvSpPr>
        <p:spPr>
          <a:xfrm>
            <a:off x="722012" y="349489"/>
            <a:ext cx="8322399"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CHIZIQLI TRANSFORMATSIYA</a:t>
            </a:r>
            <a:endParaRPr lang="ru-RU"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7FF674E-53CF-2234-876E-22B17252EFC2}"/>
              </a:ext>
            </a:extLst>
          </p:cNvPr>
          <p:cNvSpPr txBox="1"/>
          <p:nvPr/>
        </p:nvSpPr>
        <p:spPr>
          <a:xfrm>
            <a:off x="794440" y="1037551"/>
            <a:ext cx="9028570" cy="461665"/>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Data Science</a:t>
            </a:r>
            <a:r>
              <a:rPr lang="en-US" sz="2400" dirty="0">
                <a:latin typeface="Times New Roman" panose="02020603050405020304" pitchFamily="18" charset="0"/>
                <a:cs typeface="Times New Roman" panose="02020603050405020304" pitchFamily="18" charset="0"/>
              </a:rPr>
              <a:t> </a:t>
            </a:r>
            <a:r>
              <a:rPr lang="tr-TR" sz="2400" dirty="0">
                <a:latin typeface="Times New Roman" panose="02020603050405020304" pitchFamily="18" charset="0"/>
                <a:cs typeface="Times New Roman" panose="02020603050405020304" pitchFamily="18" charset="0"/>
              </a:rPr>
              <a:t>da chiziqli transformatsiyalar qayerda ishlatiladi?</a:t>
            </a:r>
            <a:endParaRPr lang="ru-RU"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2AA33CA-B642-E495-6BE0-BD4016E3ACC7}"/>
              </a:ext>
            </a:extLst>
          </p:cNvPr>
          <p:cNvSpPr txBox="1"/>
          <p:nvPr/>
        </p:nvSpPr>
        <p:spPr>
          <a:xfrm>
            <a:off x="794440" y="1499216"/>
            <a:ext cx="6097508" cy="461665"/>
          </a:xfrm>
          <a:prstGeom prst="rect">
            <a:avLst/>
          </a:prstGeom>
          <a:noFill/>
        </p:spPr>
        <p:txBody>
          <a:bodyPr wrap="square">
            <a:spAutoFit/>
          </a:bodyPr>
          <a:lstStyle/>
          <a:p>
            <a:r>
              <a:rPr lang="en-US" sz="2400" b="1" dirty="0">
                <a:solidFill>
                  <a:srgbClr val="FFC000"/>
                </a:solidFill>
                <a:latin typeface="Times New Roman" panose="02020603050405020304" pitchFamily="18" charset="0"/>
                <a:cs typeface="Times New Roman" panose="02020603050405020304" pitchFamily="18" charset="0"/>
              </a:rPr>
              <a:t>1. Feature scaling (</a:t>
            </a:r>
            <a:r>
              <a:rPr lang="en-US" sz="2400" b="1" dirty="0" err="1">
                <a:solidFill>
                  <a:srgbClr val="FFC000"/>
                </a:solidFill>
                <a:latin typeface="Times New Roman" panose="02020603050405020304" pitchFamily="18" charset="0"/>
                <a:cs typeface="Times New Roman" panose="02020603050405020304" pitchFamily="18" charset="0"/>
              </a:rPr>
              <a:t>xususiyatlarni</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o‘lchash</a:t>
            </a:r>
            <a:r>
              <a:rPr lang="en-US" sz="2400" b="1" dirty="0">
                <a:solidFill>
                  <a:srgbClr val="FFC000"/>
                </a:solidFill>
                <a:latin typeface="Times New Roman" panose="02020603050405020304" pitchFamily="18" charset="0"/>
                <a:cs typeface="Times New Roman" panose="02020603050405020304" pitchFamily="18" charset="0"/>
              </a:rPr>
              <a:t>)</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611132B-3D8F-51A6-3983-2D1ACB5132E5}"/>
              </a:ext>
            </a:extLst>
          </p:cNvPr>
          <p:cNvSpPr txBox="1"/>
          <p:nvPr/>
        </p:nvSpPr>
        <p:spPr>
          <a:xfrm>
            <a:off x="1627362" y="2022436"/>
            <a:ext cx="8548734" cy="400110"/>
          </a:xfrm>
          <a:prstGeom prst="rect">
            <a:avLst/>
          </a:prstGeom>
          <a:noFill/>
        </p:spPr>
        <p:txBody>
          <a:bodyPr wrap="square">
            <a:spAutoFit/>
          </a:bodyPr>
          <a:lstStyle/>
          <a:p>
            <a:pPr marL="342900" indent="-342900">
              <a:buFont typeface="Wingdings" panose="05000000000000000000" pitchFamily="2" charset="2"/>
              <a:buChar char="§"/>
            </a:pPr>
            <a:r>
              <a:rPr lang="tr-TR" sz="2000" dirty="0">
                <a:latin typeface="Times New Roman" panose="02020603050405020304" pitchFamily="18" charset="0"/>
                <a:cs typeface="Times New Roman" panose="02020603050405020304" pitchFamily="18" charset="0"/>
              </a:rPr>
              <a:t>Normalizatsiya yoki standartizatsiya → chiziqli transformatsiya</a:t>
            </a:r>
            <a:endParaRPr lang="ru-RU" sz="2000" dirty="0">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212B7A7B-C6DD-7FD2-CF31-CC8451D3BBC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999371" y="2627835"/>
            <a:ext cx="5587432" cy="1033799"/>
          </a:xfrm>
          <a:prstGeom prst="rect">
            <a:avLst/>
          </a:prstGeom>
          <a:ln>
            <a:solidFill>
              <a:schemeClr val="tx1"/>
            </a:solidFill>
          </a:ln>
        </p:spPr>
      </p:pic>
      <p:sp>
        <p:nvSpPr>
          <p:cNvPr id="12" name="TextBox 11">
            <a:extLst>
              <a:ext uri="{FF2B5EF4-FFF2-40B4-BE49-F238E27FC236}">
                <a16:creationId xmlns:a16="http://schemas.microsoft.com/office/drawing/2014/main" id="{4CF45D44-2F23-EDD6-E11C-8AABB152CF46}"/>
              </a:ext>
            </a:extLst>
          </p:cNvPr>
          <p:cNvSpPr txBox="1"/>
          <p:nvPr/>
        </p:nvSpPr>
        <p:spPr>
          <a:xfrm>
            <a:off x="812548" y="4068065"/>
            <a:ext cx="6097508" cy="461665"/>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Misol 1: Feature scaling</a:t>
            </a:r>
            <a:endParaRPr lang="ru-RU" sz="2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B2937E8-2683-7D13-2A46-9150E3D1EA39}"/>
              </a:ext>
            </a:extLst>
          </p:cNvPr>
          <p:cNvSpPr txBox="1"/>
          <p:nvPr/>
        </p:nvSpPr>
        <p:spPr>
          <a:xfrm>
            <a:off x="812548" y="4672106"/>
            <a:ext cx="6097508" cy="1200329"/>
          </a:xfrm>
          <a:prstGeom prst="rect">
            <a:avLst/>
          </a:prstGeom>
          <a:noFill/>
        </p:spPr>
        <p:txBody>
          <a:bodyPr wrap="square">
            <a:spAutoFit/>
          </a:bodyPr>
          <a:lstStyle/>
          <a:p>
            <a:pPr>
              <a:buNone/>
            </a:pPr>
            <a:r>
              <a:rPr lang="tr-TR" sz="2400" dirty="0">
                <a:latin typeface="Times New Roman" panose="02020603050405020304" pitchFamily="18" charset="0"/>
                <a:cs typeface="Times New Roman" panose="02020603050405020304" pitchFamily="18" charset="0"/>
              </a:rPr>
              <a:t>Talaba yoshi: [18, 20, 22]</a:t>
            </a:r>
          </a:p>
          <a:p>
            <a:pPr marL="285750" indent="-285750">
              <a:buFont typeface="Wingdings" panose="05000000000000000000" pitchFamily="2" charset="2"/>
              <a:buChar char="§"/>
            </a:pPr>
            <a:r>
              <a:rPr lang="tr-TR" sz="2400" dirty="0">
                <a:latin typeface="Times New Roman" panose="02020603050405020304" pitchFamily="18" charset="0"/>
                <a:cs typeface="Times New Roman" panose="02020603050405020304" pitchFamily="18" charset="0"/>
              </a:rPr>
              <a:t>O‘rtacha yosh: 20</a:t>
            </a:r>
          </a:p>
          <a:p>
            <a:pPr marL="285750" indent="-285750">
              <a:buFont typeface="Wingdings" panose="05000000000000000000" pitchFamily="2" charset="2"/>
              <a:buChar char="§"/>
            </a:pPr>
            <a:r>
              <a:rPr lang="tr-TR" sz="2400" dirty="0">
                <a:latin typeface="Times New Roman" panose="02020603050405020304" pitchFamily="18" charset="0"/>
                <a:cs typeface="Times New Roman" panose="02020603050405020304" pitchFamily="18" charset="0"/>
              </a:rPr>
              <a:t>Standart deviation: 2</a:t>
            </a:r>
          </a:p>
        </p:txBody>
      </p:sp>
      <p:pic>
        <p:nvPicPr>
          <p:cNvPr id="16" name="Рисунок 15">
            <a:extLst>
              <a:ext uri="{FF2B5EF4-FFF2-40B4-BE49-F238E27FC236}">
                <a16:creationId xmlns:a16="http://schemas.microsoft.com/office/drawing/2014/main" id="{D5E99356-57D9-676F-671D-81D80F54FA44}"/>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5259094" y="4529731"/>
            <a:ext cx="2952400" cy="1254770"/>
          </a:xfrm>
          <a:prstGeom prst="rect">
            <a:avLst/>
          </a:prstGeom>
          <a:ln>
            <a:solidFill>
              <a:schemeClr val="tx1"/>
            </a:solidFill>
          </a:ln>
        </p:spPr>
      </p:pic>
      <p:sp>
        <p:nvSpPr>
          <p:cNvPr id="18" name="TextBox 17">
            <a:extLst>
              <a:ext uri="{FF2B5EF4-FFF2-40B4-BE49-F238E27FC236}">
                <a16:creationId xmlns:a16="http://schemas.microsoft.com/office/drawing/2014/main" id="{ABDF4E2A-1678-B643-D9CA-B9D4AE909FA7}"/>
              </a:ext>
            </a:extLst>
          </p:cNvPr>
          <p:cNvSpPr txBox="1"/>
          <p:nvPr/>
        </p:nvSpPr>
        <p:spPr>
          <a:xfrm>
            <a:off x="7747502" y="6046846"/>
            <a:ext cx="3324886" cy="461665"/>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Natija: [-1, 0, 1]</a:t>
            </a:r>
            <a:endParaRPr lang="ru-RU" sz="24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501971B-842D-68A3-9797-1FF90956C165}"/>
              </a:ext>
            </a:extLst>
          </p:cNvPr>
          <p:cNvSpPr txBox="1"/>
          <p:nvPr/>
        </p:nvSpPr>
        <p:spPr>
          <a:xfrm>
            <a:off x="7933745" y="2768252"/>
            <a:ext cx="2952400" cy="707886"/>
          </a:xfrm>
          <a:prstGeom prst="rect">
            <a:avLst/>
          </a:prstGeom>
          <a:noFill/>
        </p:spPr>
        <p:txBody>
          <a:bodyPr wrap="square">
            <a:spAutoFit/>
          </a:bodyPr>
          <a:lstStyle/>
          <a:p>
            <a:pPr marL="285750" indent="-285750">
              <a:buFont typeface="Wingdings" panose="05000000000000000000" pitchFamily="2" charset="2"/>
              <a:buChar char="§"/>
            </a:pPr>
            <a:r>
              <a:rPr lang="tr-TR" sz="2000" dirty="0">
                <a:latin typeface="Times New Roman" panose="02020603050405020304" pitchFamily="18" charset="0"/>
                <a:cs typeface="Times New Roman" panose="02020603050405020304" pitchFamily="18" charset="0"/>
              </a:rPr>
              <a:t>µ </a:t>
            </a:r>
            <a:r>
              <a:rPr lang="en-US" sz="2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O‘rtacha </a:t>
            </a:r>
            <a:r>
              <a:rPr lang="en-US" sz="2000" dirty="0" err="1">
                <a:latin typeface="Times New Roman" panose="02020603050405020304" pitchFamily="18" charset="0"/>
                <a:cs typeface="Times New Roman" panose="02020603050405020304" pitchFamily="18" charset="0"/>
              </a:rPr>
              <a:t>qiymat</a:t>
            </a:r>
            <a:r>
              <a:rPr lang="en-US" sz="2000" dirty="0">
                <a:latin typeface="Times New Roman" panose="02020603050405020304" pitchFamily="18" charset="0"/>
                <a:cs typeface="Times New Roman" panose="02020603050405020304" pitchFamily="18" charset="0"/>
              </a:rPr>
              <a:t>   </a:t>
            </a:r>
            <a:endParaRPr lang="tr-TR"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l-GR" sz="2000" dirty="0">
                <a:latin typeface="Times New Roman" panose="02020603050405020304" pitchFamily="18" charset="0"/>
                <a:cs typeface="Times New Roman" panose="02020603050405020304" pitchFamily="18" charset="0"/>
              </a:rPr>
              <a:t>σ</a:t>
            </a:r>
            <a:r>
              <a:rPr lang="en-US" sz="2000" dirty="0">
                <a:latin typeface="Times New Roman" panose="02020603050405020304" pitchFamily="18" charset="0"/>
                <a:cs typeface="Times New Roman" panose="02020603050405020304" pitchFamily="18" charset="0"/>
              </a:rPr>
              <a:t> - </a:t>
            </a:r>
            <a:r>
              <a:rPr lang="tr-TR" sz="2000" dirty="0">
                <a:latin typeface="Times New Roman" panose="02020603050405020304" pitchFamily="18" charset="0"/>
                <a:cs typeface="Times New Roman" panose="02020603050405020304" pitchFamily="18" charset="0"/>
              </a:rPr>
              <a:t>Standart </a:t>
            </a:r>
            <a:r>
              <a:rPr lang="en-US" sz="2000" dirty="0" err="1">
                <a:latin typeface="Times New Roman" panose="02020603050405020304" pitchFamily="18" charset="0"/>
                <a:cs typeface="Times New Roman" panose="02020603050405020304" pitchFamily="18" charset="0"/>
              </a:rPr>
              <a:t>og’ish</a:t>
            </a:r>
            <a:r>
              <a:rPr lang="en-US" sz="2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endParaRPr lang="tr-T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458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1DF2FE-7FB1-C83E-8389-887B7B932C89}"/>
              </a:ext>
            </a:extLst>
          </p:cNvPr>
          <p:cNvSpPr txBox="1"/>
          <p:nvPr/>
        </p:nvSpPr>
        <p:spPr>
          <a:xfrm>
            <a:off x="722012" y="349489"/>
            <a:ext cx="8322399"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CHIZIQLI TRANSFORMATSIYA</a:t>
            </a:r>
            <a:endParaRPr lang="ru-RU"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FD2C04E-9AC6-CE0A-F093-8A40C518847E}"/>
              </a:ext>
            </a:extLst>
          </p:cNvPr>
          <p:cNvSpPr txBox="1"/>
          <p:nvPr/>
        </p:nvSpPr>
        <p:spPr>
          <a:xfrm>
            <a:off x="722012" y="1182408"/>
            <a:ext cx="6097508" cy="461665"/>
          </a:xfrm>
          <a:prstGeom prst="rect">
            <a:avLst/>
          </a:prstGeom>
          <a:noFill/>
        </p:spPr>
        <p:txBody>
          <a:bodyPr wrap="square">
            <a:spAutoFit/>
          </a:bodyPr>
          <a:lstStyle/>
          <a:p>
            <a:r>
              <a:rPr lang="en-US" sz="2400" b="1" dirty="0">
                <a:solidFill>
                  <a:srgbClr val="FFC000"/>
                </a:solidFill>
                <a:latin typeface="Times New Roman" panose="02020603050405020304" pitchFamily="18" charset="0"/>
                <a:cs typeface="Times New Roman" panose="02020603050405020304" pitchFamily="18" charset="0"/>
              </a:rPr>
              <a:t>2. </a:t>
            </a:r>
            <a:r>
              <a:rPr lang="tr-TR" sz="2400" b="1" dirty="0">
                <a:solidFill>
                  <a:srgbClr val="FFC000"/>
                </a:solidFill>
                <a:latin typeface="Times New Roman" panose="02020603050405020304" pitchFamily="18" charset="0"/>
                <a:cs typeface="Times New Roman" panose="02020603050405020304" pitchFamily="18" charset="0"/>
              </a:rPr>
              <a:t>Bosh komponentlar tahlili </a:t>
            </a:r>
            <a:r>
              <a:rPr lang="en-US" sz="2400" b="1" dirty="0">
                <a:solidFill>
                  <a:srgbClr val="FFC000"/>
                </a:solidFill>
                <a:latin typeface="Times New Roman" panose="02020603050405020304" pitchFamily="18" charset="0"/>
                <a:cs typeface="Times New Roman" panose="02020603050405020304" pitchFamily="18" charset="0"/>
              </a:rPr>
              <a:t>(</a:t>
            </a:r>
            <a:r>
              <a:rPr lang="tr-TR" sz="2400" b="1" dirty="0">
                <a:solidFill>
                  <a:srgbClr val="FFC000"/>
                </a:solidFill>
                <a:latin typeface="Times New Roman" panose="02020603050405020304" pitchFamily="18" charset="0"/>
                <a:cs typeface="Times New Roman" panose="02020603050405020304" pitchFamily="18" charset="0"/>
              </a:rPr>
              <a:t>PCA</a:t>
            </a:r>
            <a:r>
              <a:rPr lang="en-US" sz="2400" b="1" dirty="0">
                <a:solidFill>
                  <a:srgbClr val="FFC000"/>
                </a:solidFill>
                <a:latin typeface="Times New Roman" panose="02020603050405020304" pitchFamily="18" charset="0"/>
                <a:cs typeface="Times New Roman" panose="02020603050405020304" pitchFamily="18" charset="0"/>
              </a:rPr>
              <a:t>)</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35D83542-DB05-CE0B-C136-E59F714D9C11}"/>
              </a:ext>
            </a:extLst>
          </p:cNvPr>
          <p:cNvSpPr>
            <a:spLocks noChangeArrowheads="1"/>
          </p:cNvSpPr>
          <p:nvPr/>
        </p:nvSpPr>
        <p:spPr bwMode="auto">
          <a:xfrm>
            <a:off x="1130926" y="1705628"/>
            <a:ext cx="1106107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Wingdings" panose="05000000000000000000" pitchFamily="2" charset="2"/>
              <a:buChar char="§"/>
            </a:pPr>
            <a:r>
              <a:rPr lang="tr-TR" sz="2000" dirty="0">
                <a:solidFill>
                  <a:srgbClr val="FFC000"/>
                </a:solidFill>
                <a:latin typeface="Times New Roman" panose="02020603050405020304" pitchFamily="18" charset="0"/>
                <a:cs typeface="Times New Roman" panose="02020603050405020304" pitchFamily="18" charset="0"/>
              </a:rPr>
              <a:t>PCA</a:t>
            </a:r>
            <a:r>
              <a:rPr lang="tr-TR" sz="2000" dirty="0">
                <a:latin typeface="Times New Roman" panose="02020603050405020304" pitchFamily="18" charset="0"/>
                <a:cs typeface="Times New Roman" panose="02020603050405020304" pitchFamily="18" charset="0"/>
              </a:rPr>
              <a:t> — bu ma'lumotlar to'plamining o'lchamdorligini kamaytirish (Dimensionality reduction) uchun ishlatiladigan kuchli usul.</a:t>
            </a:r>
            <a:endParaRPr lang="ru-RU" altLang="ru-RU" sz="2000" dirty="0">
              <a:latin typeface="Times New Roman" panose="02020603050405020304" pitchFamily="18" charset="0"/>
              <a:cs typeface="Times New Roman" panose="02020603050405020304" pitchFamily="18" charset="0"/>
            </a:endParaRPr>
          </a:p>
        </p:txBody>
      </p:sp>
      <p:sp>
        <p:nvSpPr>
          <p:cNvPr id="12" name="Rectangle 2">
            <a:extLst>
              <a:ext uri="{FF2B5EF4-FFF2-40B4-BE49-F238E27FC236}">
                <a16:creationId xmlns:a16="http://schemas.microsoft.com/office/drawing/2014/main" id="{656B4B84-6961-6FE7-1F24-F34143B3D1AF}"/>
              </a:ext>
            </a:extLst>
          </p:cNvPr>
          <p:cNvSpPr>
            <a:spLocks noChangeArrowheads="1"/>
          </p:cNvSpPr>
          <p:nvPr/>
        </p:nvSpPr>
        <p:spPr bwMode="auto">
          <a:xfrm>
            <a:off x="1068914" y="2252524"/>
            <a:ext cx="11123086" cy="2352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lang="ru-RU" altLang="ru-RU" sz="2000" dirty="0" err="1">
                <a:solidFill>
                  <a:srgbClr val="FFC000"/>
                </a:solidFill>
                <a:latin typeface="Times New Roman" panose="02020603050405020304" pitchFamily="18" charset="0"/>
                <a:cs typeface="Times New Roman" panose="02020603050405020304" pitchFamily="18" charset="0"/>
              </a:rPr>
              <a:t>Transformatsiya</a:t>
            </a:r>
            <a:r>
              <a:rPr lang="ru-RU" altLang="ru-RU" sz="2000" dirty="0">
                <a:solidFill>
                  <a:srgbClr val="FFC000"/>
                </a:solidFill>
                <a:latin typeface="Times New Roman" panose="02020603050405020304" pitchFamily="18" charset="0"/>
                <a:cs typeface="Times New Roman" panose="02020603050405020304" pitchFamily="18" charset="0"/>
              </a:rPr>
              <a:t> </a:t>
            </a:r>
            <a:r>
              <a:rPr lang="ru-RU" altLang="ru-RU" sz="2000" dirty="0" err="1">
                <a:solidFill>
                  <a:srgbClr val="FFC000"/>
                </a:solidFill>
                <a:latin typeface="Times New Roman" panose="02020603050405020304" pitchFamily="18" charset="0"/>
                <a:cs typeface="Times New Roman" panose="02020603050405020304" pitchFamily="18" charset="0"/>
              </a:rPr>
              <a:t>vazifasi</a:t>
            </a:r>
            <a:r>
              <a:rPr lang="en-US" altLang="ru-RU" sz="2000" dirty="0">
                <a:solidFill>
                  <a:srgbClr val="FFC000"/>
                </a:solidFill>
                <a:latin typeface="Times New Roman" panose="02020603050405020304" pitchFamily="18" charset="0"/>
                <a:cs typeface="Times New Roman" panose="02020603050405020304" pitchFamily="18" charset="0"/>
              </a:rPr>
              <a:t> </a:t>
            </a:r>
            <a:r>
              <a:rPr lang="en-US"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PCA'da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biz</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ma'lumotlarimizni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shunday</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yangi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koordinatalar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tizimiga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aylantiramiz</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rotatsiya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qilamizki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birinchi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o'q</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bosh</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komponent</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ma'lumotlardagi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eng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katta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dispersiyani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o'zgarishni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o'z</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ichiga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oladi</a:t>
            </a:r>
            <a:r>
              <a:rPr lang="ru-RU" altLang="ru-RU" sz="2000" dirty="0">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lang="ru-RU" altLang="ru-RU" sz="2000" dirty="0" err="1">
                <a:solidFill>
                  <a:srgbClr val="FFC000"/>
                </a:solidFill>
                <a:latin typeface="Times New Roman" panose="02020603050405020304" pitchFamily="18" charset="0"/>
                <a:cs typeface="Times New Roman" panose="02020603050405020304" pitchFamily="18" charset="0"/>
              </a:rPr>
              <a:t>Matritsaning</a:t>
            </a:r>
            <a:r>
              <a:rPr lang="ru-RU" altLang="ru-RU" sz="2000" dirty="0">
                <a:solidFill>
                  <a:srgbClr val="FFC000"/>
                </a:solidFill>
                <a:latin typeface="Times New Roman" panose="02020603050405020304" pitchFamily="18" charset="0"/>
                <a:cs typeface="Times New Roman" panose="02020603050405020304" pitchFamily="18" charset="0"/>
              </a:rPr>
              <a:t> </a:t>
            </a:r>
            <a:r>
              <a:rPr lang="ru-RU" altLang="ru-RU" sz="2000" dirty="0" err="1">
                <a:solidFill>
                  <a:srgbClr val="FFC000"/>
                </a:solidFill>
                <a:latin typeface="Times New Roman" panose="02020603050405020304" pitchFamily="18" charset="0"/>
                <a:cs typeface="Times New Roman" panose="02020603050405020304" pitchFamily="18" charset="0"/>
              </a:rPr>
              <a:t>rol</a:t>
            </a:r>
            <a:r>
              <a:rPr lang="en-US" altLang="ru-RU" sz="2000" dirty="0" err="1">
                <a:solidFill>
                  <a:srgbClr val="FFC000"/>
                </a:solidFill>
                <a:latin typeface="Times New Roman" panose="02020603050405020304" pitchFamily="18" charset="0"/>
                <a:cs typeface="Times New Roman" panose="02020603050405020304" pitchFamily="18" charset="0"/>
              </a:rPr>
              <a:t>i</a:t>
            </a:r>
            <a:r>
              <a:rPr lang="en-US" altLang="ru-RU" sz="2000" dirty="0">
                <a:solidFill>
                  <a:srgbClr val="FFC000"/>
                </a:solidFill>
                <a:latin typeface="Times New Roman" panose="02020603050405020304" pitchFamily="18" charset="0"/>
                <a:cs typeface="Times New Roman" panose="02020603050405020304" pitchFamily="18" charset="0"/>
              </a:rPr>
              <a:t> </a:t>
            </a:r>
            <a:r>
              <a:rPr lang="en-US"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Bu</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aylantirish</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rotatsiya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asl</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ma'lumotlar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matritsasini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transformatsiya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matritsasi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bilan</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ko'paytirish</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orqali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amalga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oshiriladi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bu</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esa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sof</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chiziqli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transformatsiya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hisoblanadi</a:t>
            </a:r>
            <a:r>
              <a:rPr lang="ru-RU" altLang="ru-RU" sz="2000" dirty="0">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BBA00528-DD00-E667-9761-7C7B1A08532B}"/>
              </a:ext>
            </a:extLst>
          </p:cNvPr>
          <p:cNvSpPr txBox="1"/>
          <p:nvPr/>
        </p:nvSpPr>
        <p:spPr>
          <a:xfrm>
            <a:off x="1068914" y="4723407"/>
            <a:ext cx="10905564" cy="1785104"/>
          </a:xfrm>
          <a:prstGeom prst="rect">
            <a:avLst/>
          </a:prstGeom>
          <a:noFill/>
        </p:spPr>
        <p:txBody>
          <a:bodyPr wrap="square">
            <a:spAutoFit/>
          </a:bodyPr>
          <a:lstStyle/>
          <a:p>
            <a:pPr>
              <a:buNone/>
            </a:pPr>
            <a:r>
              <a:rPr lang="en-US" sz="2200" dirty="0" err="1">
                <a:latin typeface="Times New Roman" panose="02020603050405020304" pitchFamily="18" charset="0"/>
                <a:cs typeface="Times New Roman" panose="02020603050405020304" pitchFamily="18" charset="0"/>
              </a:rPr>
              <a:t>Misol</a:t>
            </a:r>
            <a:r>
              <a:rPr lang="en-US" sz="2200" dirty="0">
                <a:latin typeface="Times New Roman" panose="02020603050405020304" pitchFamily="18" charset="0"/>
                <a:cs typeface="Times New Roman" panose="02020603050405020304" pitchFamily="18" charset="0"/>
              </a:rPr>
              <a:t> 2: PCA Data science da</a:t>
            </a:r>
          </a:p>
          <a:p>
            <a:pPr>
              <a:buNone/>
            </a:pPr>
            <a:r>
              <a:rPr lang="tr-TR" sz="2200" dirty="0">
                <a:latin typeface="Times New Roman" panose="02020603050405020304" pitchFamily="18" charset="0"/>
                <a:cs typeface="Times New Roman" panose="02020603050405020304" pitchFamily="18" charset="0"/>
              </a:rPr>
              <a:t>Dataset: 1000 ta uy, 10 ta xususiyat (1000×10 matritsa)</a:t>
            </a:r>
          </a:p>
          <a:p>
            <a:pPr marL="342900" indent="-342900">
              <a:buFont typeface="Wingdings" panose="05000000000000000000" pitchFamily="2" charset="2"/>
              <a:buChar char="§"/>
            </a:pPr>
            <a:r>
              <a:rPr lang="tr-TR" sz="2200" dirty="0">
                <a:latin typeface="Times New Roman" panose="02020603050405020304" pitchFamily="18" charset="0"/>
                <a:cs typeface="Times New Roman" panose="02020603050405020304" pitchFamily="18" charset="0"/>
              </a:rPr>
              <a:t>PCA yordamida linear transformatsiya → 3 ta asosiy komponenta (1000×3 matritsa)</a:t>
            </a:r>
          </a:p>
          <a:p>
            <a:pPr marL="342900" indent="-342900">
              <a:buFont typeface="Wingdings" panose="05000000000000000000" pitchFamily="2" charset="2"/>
              <a:buChar char="§"/>
            </a:pPr>
            <a:r>
              <a:rPr lang="tr-TR" sz="2200" dirty="0">
                <a:latin typeface="Times New Roman" panose="02020603050405020304" pitchFamily="18" charset="0"/>
                <a:cs typeface="Times New Roman" panose="02020603050405020304" pitchFamily="18" charset="0"/>
              </a:rPr>
              <a:t>Ma’lumotning aksariyat informatsiyasi saqlanadi</a:t>
            </a:r>
          </a:p>
          <a:p>
            <a:pPr marL="342900" indent="-342900">
              <a:buFont typeface="Wingdings" panose="05000000000000000000" pitchFamily="2" charset="2"/>
              <a:buChar char="§"/>
            </a:pPr>
            <a:r>
              <a:rPr lang="tr-TR" sz="2200" dirty="0">
                <a:latin typeface="Times New Roman" panose="02020603050405020304" pitchFamily="18" charset="0"/>
                <a:cs typeface="Times New Roman" panose="02020603050405020304" pitchFamily="18" charset="0"/>
              </a:rPr>
              <a:t>Hisoblash osonroq va model tezroq ishlaydi</a:t>
            </a:r>
          </a:p>
        </p:txBody>
      </p:sp>
    </p:spTree>
    <p:extLst>
      <p:ext uri="{BB962C8B-B14F-4D97-AF65-F5344CB8AC3E}">
        <p14:creationId xmlns:p14="http://schemas.microsoft.com/office/powerpoint/2010/main" val="952983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657E12-2AE6-CD85-173F-65525D6C660A}"/>
              </a:ext>
            </a:extLst>
          </p:cNvPr>
          <p:cNvSpPr txBox="1"/>
          <p:nvPr/>
        </p:nvSpPr>
        <p:spPr>
          <a:xfrm>
            <a:off x="722012" y="349489"/>
            <a:ext cx="8322399"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CHIZIQLI TRANSFORMATSIYA</a:t>
            </a:r>
            <a:endParaRPr lang="ru-RU"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D34070C-2352-7134-FEA5-C8B131F0D625}"/>
              </a:ext>
            </a:extLst>
          </p:cNvPr>
          <p:cNvSpPr txBox="1"/>
          <p:nvPr/>
        </p:nvSpPr>
        <p:spPr>
          <a:xfrm>
            <a:off x="722012" y="1070301"/>
            <a:ext cx="6097554"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Chiziqli Regressiya (Linear Regression)</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6A4CCB8-8557-1CD0-885D-FF57C1F0E0CE}"/>
              </a:ext>
            </a:extLst>
          </p:cNvPr>
          <p:cNvSpPr>
            <a:spLocks noChangeArrowheads="1"/>
          </p:cNvSpPr>
          <p:nvPr/>
        </p:nvSpPr>
        <p:spPr bwMode="auto">
          <a:xfrm rot="10800000" flipV="1">
            <a:off x="722012" y="1515789"/>
            <a:ext cx="1077200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sz="2000" dirty="0" err="1">
                <a:latin typeface="Times New Roman" panose="02020603050405020304" pitchFamily="18" charset="0"/>
                <a:cs typeface="Times New Roman" panose="02020603050405020304" pitchFamily="18" charset="0"/>
              </a:rPr>
              <a:t>Chiziqli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regressiya</a:t>
            </a:r>
            <a:r>
              <a:rPr lang="ru-RU" altLang="ru-RU" sz="2000" dirty="0">
                <a:latin typeface="Times New Roman" panose="02020603050405020304" pitchFamily="18" charset="0"/>
                <a:cs typeface="Times New Roman" panose="02020603050405020304" pitchFamily="18" charset="0"/>
              </a:rPr>
              <a:t> — </a:t>
            </a:r>
            <a:r>
              <a:rPr lang="ru-RU" altLang="ru-RU" sz="2000" dirty="0" err="1">
                <a:latin typeface="Times New Roman" panose="02020603050405020304" pitchFamily="18" charset="0"/>
                <a:cs typeface="Times New Roman" panose="02020603050405020304" pitchFamily="18" charset="0"/>
              </a:rPr>
              <a:t>bu</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bashoratli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model</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bo'lib</a:t>
            </a:r>
            <a:r>
              <a:rPr lang="ru-RU" altLang="ru-RU" sz="2000" dirty="0">
                <a:latin typeface="Times New Roman" panose="02020603050405020304" pitchFamily="18" charset="0"/>
                <a:cs typeface="Times New Roman" panose="02020603050405020304" pitchFamily="18" charset="0"/>
              </a:rPr>
              <a:t>, u </a:t>
            </a:r>
            <a:r>
              <a:rPr lang="ru-RU" altLang="ru-RU" sz="2000" dirty="0" err="1">
                <a:latin typeface="Times New Roman" panose="02020603050405020304" pitchFamily="18" charset="0"/>
                <a:cs typeface="Times New Roman" panose="02020603050405020304" pitchFamily="18" charset="0"/>
              </a:rPr>
              <a:t>chiqish</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qiymatini</a:t>
            </a:r>
            <a:r>
              <a:rPr lang="ru-RU" altLang="ru-RU" sz="2000" dirty="0">
                <a:latin typeface="Times New Roman" panose="02020603050405020304" pitchFamily="18" charset="0"/>
                <a:cs typeface="Times New Roman" panose="02020603050405020304" pitchFamily="18" charset="0"/>
              </a:rPr>
              <a:t> (y </a:t>
            </a:r>
            <a:r>
              <a:rPr lang="en-US"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kirish</a:t>
            </a:r>
            <a:r>
              <a:rPr lang="en-US" altLang="ru-RU" sz="2000" dirty="0">
                <a:latin typeface="Times New Roman" panose="02020603050405020304" pitchFamily="18" charset="0"/>
                <a:cs typeface="Times New Roman" panose="02020603050405020304" pitchFamily="18" charset="0"/>
              </a:rPr>
              <a:t> (x)</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xususiyatlarining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chiziqli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kombinatsiyasi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orqali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topadi</a:t>
            </a:r>
            <a:r>
              <a:rPr lang="ru-RU" altLang="ru-RU" sz="2000" dirty="0">
                <a:latin typeface="Times New Roman" panose="02020603050405020304" pitchFamily="18" charset="0"/>
                <a:cs typeface="Times New Roman" panose="02020603050405020304" pitchFamily="18" charset="0"/>
              </a:rPr>
              <a:t>.</a:t>
            </a:r>
          </a:p>
        </p:txBody>
      </p:sp>
      <p:pic>
        <p:nvPicPr>
          <p:cNvPr id="7" name="Рисунок 6">
            <a:extLst>
              <a:ext uri="{FF2B5EF4-FFF2-40B4-BE49-F238E27FC236}">
                <a16:creationId xmlns:a16="http://schemas.microsoft.com/office/drawing/2014/main" id="{5188698C-D2A2-83F6-16D9-F7021B7B779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722012" y="2239853"/>
            <a:ext cx="10393225" cy="2686425"/>
          </a:xfrm>
          <a:prstGeom prst="rect">
            <a:avLst/>
          </a:prstGeom>
        </p:spPr>
      </p:pic>
      <p:pic>
        <p:nvPicPr>
          <p:cNvPr id="9" name="Рисунок 8">
            <a:extLst>
              <a:ext uri="{FF2B5EF4-FFF2-40B4-BE49-F238E27FC236}">
                <a16:creationId xmlns:a16="http://schemas.microsoft.com/office/drawing/2014/main" id="{C04815D7-74AB-2E49-E6D1-5E3802291EE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903894" y="4895576"/>
            <a:ext cx="9478698" cy="1962424"/>
          </a:xfrm>
          <a:prstGeom prst="rect">
            <a:avLst/>
          </a:prstGeom>
        </p:spPr>
      </p:pic>
    </p:spTree>
    <p:extLst>
      <p:ext uri="{BB962C8B-B14F-4D97-AF65-F5344CB8AC3E}">
        <p14:creationId xmlns:p14="http://schemas.microsoft.com/office/powerpoint/2010/main" val="2911959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DA92B4-56BB-9567-FA70-A8679C95B3F9}"/>
              </a:ext>
            </a:extLst>
          </p:cNvPr>
          <p:cNvSpPr txBox="1"/>
          <p:nvPr/>
        </p:nvSpPr>
        <p:spPr>
          <a:xfrm>
            <a:off x="776335" y="2705725"/>
            <a:ext cx="6097508" cy="1446550"/>
          </a:xfrm>
          <a:prstGeom prst="rect">
            <a:avLst/>
          </a:prstGeom>
          <a:noFill/>
        </p:spPr>
        <p:txBody>
          <a:bodyPr wrap="square">
            <a:spAutoFit/>
          </a:bodyPr>
          <a:lstStyle/>
          <a:p>
            <a:r>
              <a:rPr lang="en-US" sz="4400" b="1" dirty="0">
                <a:solidFill>
                  <a:srgbClr val="F0FCFF"/>
                </a:solidFill>
                <a:latin typeface="Times New Roman" panose="02020603050405020304" pitchFamily="18" charset="0"/>
                <a:ea typeface="Spline Sans Bold" pitchFamily="34" charset="-122"/>
                <a:cs typeface="Times New Roman" panose="02020603050405020304" pitchFamily="18" charset="0"/>
              </a:rPr>
              <a:t>DATA  SCIENCE UCHUN STATISTIKA</a:t>
            </a:r>
            <a:endParaRPr lang="ru-RU" sz="4400" dirty="0"/>
          </a:p>
        </p:txBody>
      </p:sp>
    </p:spTree>
    <p:extLst>
      <p:ext uri="{BB962C8B-B14F-4D97-AF65-F5344CB8AC3E}">
        <p14:creationId xmlns:p14="http://schemas.microsoft.com/office/powerpoint/2010/main" val="2676969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A7B8D6-0D19-12EB-6F28-735DA439AC88}"/>
              </a:ext>
            </a:extLst>
          </p:cNvPr>
          <p:cNvSpPr txBox="1"/>
          <p:nvPr/>
        </p:nvSpPr>
        <p:spPr>
          <a:xfrm>
            <a:off x="586212" y="313274"/>
            <a:ext cx="6097508" cy="646331"/>
          </a:xfrm>
          <a:prstGeom prst="rect">
            <a:avLst/>
          </a:prstGeom>
          <a:noFill/>
        </p:spPr>
        <p:txBody>
          <a:bodyPr wrap="square">
            <a:spAutoFit/>
          </a:bodyPr>
          <a:lstStyle/>
          <a:p>
            <a:r>
              <a:rPr lang="en-US" sz="3600" b="1" dirty="0">
                <a:solidFill>
                  <a:srgbClr val="F0FCFF"/>
                </a:solidFill>
                <a:latin typeface="Times New Roman" panose="02020603050405020304" pitchFamily="18" charset="0"/>
                <a:ea typeface="Spline Sans Bold" pitchFamily="34" charset="-122"/>
                <a:cs typeface="Times New Roman" panose="02020603050405020304" pitchFamily="18" charset="0"/>
              </a:rPr>
              <a:t>STATISTIKA</a:t>
            </a:r>
            <a:endParaRPr lang="ru-RU" sz="3600" dirty="0"/>
          </a:p>
        </p:txBody>
      </p:sp>
      <p:sp>
        <p:nvSpPr>
          <p:cNvPr id="4" name="TextBox 3">
            <a:extLst>
              <a:ext uri="{FF2B5EF4-FFF2-40B4-BE49-F238E27FC236}">
                <a16:creationId xmlns:a16="http://schemas.microsoft.com/office/drawing/2014/main" id="{2E8A309C-1E8B-33A7-ACF8-9A3CECFA5B6F}"/>
              </a:ext>
            </a:extLst>
          </p:cNvPr>
          <p:cNvSpPr txBox="1"/>
          <p:nvPr/>
        </p:nvSpPr>
        <p:spPr>
          <a:xfrm>
            <a:off x="543865" y="1150727"/>
            <a:ext cx="6097508" cy="2795958"/>
          </a:xfrm>
          <a:prstGeom prst="rect">
            <a:avLst/>
          </a:prstGeom>
          <a:noFill/>
        </p:spPr>
        <p:txBody>
          <a:bodyPr wrap="square">
            <a:spAutoFit/>
          </a:bodyPr>
          <a:lstStyle/>
          <a:p>
            <a:pPr>
              <a:lnSpc>
                <a:spcPct val="150000"/>
              </a:lnSpc>
            </a:pPr>
            <a:r>
              <a:rPr lang="tr-TR" sz="2400" b="1" i="0" dirty="0">
                <a:solidFill>
                  <a:srgbClr val="FFC000"/>
                </a:solidFill>
                <a:effectLst/>
                <a:latin typeface="Times New Roman" panose="02020603050405020304" pitchFamily="18" charset="0"/>
                <a:cs typeface="Times New Roman" panose="02020603050405020304" pitchFamily="18" charset="0"/>
              </a:rPr>
              <a:t>Statistika </a:t>
            </a:r>
            <a:r>
              <a:rPr lang="tr-TR" sz="2400" b="0" i="0" dirty="0">
                <a:solidFill>
                  <a:srgbClr val="FFFFFF"/>
                </a:solidFill>
                <a:effectLst/>
                <a:latin typeface="Times New Roman" panose="02020603050405020304" pitchFamily="18" charset="0"/>
                <a:cs typeface="Times New Roman" panose="02020603050405020304" pitchFamily="18" charset="0"/>
              </a:rPr>
              <a:t>- bu naqshlarni aniqlash va qarorlar qabul qilish uchun ma'lumotlarni to'plash, tahlil qilish va talqin qilish fanidir. </a:t>
            </a:r>
            <a:r>
              <a:rPr lang="en-US" sz="2400" dirty="0">
                <a:solidFill>
                  <a:srgbClr val="FFFFFF"/>
                </a:solidFill>
                <a:latin typeface="Times New Roman" panose="02020603050405020304" pitchFamily="18" charset="0"/>
                <a:cs typeface="Times New Roman" panose="02020603050405020304" pitchFamily="18" charset="0"/>
              </a:rPr>
              <a:t>Data science </a:t>
            </a:r>
            <a:r>
              <a:rPr lang="tr-TR" sz="2400" b="0" i="0" dirty="0">
                <a:solidFill>
                  <a:srgbClr val="FFFFFF"/>
                </a:solidFill>
                <a:effectLst/>
                <a:latin typeface="Times New Roman" panose="02020603050405020304" pitchFamily="18" charset="0"/>
                <a:cs typeface="Times New Roman" panose="02020603050405020304" pitchFamily="18" charset="0"/>
              </a:rPr>
              <a:t>u ma'lumotlarni tushunish va ishonchli modellarni yaratish uchun asos bo'lib xizmat qiladi.</a:t>
            </a:r>
            <a:endParaRPr lang="ru-RU" sz="2400" dirty="0">
              <a:latin typeface="Times New Roman" panose="02020603050405020304" pitchFamily="18" charset="0"/>
              <a:cs typeface="Times New Roman" panose="02020603050405020304" pitchFamily="18" charset="0"/>
            </a:endParaRPr>
          </a:p>
        </p:txBody>
      </p:sp>
      <p:pic>
        <p:nvPicPr>
          <p:cNvPr id="6" name="Рисунок 5">
            <a:extLst>
              <a:ext uri="{FF2B5EF4-FFF2-40B4-BE49-F238E27FC236}">
                <a16:creationId xmlns:a16="http://schemas.microsoft.com/office/drawing/2014/main" id="{482B4805-E12A-42EF-3DE9-953334E77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3720" y="1196581"/>
            <a:ext cx="5395011" cy="2704249"/>
          </a:xfrm>
          <a:prstGeom prst="rect">
            <a:avLst/>
          </a:prstGeom>
        </p:spPr>
      </p:pic>
      <p:sp>
        <p:nvSpPr>
          <p:cNvPr id="8" name="TextBox 7">
            <a:extLst>
              <a:ext uri="{FF2B5EF4-FFF2-40B4-BE49-F238E27FC236}">
                <a16:creationId xmlns:a16="http://schemas.microsoft.com/office/drawing/2014/main" id="{54647F16-2F17-8BEA-6339-C481C7AA1767}"/>
              </a:ext>
            </a:extLst>
          </p:cNvPr>
          <p:cNvSpPr txBox="1"/>
          <p:nvPr/>
        </p:nvSpPr>
        <p:spPr>
          <a:xfrm>
            <a:off x="821977" y="4038218"/>
            <a:ext cx="10999207" cy="2631490"/>
          </a:xfrm>
          <a:prstGeom prst="rect">
            <a:avLst/>
          </a:prstGeom>
          <a:noFill/>
        </p:spPr>
        <p:txBody>
          <a:bodyPr wrap="square">
            <a:spAutoFit/>
          </a:bodyPr>
          <a:lstStyle/>
          <a:p>
            <a:pPr marL="342900" indent="-342900" algn="l" fontAlgn="base">
              <a:spcAft>
                <a:spcPts val="1800"/>
              </a:spcAft>
              <a:buFont typeface="Wingdings" panose="05000000000000000000" pitchFamily="2" charset="2"/>
              <a:buChar char="§"/>
            </a:pPr>
            <a:r>
              <a:rPr lang="tr-TR" sz="2400" b="0" i="0" dirty="0">
                <a:solidFill>
                  <a:srgbClr val="FFFFFF"/>
                </a:solidFill>
                <a:effectLst/>
                <a:latin typeface="Times New Roman" panose="02020603050405020304" pitchFamily="18" charset="0"/>
                <a:cs typeface="Times New Roman" panose="02020603050405020304" pitchFamily="18" charset="0"/>
              </a:rPr>
              <a:t>Oʻrtacha, median va dispersiya kabi koʻrsatkichlar yordamida maʼlumotlarni umumlashtiradi</a:t>
            </a:r>
          </a:p>
          <a:p>
            <a:pPr marL="342900" indent="-342900" algn="l" fontAlgn="base">
              <a:spcAft>
                <a:spcPts val="1800"/>
              </a:spcAft>
              <a:buFont typeface="Wingdings" panose="05000000000000000000" pitchFamily="2" charset="2"/>
              <a:buChar char="§"/>
            </a:pPr>
            <a:r>
              <a:rPr lang="tr-TR" sz="2400" b="0" i="0" dirty="0">
                <a:solidFill>
                  <a:srgbClr val="FFFFFF"/>
                </a:solidFill>
                <a:effectLst/>
                <a:latin typeface="Times New Roman" panose="02020603050405020304" pitchFamily="18" charset="0"/>
                <a:cs typeface="Times New Roman" panose="02020603050405020304" pitchFamily="18" charset="0"/>
              </a:rPr>
              <a:t>Noaniqlikni ehtimollik va taqsimot bilan modellashtiradi</a:t>
            </a:r>
          </a:p>
          <a:p>
            <a:pPr marL="342900" indent="-342900" algn="l" fontAlgn="base">
              <a:spcAft>
                <a:spcPts val="1800"/>
              </a:spcAft>
              <a:buFont typeface="Wingdings" panose="05000000000000000000" pitchFamily="2" charset="2"/>
              <a:buChar char="§"/>
            </a:pPr>
            <a:r>
              <a:rPr lang="tr-TR" sz="2400" b="0" i="0" dirty="0">
                <a:solidFill>
                  <a:srgbClr val="FFFFFF"/>
                </a:solidFill>
                <a:effectLst/>
                <a:latin typeface="Times New Roman" panose="02020603050405020304" pitchFamily="18" charset="0"/>
                <a:cs typeface="Times New Roman" panose="02020603050405020304" pitchFamily="18" charset="0"/>
              </a:rPr>
              <a:t>Gipotezalarni sinash (masalan, A/B testi)</a:t>
            </a:r>
          </a:p>
          <a:p>
            <a:pPr marL="342900" indent="-342900" algn="l" fontAlgn="base">
              <a:spcAft>
                <a:spcPts val="1800"/>
              </a:spcAft>
              <a:buFont typeface="Wingdings" panose="05000000000000000000" pitchFamily="2" charset="2"/>
              <a:buChar char="§"/>
            </a:pPr>
            <a:r>
              <a:rPr lang="tr-TR" sz="2400" b="0" i="0" dirty="0">
                <a:solidFill>
                  <a:srgbClr val="FFFFFF"/>
                </a:solidFill>
                <a:effectLst/>
                <a:latin typeface="Times New Roman" panose="02020603050405020304" pitchFamily="18" charset="0"/>
                <a:cs typeface="Times New Roman" panose="02020603050405020304" pitchFamily="18" charset="0"/>
              </a:rPr>
              <a:t>Regressiya va korrelyatsiya orqali munosabatlarni topadi</a:t>
            </a:r>
          </a:p>
        </p:txBody>
      </p:sp>
    </p:spTree>
    <p:extLst>
      <p:ext uri="{BB962C8B-B14F-4D97-AF65-F5344CB8AC3E}">
        <p14:creationId xmlns:p14="http://schemas.microsoft.com/office/powerpoint/2010/main" val="4292858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A3BDFF-E8D0-A84F-1266-0F9855ABC476}"/>
              </a:ext>
            </a:extLst>
          </p:cNvPr>
          <p:cNvSpPr txBox="1"/>
          <p:nvPr/>
        </p:nvSpPr>
        <p:spPr>
          <a:xfrm>
            <a:off x="586212" y="313274"/>
            <a:ext cx="6097508" cy="646331"/>
          </a:xfrm>
          <a:prstGeom prst="rect">
            <a:avLst/>
          </a:prstGeom>
          <a:noFill/>
        </p:spPr>
        <p:txBody>
          <a:bodyPr wrap="square">
            <a:spAutoFit/>
          </a:bodyPr>
          <a:lstStyle/>
          <a:p>
            <a:r>
              <a:rPr lang="en-US" sz="3600" b="1" dirty="0">
                <a:solidFill>
                  <a:srgbClr val="F0FCFF"/>
                </a:solidFill>
                <a:latin typeface="Times New Roman" panose="02020603050405020304" pitchFamily="18" charset="0"/>
                <a:ea typeface="Spline Sans Bold" pitchFamily="34" charset="-122"/>
                <a:cs typeface="Times New Roman" panose="02020603050405020304" pitchFamily="18" charset="0"/>
              </a:rPr>
              <a:t>STATISTIKA TURLARI</a:t>
            </a:r>
            <a:endParaRPr lang="ru-RU" sz="3600" dirty="0"/>
          </a:p>
        </p:txBody>
      </p:sp>
      <p:sp>
        <p:nvSpPr>
          <p:cNvPr id="4" name="TextBox 3">
            <a:extLst>
              <a:ext uri="{FF2B5EF4-FFF2-40B4-BE49-F238E27FC236}">
                <a16:creationId xmlns:a16="http://schemas.microsoft.com/office/drawing/2014/main" id="{4E204181-7C06-69D5-3D69-2472D80F3B53}"/>
              </a:ext>
            </a:extLst>
          </p:cNvPr>
          <p:cNvSpPr txBox="1"/>
          <p:nvPr/>
        </p:nvSpPr>
        <p:spPr>
          <a:xfrm>
            <a:off x="1029833" y="1367153"/>
            <a:ext cx="10902635" cy="4123693"/>
          </a:xfrm>
          <a:prstGeom prst="rect">
            <a:avLst/>
          </a:prstGeom>
          <a:noFill/>
        </p:spPr>
        <p:txBody>
          <a:bodyPr wrap="square">
            <a:spAutoFit/>
          </a:bodyPr>
          <a:lstStyle/>
          <a:p>
            <a:pPr algn="l" fontAlgn="base">
              <a:lnSpc>
                <a:spcPct val="150000"/>
              </a:lnSpc>
              <a:spcAft>
                <a:spcPts val="1800"/>
              </a:spcAft>
              <a:buFont typeface="+mj-lt"/>
              <a:buAutoNum type="arabicPeriod"/>
            </a:pPr>
            <a:r>
              <a:rPr lang="en-US" sz="2800" b="1" i="0" dirty="0">
                <a:effectLst/>
                <a:latin typeface="Times New Roman" panose="02020603050405020304" pitchFamily="18" charset="0"/>
                <a:cs typeface="Times New Roman" panose="02020603050405020304" pitchFamily="18" charset="0"/>
              </a:rPr>
              <a:t> </a:t>
            </a:r>
            <a:r>
              <a:rPr lang="tr-TR" sz="2800" b="1" i="0" dirty="0">
                <a:solidFill>
                  <a:srgbClr val="FFC000"/>
                </a:solidFill>
                <a:effectLst/>
                <a:latin typeface="Times New Roman" panose="02020603050405020304" pitchFamily="18" charset="0"/>
                <a:cs typeface="Times New Roman" panose="02020603050405020304" pitchFamily="18" charset="0"/>
              </a:rPr>
              <a:t>Ta'riflovchi statistik ma'lumotlar</a:t>
            </a:r>
            <a:r>
              <a:rPr lang="en-US" sz="2800" b="1" i="0" dirty="0">
                <a:solidFill>
                  <a:srgbClr val="FFC000"/>
                </a:solidFill>
                <a:effectLst/>
                <a:latin typeface="Times New Roman" panose="02020603050405020304" pitchFamily="18" charset="0"/>
                <a:cs typeface="Times New Roman" panose="02020603050405020304" pitchFamily="18" charset="0"/>
              </a:rPr>
              <a:t>.</a:t>
            </a:r>
            <a:r>
              <a:rPr lang="tr-TR" sz="2800" b="1" i="0" dirty="0">
                <a:solidFill>
                  <a:srgbClr val="FFC000"/>
                </a:solidFill>
                <a:effectLst/>
                <a:latin typeface="Times New Roman" panose="02020603050405020304" pitchFamily="18" charset="0"/>
                <a:cs typeface="Times New Roman" panose="02020603050405020304" pitchFamily="18" charset="0"/>
              </a:rPr>
              <a:t> </a:t>
            </a:r>
            <a:r>
              <a:rPr lang="tr-TR" sz="2800" b="0" i="0" u="sng"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Ta'riflovchi statistika</a:t>
            </a:r>
            <a:r>
              <a:rPr lang="tr-TR" sz="2800" b="0" i="0" dirty="0">
                <a:effectLst/>
                <a:latin typeface="Times New Roman" panose="02020603050405020304" pitchFamily="18" charset="0"/>
                <a:cs typeface="Times New Roman" panose="02020603050405020304" pitchFamily="18" charset="0"/>
              </a:rPr>
              <a:t> bizga ma'lumotlarning katta qismini soddalashtirish va tartibga solishga yordam beradi. Bu katta hajmdagi ma'lumotlarni tushunishni osonlashtiradi.</a:t>
            </a:r>
          </a:p>
          <a:p>
            <a:pPr algn="l" fontAlgn="base">
              <a:lnSpc>
                <a:spcPct val="150000"/>
              </a:lnSpc>
              <a:spcAft>
                <a:spcPts val="1800"/>
              </a:spcAft>
              <a:buFont typeface="+mj-lt"/>
              <a:buAutoNum type="arabicPeriod" startAt="2"/>
            </a:pPr>
            <a:r>
              <a:rPr lang="en-US" sz="2800" b="1" i="0" dirty="0">
                <a:effectLst/>
                <a:latin typeface="Times New Roman" panose="02020603050405020304" pitchFamily="18" charset="0"/>
                <a:cs typeface="Times New Roman" panose="02020603050405020304" pitchFamily="18" charset="0"/>
              </a:rPr>
              <a:t> </a:t>
            </a:r>
            <a:r>
              <a:rPr lang="tr-TR" sz="2800" b="1" i="0" dirty="0">
                <a:solidFill>
                  <a:srgbClr val="FFC000"/>
                </a:solidFill>
                <a:effectLst/>
                <a:latin typeface="Times New Roman" panose="02020603050405020304" pitchFamily="18" charset="0"/>
                <a:cs typeface="Times New Roman" panose="02020603050405020304" pitchFamily="18" charset="0"/>
              </a:rPr>
              <a:t>Inferensial statistika</a:t>
            </a:r>
            <a:r>
              <a:rPr lang="en-US" sz="2800" b="1" i="0" dirty="0">
                <a:solidFill>
                  <a:srgbClr val="FFC000"/>
                </a:solidFill>
                <a:effectLst/>
                <a:latin typeface="Times New Roman" panose="02020603050405020304" pitchFamily="18" charset="0"/>
                <a:cs typeface="Times New Roman" panose="02020603050405020304" pitchFamily="18" charset="0"/>
              </a:rPr>
              <a:t>.</a:t>
            </a:r>
            <a:r>
              <a:rPr lang="tr-TR" sz="2800" b="1" i="0" dirty="0">
                <a:solidFill>
                  <a:srgbClr val="FFC000"/>
                </a:solidFill>
                <a:effectLst/>
                <a:latin typeface="Times New Roman" panose="02020603050405020304" pitchFamily="18" charset="0"/>
                <a:cs typeface="Times New Roman" panose="02020603050405020304" pitchFamily="18" charset="0"/>
              </a:rPr>
              <a:t> </a:t>
            </a:r>
            <a:r>
              <a:rPr lang="tr-TR" sz="2800" b="0" i="0" u="sng"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Inferentsial statistika</a:t>
            </a:r>
            <a:r>
              <a:rPr lang="tr-TR" sz="2800" b="0" i="0" dirty="0">
                <a:effectLst/>
                <a:latin typeface="Times New Roman" panose="02020603050405020304" pitchFamily="18" charset="0"/>
                <a:cs typeface="Times New Roman" panose="02020603050405020304" pitchFamily="18" charset="0"/>
              </a:rPr>
              <a:t> biroz boshqacha. Kattaroq guruhni tuzish uchun kichikroq ma'lumotlardan foydalanadi. Bu bizga aholi haqida bashorat qilish va xulosalar chiqarishga yordam beradi.</a:t>
            </a:r>
          </a:p>
        </p:txBody>
      </p:sp>
    </p:spTree>
    <p:extLst>
      <p:ext uri="{BB962C8B-B14F-4D97-AF65-F5344CB8AC3E}">
        <p14:creationId xmlns:p14="http://schemas.microsoft.com/office/powerpoint/2010/main" val="1308410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6CE1A3-067A-1B03-A9B5-8D9D18CFC7F0}"/>
              </a:ext>
            </a:extLst>
          </p:cNvPr>
          <p:cNvSpPr txBox="1"/>
          <p:nvPr/>
        </p:nvSpPr>
        <p:spPr>
          <a:xfrm>
            <a:off x="658262" y="204632"/>
            <a:ext cx="10875475" cy="523220"/>
          </a:xfrm>
          <a:prstGeom prst="rect">
            <a:avLst/>
          </a:prstGeom>
          <a:noFill/>
        </p:spPr>
        <p:txBody>
          <a:bodyPr wrap="square">
            <a:spAutoFit/>
          </a:bodyPr>
          <a:lstStyle/>
          <a:p>
            <a:r>
              <a:rPr lang="en-US" sz="2800" b="1" dirty="0">
                <a:solidFill>
                  <a:srgbClr val="F0FCFF"/>
                </a:solidFill>
                <a:latin typeface="Times New Roman" panose="02020603050405020304" pitchFamily="18" charset="0"/>
                <a:ea typeface="Spline Sans Bold" pitchFamily="34" charset="-122"/>
                <a:cs typeface="Times New Roman" panose="02020603050405020304" pitchFamily="18" charset="0"/>
              </a:rPr>
              <a:t>STATISTIKA: MARKAZIY TENDENTSIYA KO’RSATKICHLARI</a:t>
            </a:r>
            <a:endParaRPr lang="ru-RU" sz="2800" dirty="0"/>
          </a:p>
        </p:txBody>
      </p:sp>
      <p:sp>
        <p:nvSpPr>
          <p:cNvPr id="3" name="TextBox 2">
            <a:extLst>
              <a:ext uri="{FF2B5EF4-FFF2-40B4-BE49-F238E27FC236}">
                <a16:creationId xmlns:a16="http://schemas.microsoft.com/office/drawing/2014/main" id="{E50AB9AB-5BEE-2BB8-E664-4459CF8783D6}"/>
              </a:ext>
            </a:extLst>
          </p:cNvPr>
          <p:cNvSpPr txBox="1"/>
          <p:nvPr/>
        </p:nvSpPr>
        <p:spPr>
          <a:xfrm>
            <a:off x="1808053" y="2206175"/>
            <a:ext cx="7100558" cy="461665"/>
          </a:xfrm>
          <a:prstGeom prst="rect">
            <a:avLst/>
          </a:prstGeom>
          <a:noFill/>
        </p:spPr>
        <p:txBody>
          <a:bodyPr wrap="square">
            <a:spAutoFit/>
          </a:bodyPr>
          <a:lstStyle/>
          <a:p>
            <a:pPr marL="457200" indent="-457200" algn="l" fontAlgn="base">
              <a:buFont typeface="Wingdings" panose="05000000000000000000" pitchFamily="2" charset="2"/>
              <a:buChar char="§"/>
            </a:pPr>
            <a:r>
              <a:rPr lang="tr-TR" sz="2400" b="1" i="0" dirty="0">
                <a:effectLst/>
                <a:latin typeface="Times New Roman" panose="02020603050405020304" pitchFamily="18" charset="0"/>
                <a:cs typeface="Times New Roman" panose="02020603050405020304" pitchFamily="18" charset="0"/>
              </a:rPr>
              <a:t>O'RTACHA</a:t>
            </a:r>
            <a:r>
              <a:rPr lang="en-US" sz="2400" b="1" i="0" dirty="0">
                <a:effectLst/>
                <a:latin typeface="Times New Roman" panose="02020603050405020304" pitchFamily="18" charset="0"/>
                <a:cs typeface="Times New Roman" panose="02020603050405020304" pitchFamily="18" charset="0"/>
              </a:rPr>
              <a:t> QIYMAT (MEAN)</a:t>
            </a:r>
            <a:endParaRPr lang="tr-TR" sz="2400" b="1" i="0" dirty="0">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EC70F6F-2960-3D5B-735C-EE41E29F9364}"/>
              </a:ext>
            </a:extLst>
          </p:cNvPr>
          <p:cNvSpPr txBox="1"/>
          <p:nvPr/>
        </p:nvSpPr>
        <p:spPr>
          <a:xfrm>
            <a:off x="1808053" y="2967334"/>
            <a:ext cx="7100558" cy="461665"/>
          </a:xfrm>
          <a:prstGeom prst="rect">
            <a:avLst/>
          </a:prstGeom>
          <a:noFill/>
        </p:spPr>
        <p:txBody>
          <a:bodyPr wrap="square">
            <a:spAutoFit/>
          </a:bodyPr>
          <a:lstStyle/>
          <a:p>
            <a:pPr marL="457200" indent="-457200" algn="l" fontAlgn="base">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MEDIAN QIYMAT</a:t>
            </a:r>
            <a:r>
              <a:rPr lang="en-US" sz="2400" b="1" i="0" dirty="0">
                <a:effectLst/>
                <a:latin typeface="Times New Roman" panose="02020603050405020304" pitchFamily="18" charset="0"/>
                <a:cs typeface="Times New Roman" panose="02020603050405020304" pitchFamily="18" charset="0"/>
              </a:rPr>
              <a:t>(MEDIAN)</a:t>
            </a:r>
          </a:p>
        </p:txBody>
      </p:sp>
      <p:sp>
        <p:nvSpPr>
          <p:cNvPr id="5" name="TextBox 4">
            <a:extLst>
              <a:ext uri="{FF2B5EF4-FFF2-40B4-BE49-F238E27FC236}">
                <a16:creationId xmlns:a16="http://schemas.microsoft.com/office/drawing/2014/main" id="{84D632F3-1191-5999-7524-F695069E5F44}"/>
              </a:ext>
            </a:extLst>
          </p:cNvPr>
          <p:cNvSpPr txBox="1"/>
          <p:nvPr/>
        </p:nvSpPr>
        <p:spPr>
          <a:xfrm>
            <a:off x="1808053" y="3649482"/>
            <a:ext cx="7100558" cy="461665"/>
          </a:xfrm>
          <a:prstGeom prst="rect">
            <a:avLst/>
          </a:prstGeom>
          <a:noFill/>
        </p:spPr>
        <p:txBody>
          <a:bodyPr wrap="square">
            <a:spAutoFit/>
          </a:bodyPr>
          <a:lstStyle/>
          <a:p>
            <a:pPr marL="457200" indent="-457200" algn="l" fontAlgn="base">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MODE(REJIM) QIYMAT</a:t>
            </a:r>
            <a:endParaRPr lang="en-US" sz="2400" b="1" i="0" dirty="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049FFFB-6129-ECE8-0F78-2BDAA52F24F8}"/>
              </a:ext>
            </a:extLst>
          </p:cNvPr>
          <p:cNvSpPr txBox="1"/>
          <p:nvPr/>
        </p:nvSpPr>
        <p:spPr>
          <a:xfrm>
            <a:off x="957026" y="1513180"/>
            <a:ext cx="6097508" cy="369332"/>
          </a:xfrm>
          <a:prstGeom prst="rect">
            <a:avLst/>
          </a:prstGeom>
          <a:noFill/>
        </p:spPr>
        <p:txBody>
          <a:bodyPr wrap="square">
            <a:spAutoFit/>
          </a:bodyPr>
          <a:lstStyle/>
          <a:p>
            <a:r>
              <a:rPr lang="en-US" sz="1800" b="1" dirty="0">
                <a:solidFill>
                  <a:srgbClr val="F0FCFF"/>
                </a:solidFill>
                <a:latin typeface="Times New Roman" panose="02020603050405020304" pitchFamily="18" charset="0"/>
                <a:ea typeface="Spline Sans Bold" pitchFamily="34" charset="-122"/>
                <a:cs typeface="Times New Roman" panose="02020603050405020304" pitchFamily="18" charset="0"/>
              </a:rPr>
              <a:t>MARKAZIY TENDENTSIYA KO’RSATKIC</a:t>
            </a:r>
            <a:r>
              <a:rPr lang="en-US" b="1" dirty="0">
                <a:solidFill>
                  <a:srgbClr val="F0FCFF"/>
                </a:solidFill>
                <a:latin typeface="Times New Roman" panose="02020603050405020304" pitchFamily="18" charset="0"/>
                <a:ea typeface="Spline Sans Bold" pitchFamily="34" charset="-122"/>
                <a:cs typeface="Times New Roman" panose="02020603050405020304" pitchFamily="18" charset="0"/>
              </a:rPr>
              <a:t>H TURLARI:</a:t>
            </a:r>
            <a:endParaRPr lang="ru-RU" dirty="0"/>
          </a:p>
        </p:txBody>
      </p:sp>
    </p:spTree>
    <p:extLst>
      <p:ext uri="{BB962C8B-B14F-4D97-AF65-F5344CB8AC3E}">
        <p14:creationId xmlns:p14="http://schemas.microsoft.com/office/powerpoint/2010/main" val="4159831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D255253-4ACF-AB0F-AA03-4697A101B470}"/>
              </a:ext>
            </a:extLst>
          </p:cNvPr>
          <p:cNvSpPr txBox="1"/>
          <p:nvPr/>
        </p:nvSpPr>
        <p:spPr>
          <a:xfrm>
            <a:off x="769689" y="1542422"/>
            <a:ext cx="6059144" cy="2246769"/>
          </a:xfrm>
          <a:prstGeom prst="rect">
            <a:avLst/>
          </a:prstGeom>
          <a:noFill/>
        </p:spPr>
        <p:txBody>
          <a:bodyPr wrap="square">
            <a:spAutoFit/>
          </a:bodyPr>
          <a:lstStyle/>
          <a:p>
            <a:r>
              <a:rPr lang="tr-TR" sz="2800" b="1" dirty="0">
                <a:solidFill>
                  <a:srgbClr val="FFC000"/>
                </a:solidFill>
                <a:latin typeface="Times New Roman" panose="02020603050405020304" pitchFamily="18" charset="0"/>
                <a:cs typeface="Times New Roman" panose="02020603050405020304" pitchFamily="18" charset="0"/>
              </a:rPr>
              <a:t>O'rtacha</a:t>
            </a:r>
            <a:r>
              <a:rPr lang="en-US" sz="2800" b="1" dirty="0">
                <a:solidFill>
                  <a:srgbClr val="FFC000"/>
                </a:solidFill>
                <a:latin typeface="Times New Roman" panose="02020603050405020304" pitchFamily="18" charset="0"/>
                <a:cs typeface="Times New Roman" panose="02020603050405020304" pitchFamily="18" charset="0"/>
              </a:rPr>
              <a:t> </a:t>
            </a:r>
            <a:r>
              <a:rPr lang="en-US" sz="2800" b="1" dirty="0" err="1">
                <a:solidFill>
                  <a:srgbClr val="FFC000"/>
                </a:solidFill>
                <a:latin typeface="Times New Roman" panose="02020603050405020304" pitchFamily="18" charset="0"/>
                <a:cs typeface="Times New Roman" panose="02020603050405020304" pitchFamily="18" charset="0"/>
              </a:rPr>
              <a:t>qiymat</a:t>
            </a:r>
            <a:r>
              <a:rPr lang="en-US" sz="2800" b="1" dirty="0">
                <a:solidFill>
                  <a:srgbClr val="FFC000"/>
                </a:solidFill>
                <a:latin typeface="Times New Roman" panose="02020603050405020304" pitchFamily="18" charset="0"/>
                <a:cs typeface="Times New Roman" panose="02020603050405020304" pitchFamily="18" charset="0"/>
              </a:rPr>
              <a:t> (MEAN) - </a:t>
            </a:r>
            <a:r>
              <a:rPr lang="en-US" sz="2800" b="0" i="0" dirty="0" err="1">
                <a:solidFill>
                  <a:srgbClr val="FFFFFF"/>
                </a:solidFill>
                <a:effectLst/>
                <a:latin typeface="Times New Roman" panose="02020603050405020304" pitchFamily="18" charset="0"/>
                <a:cs typeface="Times New Roman" panose="02020603050405020304" pitchFamily="18" charset="0"/>
              </a:rPr>
              <a:t>bu</a:t>
            </a:r>
            <a:r>
              <a:rPr lang="tr-TR" sz="2800" b="0" i="0" dirty="0">
                <a:solidFill>
                  <a:srgbClr val="FFFFFF"/>
                </a:solidFill>
                <a:effectLst/>
                <a:latin typeface="Times New Roman" panose="02020603050405020304" pitchFamily="18" charset="0"/>
                <a:cs typeface="Times New Roman" panose="02020603050405020304" pitchFamily="18" charset="0"/>
              </a:rPr>
              <a:t> ma'lumotlar to'plamidagi barcha raqamlarni qo'shish va to'plamdagi qiymatlar soniga bo'lish yo'li bilan hisoblanadi. </a:t>
            </a:r>
            <a:endParaRPr lang="ru-RU" sz="2800" dirty="0">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A5C47BC5-109F-6026-DE6F-A9160D997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0260" y="1542422"/>
            <a:ext cx="5117708" cy="4061673"/>
          </a:xfrm>
          <a:prstGeom prst="rect">
            <a:avLst/>
          </a:prstGeom>
        </p:spPr>
      </p:pic>
      <p:pic>
        <p:nvPicPr>
          <p:cNvPr id="11" name="Рисунок 10">
            <a:extLst>
              <a:ext uri="{FF2B5EF4-FFF2-40B4-BE49-F238E27FC236}">
                <a16:creationId xmlns:a16="http://schemas.microsoft.com/office/drawing/2014/main" id="{7DA8939E-72D1-C04E-B0BA-14621C6E4D3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1134825" y="4101220"/>
            <a:ext cx="5582581" cy="1063797"/>
          </a:xfrm>
          <a:prstGeom prst="rect">
            <a:avLst/>
          </a:prstGeom>
          <a:ln>
            <a:solidFill>
              <a:schemeClr val="tx1"/>
            </a:solidFill>
          </a:ln>
        </p:spPr>
      </p:pic>
      <p:sp>
        <p:nvSpPr>
          <p:cNvPr id="13" name="TextBox 12">
            <a:extLst>
              <a:ext uri="{FF2B5EF4-FFF2-40B4-BE49-F238E27FC236}">
                <a16:creationId xmlns:a16="http://schemas.microsoft.com/office/drawing/2014/main" id="{FE53BEC1-4748-3EDB-4091-C56505F39636}"/>
              </a:ext>
            </a:extLst>
          </p:cNvPr>
          <p:cNvSpPr txBox="1"/>
          <p:nvPr/>
        </p:nvSpPr>
        <p:spPr>
          <a:xfrm>
            <a:off x="619898" y="308278"/>
            <a:ext cx="6097508" cy="584775"/>
          </a:xfrm>
          <a:prstGeom prst="rect">
            <a:avLst/>
          </a:prstGeom>
          <a:noFill/>
        </p:spPr>
        <p:txBody>
          <a:bodyPr wrap="square">
            <a:spAutoFit/>
          </a:bodyPr>
          <a:lstStyle/>
          <a:p>
            <a:pPr algn="l" fontAlgn="base"/>
            <a:r>
              <a:rPr lang="tr-TR" sz="3200" b="1" i="0" dirty="0">
                <a:effectLst/>
                <a:latin typeface="Times New Roman" panose="02020603050405020304" pitchFamily="18" charset="0"/>
                <a:cs typeface="Times New Roman" panose="02020603050405020304" pitchFamily="18" charset="0"/>
              </a:rPr>
              <a:t>O'RTACHA</a:t>
            </a:r>
            <a:r>
              <a:rPr lang="en-US" sz="3200" b="1" i="0" dirty="0">
                <a:effectLst/>
                <a:latin typeface="Times New Roman" panose="02020603050405020304" pitchFamily="18" charset="0"/>
                <a:cs typeface="Times New Roman" panose="02020603050405020304" pitchFamily="18" charset="0"/>
              </a:rPr>
              <a:t> QIYMAT (MEAN)</a:t>
            </a:r>
            <a:endParaRPr lang="tr-TR" sz="3200" b="1"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1877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E89FCE-5B93-3141-A6A9-562D0D842ACF}"/>
              </a:ext>
            </a:extLst>
          </p:cNvPr>
          <p:cNvSpPr txBox="1"/>
          <p:nvPr/>
        </p:nvSpPr>
        <p:spPr>
          <a:xfrm>
            <a:off x="658262" y="1057644"/>
            <a:ext cx="4619908" cy="830997"/>
          </a:xfrm>
          <a:prstGeom prst="rect">
            <a:avLst/>
          </a:prstGeom>
          <a:noFill/>
        </p:spPr>
        <p:txBody>
          <a:bodyPr wrap="square">
            <a:spAutoFit/>
          </a:bodyPr>
          <a:lstStyle/>
          <a:p>
            <a:pPr algn="l" fontAlgn="base">
              <a:buNone/>
            </a:pPr>
            <a:r>
              <a:rPr lang="en-US" sz="2400" b="1" dirty="0" err="1">
                <a:solidFill>
                  <a:srgbClr val="00B0F0"/>
                </a:solidFill>
                <a:latin typeface="Times New Roman" panose="02020603050405020304" pitchFamily="18" charset="0"/>
                <a:cs typeface="Times New Roman" panose="02020603050405020304" pitchFamily="18" charset="0"/>
              </a:rPr>
              <a:t>Guruhlanmagan</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ma’lumotlar</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uchun</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o’rtacha</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qiymat</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topish</a:t>
            </a:r>
            <a:endParaRPr lang="tr-TR" sz="2400" b="1" i="0" dirty="0">
              <a:solidFill>
                <a:srgbClr val="00B0F0"/>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1043B1B-D91F-FC9F-DCE4-BF54066B81DE}"/>
              </a:ext>
            </a:extLst>
          </p:cNvPr>
          <p:cNvSpPr txBox="1"/>
          <p:nvPr/>
        </p:nvSpPr>
        <p:spPr>
          <a:xfrm>
            <a:off x="658262" y="1888641"/>
            <a:ext cx="5011093" cy="1015663"/>
          </a:xfrm>
          <a:prstGeom prst="rect">
            <a:avLst/>
          </a:prstGeom>
          <a:noFill/>
        </p:spPr>
        <p:txBody>
          <a:bodyPr wrap="square">
            <a:spAutoFit/>
          </a:bodyPr>
          <a:lstStyle/>
          <a:p>
            <a:r>
              <a:rPr lang="tr-TR" sz="2000" b="1" dirty="0">
                <a:solidFill>
                  <a:srgbClr val="FFC000"/>
                </a:solidFill>
                <a:latin typeface="Times New Roman" panose="02020603050405020304" pitchFamily="18" charset="0"/>
                <a:cs typeface="Times New Roman" panose="02020603050405020304" pitchFamily="18" charset="0"/>
              </a:rPr>
              <a:t>Guruhlanmagan ma’lumotlar</a:t>
            </a:r>
            <a:r>
              <a:rPr lang="tr-TR" sz="2000" dirty="0">
                <a:solidFill>
                  <a:srgbClr val="FFC00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 bu har bir qiymat alohida berilgan ma’lumotlar to‘plami:</a:t>
            </a:r>
            <a:br>
              <a:rPr lang="tr-TR" sz="2000" dirty="0">
                <a:latin typeface="Times New Roman" panose="02020603050405020304" pitchFamily="18" charset="0"/>
                <a:cs typeface="Times New Roman" panose="02020603050405020304" pitchFamily="18" charset="0"/>
              </a:rPr>
            </a:br>
            <a:r>
              <a:rPr lang="tr-TR" sz="2000" dirty="0">
                <a:latin typeface="Times New Roman" panose="02020603050405020304" pitchFamily="18" charset="0"/>
                <a:cs typeface="Times New Roman" panose="02020603050405020304" pitchFamily="18" charset="0"/>
              </a:rPr>
              <a:t>masalan: </a:t>
            </a:r>
            <a:r>
              <a:rPr lang="tr-TR" sz="2000" b="1" dirty="0">
                <a:latin typeface="Times New Roman" panose="02020603050405020304" pitchFamily="18" charset="0"/>
                <a:cs typeface="Times New Roman" panose="02020603050405020304" pitchFamily="18" charset="0"/>
              </a:rPr>
              <a:t>5, 10, 15, 20, 12, 18</a:t>
            </a:r>
            <a:endParaRPr lang="ru-RU"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D0EE3CC-02CB-56C1-FF97-B4E51526AA4F}"/>
              </a:ext>
            </a:extLst>
          </p:cNvPr>
          <p:cNvSpPr txBox="1"/>
          <p:nvPr/>
        </p:nvSpPr>
        <p:spPr>
          <a:xfrm>
            <a:off x="6735488" y="1101300"/>
            <a:ext cx="4619908" cy="830997"/>
          </a:xfrm>
          <a:prstGeom prst="rect">
            <a:avLst/>
          </a:prstGeom>
          <a:noFill/>
        </p:spPr>
        <p:txBody>
          <a:bodyPr wrap="square">
            <a:spAutoFit/>
          </a:bodyPr>
          <a:lstStyle/>
          <a:p>
            <a:pPr algn="l" fontAlgn="base">
              <a:buNone/>
            </a:pPr>
            <a:r>
              <a:rPr lang="en-US" sz="2400" b="1" dirty="0" err="1">
                <a:solidFill>
                  <a:srgbClr val="00B0F0"/>
                </a:solidFill>
                <a:latin typeface="Times New Roman" panose="02020603050405020304" pitchFamily="18" charset="0"/>
                <a:cs typeface="Times New Roman" panose="02020603050405020304" pitchFamily="18" charset="0"/>
              </a:rPr>
              <a:t>Guruhlangan</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ma’lumotlar</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uchun</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o’rtacha</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qiymat</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topish</a:t>
            </a:r>
            <a:endParaRPr lang="tr-TR" sz="2400" b="1" i="0" dirty="0">
              <a:solidFill>
                <a:srgbClr val="00B0F0"/>
              </a:solidFill>
              <a:effectLst/>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BF81A4D9-8DF3-E8F2-0076-46364509366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930367" y="3182427"/>
            <a:ext cx="1637553" cy="959682"/>
          </a:xfrm>
          <a:prstGeom prst="rect">
            <a:avLst/>
          </a:prstGeom>
          <a:ln>
            <a:solidFill>
              <a:schemeClr val="tx1"/>
            </a:solidFill>
          </a:ln>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040DD01-42FC-F8EF-898D-5D19D60ACD75}"/>
                  </a:ext>
                </a:extLst>
              </p:cNvPr>
              <p:cNvSpPr txBox="1"/>
              <p:nvPr/>
            </p:nvSpPr>
            <p:spPr>
              <a:xfrm>
                <a:off x="658262" y="4420232"/>
                <a:ext cx="6097508" cy="1220847"/>
              </a:xfrm>
              <a:prstGeom prst="rect">
                <a:avLst/>
              </a:prstGeom>
              <a:noFill/>
            </p:spPr>
            <p:txBody>
              <a:bodyPr wrap="square">
                <a:spAutoFit/>
              </a:bodyPr>
              <a:lstStyle/>
              <a:p>
                <a:pPr marL="0" marR="0" indent="450215">
                  <a:spcAft>
                    <a:spcPts val="800"/>
                  </a:spcAft>
                  <a:buNone/>
                </a:pPr>
                <a:r>
                  <a:rPr lang="ru-RU" sz="2000" dirty="0" err="1">
                    <a:effectLst/>
                    <a:latin typeface="Times New Roman" panose="02020603050405020304" pitchFamily="18" charset="0"/>
                    <a:ea typeface="Calibri" panose="020F0502020204030204" pitchFamily="34" charset="0"/>
                    <a:cs typeface="Arial" panose="020B0604020202020204" pitchFamily="34" charset="0"/>
                  </a:rPr>
                  <a:t>Bu</a:t>
                </a:r>
                <a:r>
                  <a:rPr lang="ru-RU" sz="2000" dirty="0">
                    <a:effectLst/>
                    <a:latin typeface="Times New Roman" panose="02020603050405020304" pitchFamily="18" charset="0"/>
                    <a:ea typeface="Calibri" panose="020F0502020204030204" pitchFamily="34" charset="0"/>
                    <a:cs typeface="Arial" panose="020B0604020202020204" pitchFamily="34" charset="0"/>
                  </a:rPr>
                  <a:t> </a:t>
                </a:r>
                <a:r>
                  <a:rPr lang="ru-RU" sz="2000" dirty="0" err="1">
                    <a:effectLst/>
                    <a:latin typeface="Times New Roman" panose="02020603050405020304" pitchFamily="18" charset="0"/>
                    <a:ea typeface="Calibri" panose="020F0502020204030204" pitchFamily="34" charset="0"/>
                    <a:cs typeface="Arial" panose="020B0604020202020204" pitchFamily="34" charset="0"/>
                  </a:rPr>
                  <a:t>yerda</a:t>
                </a:r>
                <a:r>
                  <a:rPr lang="ru-RU" sz="2000" dirty="0">
                    <a:effectLst/>
                    <a:latin typeface="Times New Roman" panose="02020603050405020304" pitchFamily="18" charset="0"/>
                    <a:ea typeface="Calibri" panose="020F0502020204030204" pitchFamily="34" charset="0"/>
                    <a:cs typeface="Arial" panose="020B0604020202020204" pitchFamily="34" charset="0"/>
                  </a:rPr>
                  <a:t>:</a:t>
                </a:r>
              </a:p>
              <a:p>
                <a:pPr marL="342900" marR="0" lvl="0" indent="-342900" algn="just">
                  <a:spcAft>
                    <a:spcPts val="800"/>
                  </a:spcAft>
                  <a:buSzPts val="1000"/>
                  <a:buFont typeface="Symbol" panose="05050102010706020507" pitchFamily="18" charset="2"/>
                  <a:buChar char=""/>
                  <a:tabLst>
                    <a:tab pos="457200" algn="l"/>
                  </a:tabLst>
                </a:pPr>
                <a14:m>
                  <m:oMath xmlns:m="http://schemas.openxmlformats.org/officeDocument/2006/math">
                    <m:sSub>
                      <m:sSubPr>
                        <m:ctrlPr>
                          <a:rPr lang="ru-RU" sz="2000" i="1">
                            <a:effectLst/>
                            <a:latin typeface="Cambria Math" panose="02040503050406030204" pitchFamily="18" charset="0"/>
                            <a:ea typeface="Calibri" panose="020F0502020204030204" pitchFamily="34" charset="0"/>
                            <a:cs typeface="Arial" panose="020B0604020202020204" pitchFamily="34" charset="0"/>
                          </a:rPr>
                        </m:ctrlPr>
                      </m:sSubPr>
                      <m:e>
                        <m:r>
                          <a:rPr lang="ru-RU" sz="2000" i="1">
                            <a:effectLst/>
                            <a:latin typeface="Cambria Math" panose="02040503050406030204" pitchFamily="18" charset="0"/>
                            <a:ea typeface="Calibri" panose="020F0502020204030204" pitchFamily="34" charset="0"/>
                            <a:cs typeface="Arial" panose="020B0604020202020204" pitchFamily="34" charset="0"/>
                          </a:rPr>
                          <m:t>𝑥</m:t>
                        </m:r>
                      </m:e>
                      <m:sub>
                        <m:r>
                          <a:rPr lang="ru-RU" sz="2000" i="1">
                            <a:effectLst/>
                            <a:latin typeface="Cambria Math" panose="02040503050406030204" pitchFamily="18" charset="0"/>
                            <a:ea typeface="Calibri" panose="020F0502020204030204" pitchFamily="34" charset="0"/>
                            <a:cs typeface="Arial" panose="020B0604020202020204" pitchFamily="34" charset="0"/>
                          </a:rPr>
                          <m:t>𝑖</m:t>
                        </m:r>
                      </m:sub>
                    </m:sSub>
                  </m:oMath>
                </a14:m>
                <a:r>
                  <a:rPr lang="en-US" sz="2000" dirty="0">
                    <a:effectLst/>
                    <a:latin typeface="Times New Roman" panose="02020603050405020304" pitchFamily="18" charset="0"/>
                    <a:ea typeface="Calibri" panose="020F0502020204030204" pitchFamily="34" charset="0"/>
                    <a:cs typeface="Arial" panose="020B0604020202020204" pitchFamily="34" charset="0"/>
                  </a:rPr>
                  <a:t>— </a:t>
                </a:r>
                <a:r>
                  <a:rPr lang="en-US" sz="2000" dirty="0" err="1">
                    <a:effectLst/>
                    <a:latin typeface="Times New Roman" panose="02020603050405020304" pitchFamily="18" charset="0"/>
                    <a:ea typeface="Calibri" panose="020F0502020204030204" pitchFamily="34" charset="0"/>
                    <a:cs typeface="Arial" panose="020B0604020202020204" pitchFamily="34" charset="0"/>
                  </a:rPr>
                  <a:t>har</a:t>
                </a:r>
                <a:r>
                  <a:rPr lang="en-US" sz="2000" dirty="0">
                    <a:effectLst/>
                    <a:latin typeface="Times New Roman" panose="02020603050405020304" pitchFamily="18" charset="0"/>
                    <a:ea typeface="Calibri" panose="020F0502020204030204" pitchFamily="34" charset="0"/>
                    <a:cs typeface="Arial" panose="020B0604020202020204" pitchFamily="34" charset="0"/>
                  </a:rPr>
                  <a:t> </a:t>
                </a:r>
                <a:r>
                  <a:rPr lang="en-US" sz="2000" dirty="0" err="1">
                    <a:effectLst/>
                    <a:latin typeface="Times New Roman" panose="02020603050405020304" pitchFamily="18" charset="0"/>
                    <a:ea typeface="Calibri" panose="020F0502020204030204" pitchFamily="34" charset="0"/>
                    <a:cs typeface="Arial" panose="020B0604020202020204" pitchFamily="34" charset="0"/>
                  </a:rPr>
                  <a:t>bir</a:t>
                </a:r>
                <a:r>
                  <a:rPr lang="en-US" sz="2000" dirty="0">
                    <a:effectLst/>
                    <a:latin typeface="Times New Roman" panose="02020603050405020304" pitchFamily="18" charset="0"/>
                    <a:ea typeface="Calibri" panose="020F0502020204030204" pitchFamily="34" charset="0"/>
                    <a:cs typeface="Arial" panose="020B0604020202020204" pitchFamily="34" charset="0"/>
                  </a:rPr>
                  <a:t> </a:t>
                </a:r>
                <a:r>
                  <a:rPr lang="en-US" sz="2000" dirty="0" err="1">
                    <a:effectLst/>
                    <a:latin typeface="Times New Roman" panose="02020603050405020304" pitchFamily="18" charset="0"/>
                    <a:ea typeface="Calibri" panose="020F0502020204030204" pitchFamily="34" charset="0"/>
                    <a:cs typeface="Arial" panose="020B0604020202020204" pitchFamily="34" charset="0"/>
                  </a:rPr>
                  <a:t>alohida</a:t>
                </a:r>
                <a:r>
                  <a:rPr lang="en-US" sz="2000" dirty="0">
                    <a:effectLst/>
                    <a:latin typeface="Times New Roman" panose="02020603050405020304" pitchFamily="18" charset="0"/>
                    <a:ea typeface="Calibri" panose="020F0502020204030204" pitchFamily="34" charset="0"/>
                    <a:cs typeface="Arial" panose="020B0604020202020204" pitchFamily="34" charset="0"/>
                  </a:rPr>
                  <a:t> </a:t>
                </a:r>
                <a:r>
                  <a:rPr lang="en-US" sz="2000" dirty="0" err="1">
                    <a:effectLst/>
                    <a:latin typeface="Times New Roman" panose="02020603050405020304" pitchFamily="18" charset="0"/>
                    <a:ea typeface="Calibri" panose="020F0502020204030204" pitchFamily="34" charset="0"/>
                    <a:cs typeface="Arial" panose="020B0604020202020204" pitchFamily="34" charset="0"/>
                  </a:rPr>
                  <a:t>qiymat</a:t>
                </a:r>
                <a:endParaRPr lang="ru-RU" sz="2000" dirty="0">
                  <a:effectLst/>
                  <a:latin typeface="Times New Roman" panose="02020603050405020304" pitchFamily="18" charset="0"/>
                  <a:ea typeface="Calibri" panose="020F0502020204030204" pitchFamily="34" charset="0"/>
                  <a:cs typeface="Arial" panose="020B0604020202020204" pitchFamily="34" charset="0"/>
                </a:endParaRPr>
              </a:p>
              <a:p>
                <a:pPr marL="342900" marR="0" lvl="0" indent="-342900" algn="just">
                  <a:spcAft>
                    <a:spcPts val="800"/>
                  </a:spcAft>
                  <a:buSzPts val="1000"/>
                  <a:buFont typeface="Symbol" panose="05050102010706020507" pitchFamily="18" charset="2"/>
                  <a:buChar char=""/>
                  <a:tabLst>
                    <a:tab pos="457200" algn="l"/>
                  </a:tabLst>
                </a:pPr>
                <a14:m>
                  <m:oMath xmlns:m="http://schemas.openxmlformats.org/officeDocument/2006/math">
                    <m:r>
                      <a:rPr lang="ru-RU" sz="2000" i="1">
                        <a:effectLst/>
                        <a:latin typeface="Cambria Math" panose="02040503050406030204" pitchFamily="18" charset="0"/>
                        <a:ea typeface="Calibri" panose="020F0502020204030204" pitchFamily="34" charset="0"/>
                        <a:cs typeface="Arial" panose="020B0604020202020204" pitchFamily="34" charset="0"/>
                      </a:rPr>
                      <m:t>𝑛</m:t>
                    </m:r>
                  </m:oMath>
                </a14:m>
                <a:r>
                  <a:rPr lang="ru-RU" sz="2000" dirty="0">
                    <a:effectLst/>
                    <a:latin typeface="Times New Roman" panose="02020603050405020304" pitchFamily="18" charset="0"/>
                    <a:ea typeface="Calibri" panose="020F0502020204030204" pitchFamily="34" charset="0"/>
                    <a:cs typeface="Arial" panose="020B0604020202020204" pitchFamily="34" charset="0"/>
                  </a:rPr>
                  <a:t>— </a:t>
                </a:r>
                <a:r>
                  <a:rPr lang="ru-RU" sz="2000" dirty="0" err="1">
                    <a:effectLst/>
                    <a:latin typeface="Times New Roman" panose="02020603050405020304" pitchFamily="18" charset="0"/>
                    <a:ea typeface="Calibri" panose="020F0502020204030204" pitchFamily="34" charset="0"/>
                    <a:cs typeface="Arial" panose="020B0604020202020204" pitchFamily="34" charset="0"/>
                  </a:rPr>
                  <a:t>qiymatlar</a:t>
                </a:r>
                <a:r>
                  <a:rPr lang="ru-RU" sz="2000" dirty="0">
                    <a:effectLst/>
                    <a:latin typeface="Times New Roman" panose="02020603050405020304" pitchFamily="18" charset="0"/>
                    <a:ea typeface="Calibri" panose="020F0502020204030204" pitchFamily="34" charset="0"/>
                    <a:cs typeface="Arial" panose="020B0604020202020204" pitchFamily="34" charset="0"/>
                  </a:rPr>
                  <a:t> </a:t>
                </a:r>
                <a:r>
                  <a:rPr lang="ru-RU" sz="2000" dirty="0" err="1">
                    <a:effectLst/>
                    <a:latin typeface="Times New Roman" panose="02020603050405020304" pitchFamily="18" charset="0"/>
                    <a:ea typeface="Calibri" panose="020F0502020204030204" pitchFamily="34" charset="0"/>
                    <a:cs typeface="Arial" panose="020B0604020202020204" pitchFamily="34" charset="0"/>
                  </a:rPr>
                  <a:t>soni</a:t>
                </a:r>
                <a:endParaRPr lang="ru-RU" sz="2000" dirty="0">
                  <a:effectLst/>
                  <a:latin typeface="Times New Roman" panose="02020603050405020304" pitchFamily="18" charset="0"/>
                  <a:ea typeface="Calibri" panose="020F050202020403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8040DD01-42FC-F8EF-898D-5D19D60ACD75}"/>
                  </a:ext>
                </a:extLst>
              </p:cNvPr>
              <p:cNvSpPr txBox="1">
                <a:spLocks noRot="1" noChangeAspect="1" noMove="1" noResize="1" noEditPoints="1" noAdjustHandles="1" noChangeArrowheads="1" noChangeShapeType="1" noTextEdit="1"/>
              </p:cNvSpPr>
              <p:nvPr/>
            </p:nvSpPr>
            <p:spPr>
              <a:xfrm>
                <a:off x="658262" y="4420232"/>
                <a:ext cx="6097508" cy="1220847"/>
              </a:xfrm>
              <a:prstGeom prst="rect">
                <a:avLst/>
              </a:prstGeom>
              <a:blipFill>
                <a:blip r:embed="rId4"/>
                <a:stretch>
                  <a:fillRect t="-2500" b="-8500"/>
                </a:stretch>
              </a:blipFill>
            </p:spPr>
            <p:txBody>
              <a:bodyPr/>
              <a:lstStyle/>
              <a:p>
                <a:r>
                  <a:rPr lang="ru-RU">
                    <a:noFill/>
                  </a:rPr>
                  <a:t> </a:t>
                </a:r>
              </a:p>
            </p:txBody>
          </p:sp>
        </mc:Fallback>
      </mc:AlternateContent>
      <p:sp>
        <p:nvSpPr>
          <p:cNvPr id="12" name="TextBox 11">
            <a:extLst>
              <a:ext uri="{FF2B5EF4-FFF2-40B4-BE49-F238E27FC236}">
                <a16:creationId xmlns:a16="http://schemas.microsoft.com/office/drawing/2014/main" id="{31771BB4-B4A9-7A3C-9F08-FA5C86901C34}"/>
              </a:ext>
            </a:extLst>
          </p:cNvPr>
          <p:cNvSpPr txBox="1"/>
          <p:nvPr/>
        </p:nvSpPr>
        <p:spPr>
          <a:xfrm>
            <a:off x="6735488" y="1884759"/>
            <a:ext cx="5052966" cy="1015663"/>
          </a:xfrm>
          <a:prstGeom prst="rect">
            <a:avLst/>
          </a:prstGeom>
          <a:noFill/>
        </p:spPr>
        <p:txBody>
          <a:bodyPr wrap="square">
            <a:spAutoFit/>
          </a:bodyPr>
          <a:lstStyle/>
          <a:p>
            <a:r>
              <a:rPr lang="tr-TR" sz="2000" b="1" dirty="0">
                <a:solidFill>
                  <a:srgbClr val="FFC000"/>
                </a:solidFill>
                <a:latin typeface="Times New Roman" panose="02020603050405020304" pitchFamily="18" charset="0"/>
                <a:cs typeface="Times New Roman" panose="02020603050405020304" pitchFamily="18" charset="0"/>
              </a:rPr>
              <a:t>Guruhlangan ma’lumotlar</a:t>
            </a:r>
            <a:r>
              <a:rPr lang="tr-TR" sz="2000" dirty="0">
                <a:solidFill>
                  <a:srgbClr val="FFC00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 bu </a:t>
            </a:r>
            <a:r>
              <a:rPr lang="en-US" sz="2000" dirty="0" err="1">
                <a:latin typeface="Times New Roman" panose="02020603050405020304" pitchFamily="18" charset="0"/>
                <a:cs typeface="Times New Roman" panose="02020603050405020304" pitchFamily="18" charset="0"/>
              </a:rPr>
              <a:t>ma’lumotlar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intervallar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chastotalar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ko’rinishida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berilgan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bo’ladi</a:t>
            </a:r>
            <a:r>
              <a:rPr lang="en-US" sz="2000" dirty="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p:txBody>
      </p:sp>
      <p:pic>
        <p:nvPicPr>
          <p:cNvPr id="14" name="Рисунок 13">
            <a:extLst>
              <a:ext uri="{FF2B5EF4-FFF2-40B4-BE49-F238E27FC236}">
                <a16:creationId xmlns:a16="http://schemas.microsoft.com/office/drawing/2014/main" id="{7C928CE6-FD87-273A-CB5A-1FD684C7EF04}"/>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8023701" y="3025755"/>
            <a:ext cx="1799310" cy="947005"/>
          </a:xfrm>
          <a:prstGeom prst="rect">
            <a:avLst/>
          </a:prstGeom>
          <a:ln>
            <a:solidFill>
              <a:schemeClr val="tx1"/>
            </a:solidFill>
          </a:ln>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DC0ED46-0352-21C4-54DE-81CB4CDFDD68}"/>
                  </a:ext>
                </a:extLst>
              </p:cNvPr>
              <p:cNvSpPr txBox="1"/>
              <p:nvPr/>
            </p:nvSpPr>
            <p:spPr>
              <a:xfrm>
                <a:off x="6735488" y="3972760"/>
                <a:ext cx="6097508" cy="1421992"/>
              </a:xfrm>
              <a:prstGeom prst="rect">
                <a:avLst/>
              </a:prstGeom>
              <a:noFill/>
            </p:spPr>
            <p:txBody>
              <a:bodyPr wrap="square">
                <a:spAutoFit/>
              </a:bodyPr>
              <a:lstStyle/>
              <a:p>
                <a:pPr>
                  <a:lnSpc>
                    <a:spcPct val="150000"/>
                  </a:lnSpc>
                  <a:buNone/>
                </a:pPr>
                <a:r>
                  <a:rPr lang="tr-TR" sz="2000" dirty="0">
                    <a:latin typeface="Times New Roman" panose="02020603050405020304" pitchFamily="18" charset="0"/>
                    <a:cs typeface="Times New Roman" panose="02020603050405020304" pitchFamily="18" charset="0"/>
                  </a:rPr>
                  <a:t>Bu yerda:</a:t>
                </a:r>
              </a:p>
              <a:p>
                <a:pPr>
                  <a:lnSpc>
                    <a:spcPct val="150000"/>
                  </a:lnSpc>
                  <a:buFont typeface="Arial" panose="020B0604020202020204" pitchFamily="34" charset="0"/>
                  <a:buChar char="•"/>
                </a:pPr>
                <a14:m>
                  <m:oMath xmlns:m="http://schemas.openxmlformats.org/officeDocument/2006/math">
                    <m:sSub>
                      <m:sSubPr>
                        <m:ctrlPr>
                          <a:rPr lang="ar-AE" sz="2000" i="1">
                            <a:latin typeface="Cambria Math" panose="02040503050406030204" pitchFamily="18" charset="0"/>
                          </a:rPr>
                        </m:ctrlPr>
                      </m:sSubPr>
                      <m:e>
                        <m:r>
                          <a:rPr lang="en-US" sz="2000" b="0" i="1" smtClean="0">
                            <a:latin typeface="Cambria Math" panose="02040503050406030204" pitchFamily="18" charset="0"/>
                          </a:rPr>
                          <m:t>         </m:t>
                        </m:r>
                        <m:r>
                          <a:rPr lang="ar-AE" sz="2000" i="1">
                            <a:latin typeface="Cambria Math" panose="02040503050406030204" pitchFamily="18" charset="0"/>
                          </a:rPr>
                          <m:t>𝑓</m:t>
                        </m:r>
                      </m:e>
                      <m:sub>
                        <m:r>
                          <a:rPr lang="ar-AE" sz="2000" i="1">
                            <a:latin typeface="Cambria Math" panose="02040503050406030204" pitchFamily="18" charset="0"/>
                          </a:rPr>
                          <m:t>𝑖</m:t>
                        </m:r>
                      </m:sub>
                    </m:sSub>
                  </m:oMath>
                </a14:m>
                <a:r>
                  <a:rPr lang="ar-AE" sz="2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chastota (necha marta takrorlangan)</a:t>
                </a:r>
              </a:p>
              <a:p>
                <a:pPr>
                  <a:lnSpc>
                    <a:spcPct val="150000"/>
                  </a:lnSpc>
                  <a:buFont typeface="Arial" panose="020B0604020202020204" pitchFamily="34" charset="0"/>
                  <a:buChar char="•"/>
                </a:pPr>
                <a14:m>
                  <m:oMath xmlns:m="http://schemas.openxmlformats.org/officeDocument/2006/math">
                    <m:sSub>
                      <m:sSubPr>
                        <m:ctrlPr>
                          <a:rPr lang="ar-AE" sz="2000" i="1">
                            <a:latin typeface="Cambria Math" panose="02040503050406030204" pitchFamily="18" charset="0"/>
                          </a:rPr>
                        </m:ctrlPr>
                      </m:sSubPr>
                      <m:e>
                        <m:r>
                          <a:rPr lang="en-US" sz="2000" b="0" i="1" smtClean="0">
                            <a:latin typeface="Cambria Math" panose="02040503050406030204" pitchFamily="18" charset="0"/>
                          </a:rPr>
                          <m:t>         </m:t>
                        </m:r>
                        <m:r>
                          <a:rPr lang="ar-AE" sz="2000" i="1">
                            <a:latin typeface="Cambria Math" panose="02040503050406030204" pitchFamily="18" charset="0"/>
                          </a:rPr>
                          <m:t>𝑚</m:t>
                        </m:r>
                      </m:e>
                      <m:sub>
                        <m:r>
                          <a:rPr lang="ar-AE" sz="2000" i="1">
                            <a:latin typeface="Cambria Math" panose="02040503050406030204" pitchFamily="18" charset="0"/>
                          </a:rPr>
                          <m:t>𝑖</m:t>
                        </m:r>
                      </m:sub>
                    </m:sSub>
                  </m:oMath>
                </a14:m>
                <a:r>
                  <a:rPr lang="ar-AE" sz="2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intervalning o‘rta nuqtasi (midpoint)</a:t>
                </a:r>
              </a:p>
            </p:txBody>
          </p:sp>
        </mc:Choice>
        <mc:Fallback xmlns="">
          <p:sp>
            <p:nvSpPr>
              <p:cNvPr id="16" name="TextBox 15">
                <a:extLst>
                  <a:ext uri="{FF2B5EF4-FFF2-40B4-BE49-F238E27FC236}">
                    <a16:creationId xmlns:a16="http://schemas.microsoft.com/office/drawing/2014/main" id="{BDC0ED46-0352-21C4-54DE-81CB4CDFDD68}"/>
                  </a:ext>
                </a:extLst>
              </p:cNvPr>
              <p:cNvSpPr txBox="1">
                <a:spLocks noRot="1" noChangeAspect="1" noMove="1" noResize="1" noEditPoints="1" noAdjustHandles="1" noChangeArrowheads="1" noChangeShapeType="1" noTextEdit="1"/>
              </p:cNvSpPr>
              <p:nvPr/>
            </p:nvSpPr>
            <p:spPr>
              <a:xfrm>
                <a:off x="6735488" y="3972760"/>
                <a:ext cx="6097508" cy="1421992"/>
              </a:xfrm>
              <a:prstGeom prst="rect">
                <a:avLst/>
              </a:prstGeom>
              <a:blipFill>
                <a:blip r:embed="rId7"/>
                <a:stretch>
                  <a:fillRect l="-1100" b="-6867"/>
                </a:stretch>
              </a:blipFill>
            </p:spPr>
            <p:txBody>
              <a:bodyPr/>
              <a:lstStyle/>
              <a:p>
                <a:r>
                  <a:rPr lang="ru-RU">
                    <a:noFill/>
                  </a:rPr>
                  <a:t> </a:t>
                </a:r>
              </a:p>
            </p:txBody>
          </p:sp>
        </mc:Fallback>
      </mc:AlternateContent>
      <p:pic>
        <p:nvPicPr>
          <p:cNvPr id="18" name="Рисунок 17">
            <a:extLst>
              <a:ext uri="{FF2B5EF4-FFF2-40B4-BE49-F238E27FC236}">
                <a16:creationId xmlns:a16="http://schemas.microsoft.com/office/drawing/2014/main" id="{C26D3953-2D69-EA42-D13D-0437302226E9}"/>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contrast="40000"/>
                    </a14:imgEffect>
                  </a14:imgLayer>
                </a14:imgProps>
              </a:ext>
            </a:extLst>
          </a:blip>
          <a:stretch>
            <a:fillRect/>
          </a:stretch>
        </p:blipFill>
        <p:spPr>
          <a:xfrm>
            <a:off x="6735488" y="5595802"/>
            <a:ext cx="4922785" cy="1008644"/>
          </a:xfrm>
          <a:prstGeom prst="rect">
            <a:avLst/>
          </a:prstGeom>
          <a:ln>
            <a:solidFill>
              <a:schemeClr val="tx1"/>
            </a:solidFill>
          </a:ln>
        </p:spPr>
      </p:pic>
      <p:cxnSp>
        <p:nvCxnSpPr>
          <p:cNvPr id="20" name="Прямая соединительная линия 19">
            <a:extLst>
              <a:ext uri="{FF2B5EF4-FFF2-40B4-BE49-F238E27FC236}">
                <a16:creationId xmlns:a16="http://schemas.microsoft.com/office/drawing/2014/main" id="{EF565255-97D2-F613-1996-ECD7CD7876DF}"/>
              </a:ext>
            </a:extLst>
          </p:cNvPr>
          <p:cNvCxnSpPr/>
          <p:nvPr/>
        </p:nvCxnSpPr>
        <p:spPr>
          <a:xfrm>
            <a:off x="5857592" y="1216921"/>
            <a:ext cx="0" cy="5383840"/>
          </a:xfrm>
          <a:prstGeom prst="line">
            <a:avLst/>
          </a:prstGeom>
          <a:ln w="57150"/>
        </p:spPr>
        <p:style>
          <a:lnRef idx="1">
            <a:schemeClr val="accent5"/>
          </a:lnRef>
          <a:fillRef idx="0">
            <a:schemeClr val="accent5"/>
          </a:fillRef>
          <a:effectRef idx="0">
            <a:schemeClr val="accent5"/>
          </a:effectRef>
          <a:fontRef idx="minor">
            <a:schemeClr val="tx1"/>
          </a:fontRef>
        </p:style>
      </p:cxnSp>
      <p:sp>
        <p:nvSpPr>
          <p:cNvPr id="21" name="TextBox 20">
            <a:extLst>
              <a:ext uri="{FF2B5EF4-FFF2-40B4-BE49-F238E27FC236}">
                <a16:creationId xmlns:a16="http://schemas.microsoft.com/office/drawing/2014/main" id="{382E1850-4096-73CF-D6EB-A7C2FC44C446}"/>
              </a:ext>
            </a:extLst>
          </p:cNvPr>
          <p:cNvSpPr txBox="1"/>
          <p:nvPr/>
        </p:nvSpPr>
        <p:spPr>
          <a:xfrm>
            <a:off x="658262" y="278203"/>
            <a:ext cx="6097508" cy="584775"/>
          </a:xfrm>
          <a:prstGeom prst="rect">
            <a:avLst/>
          </a:prstGeom>
          <a:noFill/>
        </p:spPr>
        <p:txBody>
          <a:bodyPr wrap="square">
            <a:spAutoFit/>
          </a:bodyPr>
          <a:lstStyle/>
          <a:p>
            <a:pPr algn="l" fontAlgn="base"/>
            <a:r>
              <a:rPr lang="tr-TR" sz="3200" b="1" i="0" dirty="0">
                <a:effectLst/>
                <a:latin typeface="Times New Roman" panose="02020603050405020304" pitchFamily="18" charset="0"/>
                <a:cs typeface="Times New Roman" panose="02020603050405020304" pitchFamily="18" charset="0"/>
              </a:rPr>
              <a:t>O'RTACHA</a:t>
            </a:r>
            <a:r>
              <a:rPr lang="en-US" sz="3200" b="1" i="0" dirty="0">
                <a:effectLst/>
                <a:latin typeface="Times New Roman" panose="02020603050405020304" pitchFamily="18" charset="0"/>
                <a:cs typeface="Times New Roman" panose="02020603050405020304" pitchFamily="18" charset="0"/>
              </a:rPr>
              <a:t> QIYMAT (MEAN)</a:t>
            </a:r>
            <a:endParaRPr lang="tr-TR" sz="3200" b="1"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2557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2FBB37-3E57-EB28-A9B7-2A962436DD6B}"/>
              </a:ext>
            </a:extLst>
          </p:cNvPr>
          <p:cNvSpPr txBox="1"/>
          <p:nvPr/>
        </p:nvSpPr>
        <p:spPr>
          <a:xfrm>
            <a:off x="612995" y="343087"/>
            <a:ext cx="6097508" cy="584775"/>
          </a:xfrm>
          <a:prstGeom prst="rect">
            <a:avLst/>
          </a:prstGeom>
          <a:noFill/>
        </p:spPr>
        <p:txBody>
          <a:bodyPr wrap="square">
            <a:spAutoFit/>
          </a:bodyPr>
          <a:lstStyle/>
          <a:p>
            <a:pPr algn="l" fontAlgn="base">
              <a:buNone/>
            </a:pPr>
            <a:r>
              <a:rPr lang="en-US" sz="3200" b="1" dirty="0">
                <a:latin typeface="Times New Roman" panose="02020603050405020304" pitchFamily="18" charset="0"/>
                <a:cs typeface="Times New Roman" panose="02020603050405020304" pitchFamily="18" charset="0"/>
              </a:rPr>
              <a:t>MEDIAN QIYMAT</a:t>
            </a:r>
            <a:r>
              <a:rPr lang="en-US" sz="3200" b="1" i="0" dirty="0">
                <a:effectLst/>
                <a:latin typeface="Times New Roman" panose="02020603050405020304" pitchFamily="18" charset="0"/>
                <a:cs typeface="Times New Roman" panose="02020603050405020304" pitchFamily="18" charset="0"/>
              </a:rPr>
              <a:t>(MEDIAN)</a:t>
            </a:r>
            <a:endParaRPr lang="tr-TR" sz="3200" b="1" i="0" dirty="0">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677C3A-24A6-71CB-D703-BE16DEE6C019}"/>
              </a:ext>
            </a:extLst>
          </p:cNvPr>
          <p:cNvSpPr txBox="1"/>
          <p:nvPr/>
        </p:nvSpPr>
        <p:spPr>
          <a:xfrm>
            <a:off x="612995" y="927862"/>
            <a:ext cx="11640871" cy="1569660"/>
          </a:xfrm>
          <a:prstGeom prst="rect">
            <a:avLst/>
          </a:prstGeom>
          <a:noFill/>
        </p:spPr>
        <p:txBody>
          <a:bodyPr wrap="square">
            <a:spAutoFit/>
          </a:bodyPr>
          <a:lstStyle/>
          <a:p>
            <a:r>
              <a:rPr lang="en-US" sz="2400" b="1" dirty="0">
                <a:solidFill>
                  <a:srgbClr val="FFC000"/>
                </a:solidFill>
                <a:latin typeface="Times New Roman" panose="02020603050405020304" pitchFamily="18" charset="0"/>
                <a:cs typeface="Times New Roman" panose="02020603050405020304" pitchFamily="18" charset="0"/>
              </a:rPr>
              <a:t>Median </a:t>
            </a:r>
            <a:r>
              <a:rPr lang="en-US" sz="2400" b="1" dirty="0" err="1">
                <a:solidFill>
                  <a:srgbClr val="FFC000"/>
                </a:solidFill>
                <a:latin typeface="Times New Roman" panose="02020603050405020304" pitchFamily="18" charset="0"/>
                <a:cs typeface="Times New Roman" panose="02020603050405020304" pitchFamily="18" charset="0"/>
              </a:rPr>
              <a:t>qiymat</a:t>
            </a:r>
            <a:r>
              <a:rPr lang="en-US" sz="2400" b="1" dirty="0">
                <a:solidFill>
                  <a:srgbClr val="FFC000"/>
                </a:solidFill>
                <a:latin typeface="Times New Roman" panose="02020603050405020304" pitchFamily="18" charset="0"/>
                <a:cs typeface="Times New Roman" panose="02020603050405020304" pitchFamily="18" charset="0"/>
              </a:rPr>
              <a:t>(Median) - </a:t>
            </a:r>
            <a:r>
              <a:rPr lang="tr-TR" sz="2400" b="0" i="0" dirty="0">
                <a:solidFill>
                  <a:srgbClr val="FFFFFF"/>
                </a:solidFill>
                <a:effectLst/>
                <a:latin typeface="Times New Roman" panose="02020603050405020304" pitchFamily="18" charset="0"/>
                <a:cs typeface="Times New Roman" panose="02020603050405020304" pitchFamily="18" charset="0"/>
              </a:rPr>
              <a:t>bu o'sish yoki kamayish tartibida joylashtirilgan ma'lumotlar to'plamining o'rta qiymati. Agar ma'lumotlar to'plamida toq qiymatlar bo'lsa, median o'rta qiymatdir. Agar ma'lumotlar to'plami juft qiymatlarga ega bo'lsa, median ikki o'rta qiymatning o'rtacha qiymati hisoblanadi.</a:t>
            </a:r>
            <a:endParaRPr lang="ru-RU"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FC491DB-C36E-20E6-F5C0-91A5F1A52397}"/>
              </a:ext>
            </a:extLst>
          </p:cNvPr>
          <p:cNvSpPr txBox="1"/>
          <p:nvPr/>
        </p:nvSpPr>
        <p:spPr>
          <a:xfrm>
            <a:off x="612995" y="2473959"/>
            <a:ext cx="10259461" cy="3436838"/>
          </a:xfrm>
          <a:prstGeom prst="rect">
            <a:avLst/>
          </a:prstGeom>
          <a:noFill/>
        </p:spPr>
        <p:txBody>
          <a:bodyPr wrap="square">
            <a:spAutoFit/>
          </a:bodyPr>
          <a:lstStyle/>
          <a:p>
            <a:pPr algn="l" rtl="0" fontAlgn="base">
              <a:spcAft>
                <a:spcPts val="750"/>
              </a:spcAft>
              <a:buNone/>
            </a:pPr>
            <a:r>
              <a:rPr lang="tr-TR" sz="2400" b="0" i="0" dirty="0">
                <a:solidFill>
                  <a:srgbClr val="FFFFFF"/>
                </a:solidFill>
                <a:effectLst/>
                <a:latin typeface="Times New Roman" panose="02020603050405020304" pitchFamily="18" charset="0"/>
                <a:cs typeface="Times New Roman" panose="02020603050405020304" pitchFamily="18" charset="0"/>
              </a:rPr>
              <a:t>Medianning turli misollari:</a:t>
            </a:r>
          </a:p>
          <a:p>
            <a:pPr algn="l" rtl="0" fontAlgn="base">
              <a:spcAft>
                <a:spcPts val="750"/>
              </a:spcAft>
              <a:buNone/>
            </a:pPr>
            <a:r>
              <a:rPr lang="en-US" sz="2400" b="1" i="0" dirty="0">
                <a:solidFill>
                  <a:srgbClr val="00B0F0"/>
                </a:solidFill>
                <a:effectLst/>
                <a:latin typeface="Times New Roman" panose="02020603050405020304" pitchFamily="18" charset="0"/>
                <a:cs typeface="Times New Roman" panose="02020603050405020304" pitchFamily="18" charset="0"/>
              </a:rPr>
              <a:t>M</a:t>
            </a:r>
            <a:r>
              <a:rPr lang="tr-TR" sz="2400" b="1" i="0" dirty="0">
                <a:solidFill>
                  <a:srgbClr val="00B0F0"/>
                </a:solidFill>
                <a:effectLst/>
                <a:latin typeface="Times New Roman" panose="02020603050405020304" pitchFamily="18" charset="0"/>
                <a:cs typeface="Times New Roman" panose="02020603050405020304" pitchFamily="18" charset="0"/>
              </a:rPr>
              <a:t>isol</a:t>
            </a:r>
            <a:r>
              <a:rPr lang="tr-TR" sz="2400" b="0" i="0" dirty="0">
                <a:solidFill>
                  <a:srgbClr val="00B0F0"/>
                </a:solidFill>
                <a:effectLst/>
                <a:latin typeface="Times New Roman" panose="02020603050405020304" pitchFamily="18" charset="0"/>
                <a:cs typeface="Times New Roman" panose="02020603050405020304" pitchFamily="18" charset="0"/>
              </a:rPr>
              <a:t> : </a:t>
            </a:r>
            <a:r>
              <a:rPr lang="tr-TR" sz="2400" b="0" i="0" dirty="0">
                <a:solidFill>
                  <a:srgbClr val="FFFFFF"/>
                </a:solidFill>
                <a:effectLst/>
                <a:latin typeface="Times New Roman" panose="02020603050405020304" pitchFamily="18" charset="0"/>
                <a:cs typeface="Times New Roman" panose="02020603050405020304" pitchFamily="18" charset="0"/>
              </a:rPr>
              <a:t>Besh do'stning o'rtacha maoshi, bunda har bir do'stning shaxsiy maoshi,</a:t>
            </a:r>
          </a:p>
          <a:p>
            <a:pPr marL="742950" lvl="1" indent="-285750" fontAlgn="base">
              <a:spcAft>
                <a:spcPts val="1800"/>
              </a:spcAft>
              <a:buFont typeface="Wingdings" panose="05000000000000000000" pitchFamily="2" charset="2"/>
              <a:buChar char="§"/>
            </a:pPr>
            <a:r>
              <a:rPr lang="en-US" sz="2400" b="0" i="0" dirty="0">
                <a:solidFill>
                  <a:srgbClr val="FFFFFF"/>
                </a:solidFill>
                <a:effectLst/>
                <a:latin typeface="Times New Roman" panose="02020603050405020304" pitchFamily="18" charset="0"/>
                <a:cs typeface="Times New Roman" panose="02020603050405020304" pitchFamily="18" charset="0"/>
              </a:rPr>
              <a:t> </a:t>
            </a:r>
            <a:r>
              <a:rPr lang="tr-TR" b="0" i="0" dirty="0">
                <a:solidFill>
                  <a:srgbClr val="FFFFFF"/>
                </a:solidFill>
                <a:effectLst/>
                <a:latin typeface="Times New Roman" panose="02020603050405020304" pitchFamily="18" charset="0"/>
                <a:cs typeface="Times New Roman" panose="02020603050405020304" pitchFamily="18" charset="0"/>
              </a:rPr>
              <a:t>74 000,</a:t>
            </a:r>
          </a:p>
          <a:p>
            <a:pPr marL="742950" lvl="1" indent="-285750" fontAlgn="base">
              <a:spcAft>
                <a:spcPts val="1800"/>
              </a:spcAft>
              <a:buFont typeface="Wingdings" panose="05000000000000000000" pitchFamily="2" charset="2"/>
              <a:buChar char="§"/>
            </a:pPr>
            <a:r>
              <a:rPr lang="tr-TR" b="0" i="0" dirty="0">
                <a:solidFill>
                  <a:srgbClr val="FFFFFF"/>
                </a:solidFill>
                <a:effectLst/>
                <a:latin typeface="Times New Roman" panose="02020603050405020304" pitchFamily="18" charset="0"/>
                <a:cs typeface="Times New Roman" panose="02020603050405020304" pitchFamily="18" charset="0"/>
              </a:rPr>
              <a:t>82 000,</a:t>
            </a:r>
          </a:p>
          <a:p>
            <a:pPr marL="742950" lvl="1" indent="-285750" fontAlgn="base">
              <a:spcAft>
                <a:spcPts val="1800"/>
              </a:spcAft>
              <a:buFont typeface="Wingdings" panose="05000000000000000000" pitchFamily="2" charset="2"/>
              <a:buChar char="§"/>
            </a:pPr>
            <a:r>
              <a:rPr lang="tr-TR" b="0" i="0" dirty="0">
                <a:solidFill>
                  <a:srgbClr val="FFFFFF"/>
                </a:solidFill>
                <a:effectLst/>
                <a:latin typeface="Times New Roman" panose="02020603050405020304" pitchFamily="18" charset="0"/>
                <a:cs typeface="Times New Roman" panose="02020603050405020304" pitchFamily="18" charset="0"/>
              </a:rPr>
              <a:t>75 000,</a:t>
            </a:r>
          </a:p>
          <a:p>
            <a:pPr marL="742950" lvl="1" indent="-285750" fontAlgn="base">
              <a:spcAft>
                <a:spcPts val="1800"/>
              </a:spcAft>
              <a:buFont typeface="Wingdings" panose="05000000000000000000" pitchFamily="2" charset="2"/>
              <a:buChar char="§"/>
            </a:pPr>
            <a:r>
              <a:rPr lang="tr-TR" b="0" i="0" dirty="0">
                <a:solidFill>
                  <a:srgbClr val="FFFFFF"/>
                </a:solidFill>
                <a:effectLst/>
                <a:latin typeface="Times New Roman" panose="02020603050405020304" pitchFamily="18" charset="0"/>
                <a:cs typeface="Times New Roman" panose="02020603050405020304" pitchFamily="18" charset="0"/>
              </a:rPr>
              <a:t>96 000 va</a:t>
            </a:r>
          </a:p>
          <a:p>
            <a:pPr marL="742950" lvl="1" indent="-285750" fontAlgn="base">
              <a:spcAft>
                <a:spcPts val="1800"/>
              </a:spcAft>
              <a:buFont typeface="Wingdings" panose="05000000000000000000" pitchFamily="2" charset="2"/>
              <a:buChar char="§"/>
            </a:pPr>
            <a:r>
              <a:rPr lang="tr-TR" b="0" i="0" dirty="0">
                <a:solidFill>
                  <a:srgbClr val="FFFFFF"/>
                </a:solidFill>
                <a:effectLst/>
                <a:latin typeface="Times New Roman" panose="02020603050405020304" pitchFamily="18" charset="0"/>
                <a:cs typeface="Times New Roman" panose="02020603050405020304" pitchFamily="18" charset="0"/>
              </a:rPr>
              <a:t>88 000.</a:t>
            </a:r>
          </a:p>
        </p:txBody>
      </p:sp>
      <p:sp>
        <p:nvSpPr>
          <p:cNvPr id="9" name="TextBox 8">
            <a:extLst>
              <a:ext uri="{FF2B5EF4-FFF2-40B4-BE49-F238E27FC236}">
                <a16:creationId xmlns:a16="http://schemas.microsoft.com/office/drawing/2014/main" id="{07733A49-E0D8-BF54-8D17-BD76D740A596}"/>
              </a:ext>
            </a:extLst>
          </p:cNvPr>
          <p:cNvSpPr txBox="1"/>
          <p:nvPr/>
        </p:nvSpPr>
        <p:spPr>
          <a:xfrm>
            <a:off x="612995" y="5910797"/>
            <a:ext cx="11355687" cy="830997"/>
          </a:xfrm>
          <a:prstGeom prst="rect">
            <a:avLst/>
          </a:prstGeom>
          <a:noFill/>
        </p:spPr>
        <p:txBody>
          <a:bodyPr wrap="square">
            <a:spAutoFit/>
          </a:bodyPr>
          <a:lstStyle/>
          <a:p>
            <a:r>
              <a:rPr lang="tr-TR" sz="2400" b="0" dirty="0">
                <a:solidFill>
                  <a:srgbClr val="FFFFFF"/>
                </a:solidFill>
                <a:effectLst/>
                <a:latin typeface="Times New Roman" panose="02020603050405020304" pitchFamily="18" charset="0"/>
                <a:cs typeface="Times New Roman" panose="02020603050405020304" pitchFamily="18" charset="0"/>
              </a:rPr>
              <a:t>Avval o'sish tartibida 74,000, 75,000, 82,000, 88,000 va 96,000 raqamlarini ajratamiz, keyin ma'lumotlarni kuzatib, biz o'rtacha ish haqini </a:t>
            </a:r>
            <a:r>
              <a:rPr lang="tr-TR" sz="2400" b="1" dirty="0">
                <a:solidFill>
                  <a:srgbClr val="FFFFFF"/>
                </a:solidFill>
                <a:effectLst/>
                <a:latin typeface="Times New Roman" panose="02020603050405020304" pitchFamily="18" charset="0"/>
                <a:cs typeface="Times New Roman" panose="02020603050405020304" pitchFamily="18" charset="0"/>
              </a:rPr>
              <a:t>82,000</a:t>
            </a:r>
            <a:r>
              <a:rPr lang="tr-TR" sz="2400" b="0" dirty="0">
                <a:solidFill>
                  <a:srgbClr val="FFFFFF"/>
                </a:solidFill>
                <a:effectLst/>
                <a:latin typeface="Times New Roman" panose="02020603050405020304" pitchFamily="18" charset="0"/>
                <a:cs typeface="Times New Roman" panose="02020603050405020304" pitchFamily="18" charset="0"/>
              </a:rPr>
              <a:t> deb olamiz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6174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B1AF33-65CB-A4E3-F948-162D36AB1920}"/>
              </a:ext>
            </a:extLst>
          </p:cNvPr>
          <p:cNvSpPr txBox="1"/>
          <p:nvPr/>
        </p:nvSpPr>
        <p:spPr>
          <a:xfrm>
            <a:off x="682394" y="1106413"/>
            <a:ext cx="5271758" cy="830997"/>
          </a:xfrm>
          <a:prstGeom prst="rect">
            <a:avLst/>
          </a:prstGeom>
          <a:noFill/>
        </p:spPr>
        <p:txBody>
          <a:bodyPr wrap="square">
            <a:spAutoFit/>
          </a:bodyPr>
          <a:lstStyle/>
          <a:p>
            <a:pPr algn="l" fontAlgn="base">
              <a:buNone/>
            </a:pPr>
            <a:r>
              <a:rPr lang="en-US" sz="2400" b="1" dirty="0" err="1">
                <a:solidFill>
                  <a:srgbClr val="00B0F0"/>
                </a:solidFill>
                <a:latin typeface="Times New Roman" panose="02020603050405020304" pitchFamily="18" charset="0"/>
                <a:cs typeface="Times New Roman" panose="02020603050405020304" pitchFamily="18" charset="0"/>
              </a:rPr>
              <a:t>Guruhlanmagan</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ma’lumotlar</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uchun</a:t>
            </a:r>
            <a:r>
              <a:rPr lang="en-US" sz="2400" b="1" dirty="0">
                <a:solidFill>
                  <a:srgbClr val="00B0F0"/>
                </a:solidFill>
                <a:latin typeface="Times New Roman" panose="02020603050405020304" pitchFamily="18" charset="0"/>
                <a:cs typeface="Times New Roman" panose="02020603050405020304" pitchFamily="18" charset="0"/>
              </a:rPr>
              <a:t> median </a:t>
            </a:r>
            <a:r>
              <a:rPr lang="en-US" sz="2400" b="1" dirty="0" err="1">
                <a:solidFill>
                  <a:srgbClr val="00B0F0"/>
                </a:solidFill>
                <a:latin typeface="Times New Roman" panose="02020603050405020304" pitchFamily="18" charset="0"/>
                <a:cs typeface="Times New Roman" panose="02020603050405020304" pitchFamily="18" charset="0"/>
              </a:rPr>
              <a:t>qiymat</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topish</a:t>
            </a:r>
            <a:endParaRPr lang="tr-TR" sz="2400" b="1" i="0" dirty="0">
              <a:solidFill>
                <a:srgbClr val="00B0F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94F676B-F43D-D85C-1CC9-A2EE8806086E}"/>
              </a:ext>
            </a:extLst>
          </p:cNvPr>
          <p:cNvSpPr txBox="1"/>
          <p:nvPr/>
        </p:nvSpPr>
        <p:spPr>
          <a:xfrm>
            <a:off x="594888" y="2132711"/>
            <a:ext cx="5196301" cy="707886"/>
          </a:xfrm>
          <a:prstGeom prst="rect">
            <a:avLst/>
          </a:prstGeom>
          <a:noFill/>
        </p:spPr>
        <p:txBody>
          <a:bodyPr wrap="square">
            <a:spAutoFit/>
          </a:bodyPr>
          <a:lstStyle/>
          <a:p>
            <a:pPr marL="285750" indent="-285750">
              <a:buFont typeface="Wingdings" panose="05000000000000000000" pitchFamily="2" charset="2"/>
              <a:buChar char="§"/>
            </a:pPr>
            <a:r>
              <a:rPr lang="tr-TR" sz="2000" dirty="0">
                <a:latin typeface="Times New Roman" panose="02020603050405020304" pitchFamily="18" charset="0"/>
                <a:cs typeface="Times New Roman" panose="02020603050405020304" pitchFamily="18" charset="0"/>
              </a:rPr>
              <a:t>tartiblangan ma’lumotlar orasidagi </a:t>
            </a:r>
            <a:r>
              <a:rPr lang="tr-TR" sz="2000" b="1" dirty="0">
                <a:solidFill>
                  <a:srgbClr val="FFC000"/>
                </a:solidFill>
                <a:latin typeface="Times New Roman" panose="02020603050405020304" pitchFamily="18" charset="0"/>
                <a:cs typeface="Times New Roman" panose="02020603050405020304" pitchFamily="18" charset="0"/>
              </a:rPr>
              <a:t>o‘rtadagi qiymat</a:t>
            </a:r>
            <a:r>
              <a:rPr lang="tr-TR" sz="2000" dirty="0">
                <a:solidFill>
                  <a:srgbClr val="FFC000"/>
                </a:solidFill>
                <a:latin typeface="Times New Roman" panose="02020603050405020304" pitchFamily="18" charset="0"/>
                <a:cs typeface="Times New Roman" panose="02020603050405020304" pitchFamily="18" charset="0"/>
              </a:rPr>
              <a:t>dir.</a:t>
            </a:r>
            <a:endParaRPr lang="ru-RU" sz="2000" dirty="0">
              <a:solidFill>
                <a:srgbClr val="FFC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235883D-426C-64FF-0616-2978601C3505}"/>
              </a:ext>
            </a:extLst>
          </p:cNvPr>
          <p:cNvSpPr txBox="1"/>
          <p:nvPr/>
        </p:nvSpPr>
        <p:spPr>
          <a:xfrm>
            <a:off x="682394" y="2996683"/>
            <a:ext cx="6097508" cy="2426305"/>
          </a:xfrm>
          <a:prstGeom prst="rect">
            <a:avLst/>
          </a:prstGeom>
          <a:noFill/>
        </p:spPr>
        <p:txBody>
          <a:bodyPr wrap="square">
            <a:spAutoFit/>
          </a:bodyPr>
          <a:lstStyle/>
          <a:p>
            <a:pPr algn="just" rtl="0" fontAlgn="base">
              <a:spcAft>
                <a:spcPts val="750"/>
              </a:spcAft>
              <a:buNone/>
            </a:pPr>
            <a:r>
              <a:rPr lang="tr-TR" sz="2000" b="0" i="0" dirty="0">
                <a:solidFill>
                  <a:srgbClr val="FFFFFF"/>
                </a:solidFill>
                <a:effectLst/>
                <a:latin typeface="Times New Roman" panose="02020603050405020304" pitchFamily="18" charset="0"/>
                <a:cs typeface="Times New Roman" panose="02020603050405020304" pitchFamily="18" charset="0"/>
              </a:rPr>
              <a:t>Median formula ikki usul bilan hisoblanadi:</a:t>
            </a:r>
          </a:p>
          <a:p>
            <a:pPr marL="742950" lvl="1" indent="-285750" fontAlgn="base">
              <a:spcAft>
                <a:spcPts val="1800"/>
              </a:spcAft>
              <a:buFont typeface="Wingdings" panose="05000000000000000000" pitchFamily="2" charset="2"/>
              <a:buChar char="§"/>
            </a:pPr>
            <a:r>
              <a:rPr lang="tr-TR" sz="2000" b="0" i="0" dirty="0">
                <a:solidFill>
                  <a:srgbClr val="FFC000"/>
                </a:solidFill>
                <a:effectLst/>
                <a:latin typeface="Times New Roman" panose="02020603050405020304" pitchFamily="18" charset="0"/>
                <a:cs typeface="Times New Roman" panose="02020603050405020304" pitchFamily="18" charset="0"/>
              </a:rPr>
              <a:t>Median formula (n toq bo'lganda)</a:t>
            </a:r>
            <a:endParaRPr lang="en-US" sz="2000" b="0" i="0" dirty="0">
              <a:solidFill>
                <a:srgbClr val="FFC000"/>
              </a:solidFill>
              <a:effectLst/>
              <a:latin typeface="Times New Roman" panose="02020603050405020304" pitchFamily="18" charset="0"/>
              <a:cs typeface="Times New Roman" panose="02020603050405020304" pitchFamily="18" charset="0"/>
            </a:endParaRPr>
          </a:p>
          <a:p>
            <a:pPr lvl="1" fontAlgn="base">
              <a:spcAft>
                <a:spcPts val="1800"/>
              </a:spcAft>
            </a:pPr>
            <a:endParaRPr lang="en-US" sz="2000" b="0" i="0" dirty="0">
              <a:solidFill>
                <a:srgbClr val="FFC000"/>
              </a:solidFill>
              <a:effectLst/>
              <a:latin typeface="Times New Roman" panose="02020603050405020304" pitchFamily="18" charset="0"/>
              <a:cs typeface="Times New Roman" panose="02020603050405020304" pitchFamily="18" charset="0"/>
            </a:endParaRPr>
          </a:p>
          <a:p>
            <a:pPr lvl="1" fontAlgn="base">
              <a:spcAft>
                <a:spcPts val="1800"/>
              </a:spcAft>
            </a:pPr>
            <a:endParaRPr lang="tr-TR" sz="2000" b="0" i="0" dirty="0">
              <a:solidFill>
                <a:srgbClr val="FFC000"/>
              </a:solidFill>
              <a:effectLst/>
              <a:latin typeface="Times New Roman" panose="02020603050405020304" pitchFamily="18" charset="0"/>
              <a:cs typeface="Times New Roman" panose="02020603050405020304" pitchFamily="18" charset="0"/>
            </a:endParaRPr>
          </a:p>
          <a:p>
            <a:pPr marL="742950" lvl="1" indent="-285750" fontAlgn="base">
              <a:spcAft>
                <a:spcPts val="1800"/>
              </a:spcAft>
              <a:buFont typeface="Wingdings" panose="05000000000000000000" pitchFamily="2" charset="2"/>
              <a:buChar char="§"/>
            </a:pPr>
            <a:r>
              <a:rPr lang="tr-TR" sz="2000" b="0" i="0" dirty="0">
                <a:solidFill>
                  <a:srgbClr val="FFC000"/>
                </a:solidFill>
                <a:effectLst/>
                <a:latin typeface="Times New Roman" panose="02020603050405020304" pitchFamily="18" charset="0"/>
                <a:cs typeface="Times New Roman" panose="02020603050405020304" pitchFamily="18" charset="0"/>
              </a:rPr>
              <a:t>Median formula (n juft bo'lganda)</a:t>
            </a:r>
          </a:p>
        </p:txBody>
      </p:sp>
      <p:pic>
        <p:nvPicPr>
          <p:cNvPr id="9" name="Рисунок 8">
            <a:extLst>
              <a:ext uri="{FF2B5EF4-FFF2-40B4-BE49-F238E27FC236}">
                <a16:creationId xmlns:a16="http://schemas.microsoft.com/office/drawing/2014/main" id="{490DD746-D141-433E-1942-BCB3F96FC652}"/>
              </a:ext>
            </a:extLst>
          </p:cNvPr>
          <p:cNvPicPr>
            <a:picLocks noChangeAspect="1"/>
          </p:cNvPicPr>
          <p:nvPr/>
        </p:nvPicPr>
        <p:blipFill>
          <a:blip r:embed="rId2"/>
          <a:stretch>
            <a:fillRect/>
          </a:stretch>
        </p:blipFill>
        <p:spPr>
          <a:xfrm>
            <a:off x="1818731" y="3961798"/>
            <a:ext cx="2785475" cy="868973"/>
          </a:xfrm>
          <a:prstGeom prst="rect">
            <a:avLst/>
          </a:prstGeom>
        </p:spPr>
      </p:pic>
      <p:pic>
        <p:nvPicPr>
          <p:cNvPr id="11" name="Рисунок 10">
            <a:extLst>
              <a:ext uri="{FF2B5EF4-FFF2-40B4-BE49-F238E27FC236}">
                <a16:creationId xmlns:a16="http://schemas.microsoft.com/office/drawing/2014/main" id="{B6D8591B-41C5-1425-546F-C8EC88BC02D4}"/>
              </a:ext>
            </a:extLst>
          </p:cNvPr>
          <p:cNvPicPr>
            <a:picLocks noChangeAspect="1"/>
          </p:cNvPicPr>
          <p:nvPr/>
        </p:nvPicPr>
        <p:blipFill>
          <a:blip r:embed="rId3"/>
          <a:stretch>
            <a:fillRect/>
          </a:stretch>
        </p:blipFill>
        <p:spPr>
          <a:xfrm>
            <a:off x="1667324" y="5579074"/>
            <a:ext cx="3158670" cy="1147650"/>
          </a:xfrm>
          <a:prstGeom prst="rect">
            <a:avLst/>
          </a:prstGeom>
        </p:spPr>
      </p:pic>
      <p:cxnSp>
        <p:nvCxnSpPr>
          <p:cNvPr id="12" name="Прямая соединительная линия 11">
            <a:extLst>
              <a:ext uri="{FF2B5EF4-FFF2-40B4-BE49-F238E27FC236}">
                <a16:creationId xmlns:a16="http://schemas.microsoft.com/office/drawing/2014/main" id="{F1E1606B-94C4-B64E-796E-DE3C2BEAECA7}"/>
              </a:ext>
            </a:extLst>
          </p:cNvPr>
          <p:cNvCxnSpPr/>
          <p:nvPr/>
        </p:nvCxnSpPr>
        <p:spPr>
          <a:xfrm>
            <a:off x="6102025" y="1269878"/>
            <a:ext cx="0" cy="5383840"/>
          </a:xfrm>
          <a:prstGeom prst="line">
            <a:avLst/>
          </a:prstGeom>
          <a:ln w="57150"/>
        </p:spPr>
        <p:style>
          <a:lnRef idx="1">
            <a:schemeClr val="accent5"/>
          </a:lnRef>
          <a:fillRef idx="0">
            <a:schemeClr val="accent5"/>
          </a:fillRef>
          <a:effectRef idx="0">
            <a:schemeClr val="accent5"/>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1954BBA-A270-1975-0B8F-3A1C42972570}"/>
                  </a:ext>
                </a:extLst>
              </p:cNvPr>
              <p:cNvSpPr txBox="1"/>
              <p:nvPr/>
            </p:nvSpPr>
            <p:spPr>
              <a:xfrm>
                <a:off x="6277060" y="1303715"/>
                <a:ext cx="6097508" cy="1938992"/>
              </a:xfrm>
              <a:prstGeom prst="rect">
                <a:avLst/>
              </a:prstGeom>
              <a:noFill/>
            </p:spPr>
            <p:txBody>
              <a:bodyPr wrap="square">
                <a:spAutoFit/>
              </a:bodyPr>
              <a:lstStyle/>
              <a:p>
                <a:pPr>
                  <a:buNone/>
                </a:pPr>
                <a:r>
                  <a:rPr lang="tr-TR" sz="2000" b="1" dirty="0">
                    <a:solidFill>
                      <a:srgbClr val="FFC000"/>
                    </a:solidFill>
                    <a:latin typeface="Times New Roman" panose="02020603050405020304" pitchFamily="18" charset="0"/>
                    <a:cs typeface="Times New Roman" panose="02020603050405020304" pitchFamily="18" charset="0"/>
                  </a:rPr>
                  <a:t>1. Agar sonlar toq bo‘lsa</a:t>
                </a:r>
              </a:p>
              <a:p>
                <a:pPr>
                  <a:buNone/>
                </a:pPr>
                <a:r>
                  <a:rPr lang="tr-TR" sz="2000" dirty="0">
                    <a:latin typeface="Times New Roman" panose="02020603050405020304" pitchFamily="18" charset="0"/>
                    <a:cs typeface="Times New Roman" panose="02020603050405020304" pitchFamily="18" charset="0"/>
                  </a:rPr>
                  <a:t>Misol:</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r>
                      <a:rPr lang="tr-TR" sz="2000">
                        <a:latin typeface="Cambria Math" panose="02040503050406030204" pitchFamily="18" charset="0"/>
                      </a:rPr>
                      <m:t>3,8,1,5,9</m:t>
                    </m:r>
                  </m:oMath>
                </a14:m>
                <a:endParaRPr lang="tr-TR" sz="2000" dirty="0">
                  <a:latin typeface="Times New Roman" panose="02020603050405020304" pitchFamily="18" charset="0"/>
                  <a:cs typeface="Times New Roman" panose="02020603050405020304" pitchFamily="18" charset="0"/>
                </a:endParaRPr>
              </a:p>
              <a:p>
                <a:pPr>
                  <a:buNone/>
                </a:pPr>
                <a:r>
                  <a:rPr lang="tr-TR" sz="2000" dirty="0">
                    <a:latin typeface="Times New Roman" panose="02020603050405020304" pitchFamily="18" charset="0"/>
                    <a:cs typeface="Times New Roman" panose="02020603050405020304" pitchFamily="18" charset="0"/>
                  </a:rPr>
                  <a:t>1-qadam: tartiblaymiz:</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r>
                      <a:rPr lang="tr-TR" sz="2000">
                        <a:latin typeface="Cambria Math" panose="02040503050406030204" pitchFamily="18" charset="0"/>
                      </a:rPr>
                      <m:t>1,3,5,8,9</m:t>
                    </m:r>
                  </m:oMath>
                </a14:m>
                <a:endParaRPr lang="tr-TR" sz="2000" dirty="0">
                  <a:latin typeface="Times New Roman" panose="02020603050405020304" pitchFamily="18" charset="0"/>
                  <a:cs typeface="Times New Roman" panose="02020603050405020304" pitchFamily="18" charset="0"/>
                </a:endParaRPr>
              </a:p>
              <a:p>
                <a:pPr>
                  <a:buNone/>
                </a:pPr>
                <a:r>
                  <a:rPr lang="en-US" sz="2000" dirty="0" err="1">
                    <a:latin typeface="Times New Roman" panose="02020603050405020304" pitchFamily="18" charset="0"/>
                    <a:cs typeface="Times New Roman" panose="02020603050405020304" pitchFamily="18" charset="0"/>
                  </a:rPr>
                  <a:t>Elementlar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soni</a:t>
                </a:r>
                <a:r>
                  <a:rPr lang="en-US" sz="2000" dirty="0">
                    <a:latin typeface="Times New Roman" panose="02020603050405020304" pitchFamily="18" charset="0"/>
                    <a:cs typeface="Times New Roman" panose="02020603050405020304" pitchFamily="18" charset="0"/>
                  </a:rPr>
                  <a:t> n = </a:t>
                </a:r>
                <a:r>
                  <a:rPr lang="tr-TR" sz="2000" dirty="0">
                    <a:latin typeface="Times New Roman" panose="02020603050405020304" pitchFamily="18" charset="0"/>
                    <a:cs typeface="Times New Roman" panose="02020603050405020304" pitchFamily="18" charset="0"/>
                  </a:rPr>
                  <a:t>5 ta element bor → toq</a:t>
                </a:r>
              </a:p>
              <a:p>
                <a:pPr>
                  <a:buNone/>
                </a:pPr>
                <a:r>
                  <a:rPr lang="tr-TR" sz="2000" dirty="0">
                    <a:latin typeface="Times New Roman" panose="02020603050405020304" pitchFamily="18" charset="0"/>
                    <a:cs typeface="Times New Roman" panose="02020603050405020304" pitchFamily="18" charset="0"/>
                  </a:rPr>
                  <a:t>O‘rtadagi son = 5</a:t>
                </a:r>
              </a:p>
              <a:p>
                <a:pPr>
                  <a:buNone/>
                </a:pPr>
                <a:r>
                  <a:rPr lang="tr-TR" sz="2000" dirty="0">
                    <a:latin typeface="Times New Roman" panose="02020603050405020304" pitchFamily="18" charset="0"/>
                    <a:cs typeface="Times New Roman" panose="02020603050405020304" pitchFamily="18" charset="0"/>
                  </a:rPr>
                  <a:t>Median = 5</a:t>
                </a:r>
              </a:p>
            </p:txBody>
          </p:sp>
        </mc:Choice>
        <mc:Fallback xmlns="">
          <p:sp>
            <p:nvSpPr>
              <p:cNvPr id="14" name="TextBox 13">
                <a:extLst>
                  <a:ext uri="{FF2B5EF4-FFF2-40B4-BE49-F238E27FC236}">
                    <a16:creationId xmlns:a16="http://schemas.microsoft.com/office/drawing/2014/main" id="{A1954BBA-A270-1975-0B8F-3A1C42972570}"/>
                  </a:ext>
                </a:extLst>
              </p:cNvPr>
              <p:cNvSpPr txBox="1">
                <a:spLocks noRot="1" noChangeAspect="1" noMove="1" noResize="1" noEditPoints="1" noAdjustHandles="1" noChangeArrowheads="1" noChangeShapeType="1" noTextEdit="1"/>
              </p:cNvSpPr>
              <p:nvPr/>
            </p:nvSpPr>
            <p:spPr>
              <a:xfrm>
                <a:off x="6277060" y="1303715"/>
                <a:ext cx="6097508" cy="1938992"/>
              </a:xfrm>
              <a:prstGeom prst="rect">
                <a:avLst/>
              </a:prstGeom>
              <a:blipFill>
                <a:blip r:embed="rId4"/>
                <a:stretch>
                  <a:fillRect l="-1100" t="-1887" b="-471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61D4B71-480C-A69D-4E99-FA46E426A8B8}"/>
                  </a:ext>
                </a:extLst>
              </p:cNvPr>
              <p:cNvSpPr txBox="1"/>
              <p:nvPr/>
            </p:nvSpPr>
            <p:spPr>
              <a:xfrm>
                <a:off x="6293658" y="3667540"/>
                <a:ext cx="6097508" cy="2514086"/>
              </a:xfrm>
              <a:prstGeom prst="rect">
                <a:avLst/>
              </a:prstGeom>
              <a:noFill/>
            </p:spPr>
            <p:txBody>
              <a:bodyPr wrap="square">
                <a:spAutoFit/>
              </a:bodyPr>
              <a:lstStyle/>
              <a:p>
                <a:pPr>
                  <a:buNone/>
                </a:pPr>
                <a:r>
                  <a:rPr lang="tr-TR" sz="2000" b="1" dirty="0">
                    <a:solidFill>
                      <a:srgbClr val="FFC000"/>
                    </a:solidFill>
                    <a:latin typeface="Times New Roman" panose="02020603050405020304" pitchFamily="18" charset="0"/>
                    <a:cs typeface="Times New Roman" panose="02020603050405020304" pitchFamily="18" charset="0"/>
                  </a:rPr>
                  <a:t>2. Agar sonlar juft bo‘lsa</a:t>
                </a:r>
              </a:p>
              <a:p>
                <a:pPr>
                  <a:buNone/>
                </a:pPr>
                <a:r>
                  <a:rPr lang="tr-TR" sz="2000" dirty="0">
                    <a:latin typeface="Times New Roman" panose="02020603050405020304" pitchFamily="18" charset="0"/>
                    <a:cs typeface="Times New Roman" panose="02020603050405020304" pitchFamily="18" charset="0"/>
                  </a:rPr>
                  <a:t>Misol:</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r>
                      <a:rPr lang="tr-TR" sz="2000">
                        <a:latin typeface="Cambria Math" panose="02040503050406030204" pitchFamily="18" charset="0"/>
                      </a:rPr>
                      <m:t>4</m:t>
                    </m:r>
                    <m:r>
                      <a:rPr lang="tr-TR" sz="2000" i="0">
                        <a:latin typeface="Cambria Math" panose="02040503050406030204" pitchFamily="18" charset="0"/>
                      </a:rPr>
                      <m:t>,1,7,9,3,10</m:t>
                    </m:r>
                  </m:oMath>
                </a14:m>
                <a:endParaRPr lang="tr-TR" sz="2000" dirty="0">
                  <a:latin typeface="Times New Roman" panose="02020603050405020304" pitchFamily="18" charset="0"/>
                  <a:cs typeface="Times New Roman" panose="02020603050405020304" pitchFamily="18" charset="0"/>
                </a:endParaRPr>
              </a:p>
              <a:p>
                <a:pPr>
                  <a:buNone/>
                </a:pPr>
                <a:r>
                  <a:rPr lang="tr-TR" sz="2000" dirty="0">
                    <a:latin typeface="Times New Roman" panose="02020603050405020304" pitchFamily="18" charset="0"/>
                    <a:cs typeface="Times New Roman" panose="02020603050405020304" pitchFamily="18" charset="0"/>
                  </a:rPr>
                  <a:t>1-qadam: tartiblaymiz:</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r>
                      <a:rPr lang="tr-TR" sz="2000">
                        <a:latin typeface="Cambria Math" panose="02040503050406030204" pitchFamily="18" charset="0"/>
                      </a:rPr>
                      <m:t>1</m:t>
                    </m:r>
                    <m:r>
                      <a:rPr lang="tr-TR" sz="2000" i="0">
                        <a:latin typeface="Cambria Math" panose="02040503050406030204" pitchFamily="18" charset="0"/>
                      </a:rPr>
                      <m:t>,3,4,7,9,10</m:t>
                    </m:r>
                  </m:oMath>
                </a14:m>
                <a:endParaRPr lang="tr-TR" sz="2000" dirty="0">
                  <a:latin typeface="Times New Roman" panose="02020603050405020304" pitchFamily="18" charset="0"/>
                  <a:cs typeface="Times New Roman" panose="02020603050405020304" pitchFamily="18" charset="0"/>
                </a:endParaRPr>
              </a:p>
              <a:p>
                <a:pPr>
                  <a:buNone/>
                </a:pPr>
                <a:r>
                  <a:rPr lang="tr-TR" sz="2000" dirty="0">
                    <a:latin typeface="Times New Roman" panose="02020603050405020304" pitchFamily="18" charset="0"/>
                    <a:cs typeface="Times New Roman" panose="02020603050405020304" pitchFamily="18" charset="0"/>
                  </a:rPr>
                  <a:t>Elementlar soni 6 → juft</a:t>
                </a:r>
              </a:p>
              <a:p>
                <a:pPr>
                  <a:buNone/>
                </a:pPr>
                <a:r>
                  <a:rPr lang="tr-TR" sz="2000" dirty="0">
                    <a:latin typeface="Times New Roman" panose="02020603050405020304" pitchFamily="18" charset="0"/>
                    <a:cs typeface="Times New Roman" panose="02020603050405020304" pitchFamily="18" charset="0"/>
                  </a:rPr>
                  <a:t>O‘rtadagi ikkita son: 4 va 7</a:t>
                </a:r>
              </a:p>
              <a:p>
                <a:pPr>
                  <a:buNone/>
                </a:pPr>
                <a14:m>
                  <m:oMathPara xmlns:m="http://schemas.openxmlformats.org/officeDocument/2006/math">
                    <m:oMathParaPr>
                      <m:jc m:val="centerGroup"/>
                    </m:oMathParaPr>
                    <m:oMath xmlns:m="http://schemas.openxmlformats.org/officeDocument/2006/math">
                      <m:r>
                        <a:rPr lang="tr-TR" sz="2000" i="1">
                          <a:latin typeface="Cambria Math" panose="02040503050406030204" pitchFamily="18" charset="0"/>
                        </a:rPr>
                        <m:t>𝑀𝑒𝑑𝑖𝑎𝑛</m:t>
                      </m:r>
                      <m:r>
                        <a:rPr lang="tr-TR" sz="2000" i="0">
                          <a:latin typeface="Cambria Math" panose="02040503050406030204" pitchFamily="18" charset="0"/>
                        </a:rPr>
                        <m:t>=</m:t>
                      </m:r>
                      <m:f>
                        <m:fPr>
                          <m:ctrlPr>
                            <a:rPr lang="ar-AE" sz="2000" i="1">
                              <a:latin typeface="Cambria Math" panose="02040503050406030204" pitchFamily="18" charset="0"/>
                            </a:rPr>
                          </m:ctrlPr>
                        </m:fPr>
                        <m:num>
                          <m:r>
                            <a:rPr lang="ar-AE" sz="2000" i="0">
                              <a:latin typeface="Cambria Math" panose="02040503050406030204" pitchFamily="18" charset="0"/>
                            </a:rPr>
                            <m:t>4</m:t>
                          </m:r>
                          <m:r>
                            <a:rPr lang="ar-AE" sz="2000" i="0">
                              <a:latin typeface="Cambria Math" panose="02040503050406030204" pitchFamily="18" charset="0"/>
                            </a:rPr>
                            <m:t>+</m:t>
                          </m:r>
                          <m:r>
                            <a:rPr lang="ar-AE" sz="2000" i="0">
                              <a:latin typeface="Cambria Math" panose="02040503050406030204" pitchFamily="18" charset="0"/>
                            </a:rPr>
                            <m:t>7</m:t>
                          </m:r>
                        </m:num>
                        <m:den>
                          <m:r>
                            <a:rPr lang="ar-AE" sz="2000" i="0">
                              <a:latin typeface="Cambria Math" panose="02040503050406030204" pitchFamily="18" charset="0"/>
                            </a:rPr>
                            <m:t>2</m:t>
                          </m:r>
                        </m:den>
                      </m:f>
                      <m:r>
                        <a:rPr lang="ar-AE" sz="2000" i="0">
                          <a:latin typeface="Cambria Math" panose="02040503050406030204" pitchFamily="18" charset="0"/>
                        </a:rPr>
                        <m:t>=</m:t>
                      </m:r>
                      <m:r>
                        <a:rPr lang="ar-AE" sz="2000" i="0">
                          <a:latin typeface="Cambria Math" panose="02040503050406030204" pitchFamily="18" charset="0"/>
                        </a:rPr>
                        <m:t>5</m:t>
                      </m:r>
                      <m:r>
                        <a:rPr lang="ar-AE" sz="2000" i="0">
                          <a:latin typeface="Cambria Math" panose="02040503050406030204" pitchFamily="18" charset="0"/>
                        </a:rPr>
                        <m:t>.</m:t>
                      </m:r>
                      <m:r>
                        <a:rPr lang="ar-AE" sz="2000" i="0">
                          <a:latin typeface="Cambria Math" panose="02040503050406030204" pitchFamily="18" charset="0"/>
                        </a:rPr>
                        <m:t>5</m:t>
                      </m:r>
                    </m:oMath>
                  </m:oMathPara>
                </a14:m>
                <a:endParaRPr lang="ar-AE" sz="2000" dirty="0">
                  <a:latin typeface="Times New Roman" panose="02020603050405020304" pitchFamily="18" charset="0"/>
                  <a:cs typeface="Times New Roman" panose="02020603050405020304" pitchFamily="18" charset="0"/>
                </a:endParaRPr>
              </a:p>
              <a:p>
                <a:pPr>
                  <a:buNone/>
                </a:pPr>
                <a:r>
                  <a:rPr lang="tr-TR" sz="2000" b="1" dirty="0">
                    <a:latin typeface="Times New Roman" panose="02020603050405020304" pitchFamily="18" charset="0"/>
                    <a:cs typeface="Times New Roman" panose="02020603050405020304" pitchFamily="18" charset="0"/>
                  </a:rPr>
                  <a:t>Median = 5.5</a:t>
                </a:r>
                <a:endParaRPr lang="tr-TR" sz="2000"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261D4B71-480C-A69D-4E99-FA46E426A8B8}"/>
                  </a:ext>
                </a:extLst>
              </p:cNvPr>
              <p:cNvSpPr txBox="1">
                <a:spLocks noRot="1" noChangeAspect="1" noMove="1" noResize="1" noEditPoints="1" noAdjustHandles="1" noChangeArrowheads="1" noChangeShapeType="1" noTextEdit="1"/>
              </p:cNvSpPr>
              <p:nvPr/>
            </p:nvSpPr>
            <p:spPr>
              <a:xfrm>
                <a:off x="6293658" y="3667540"/>
                <a:ext cx="6097508" cy="2514086"/>
              </a:xfrm>
              <a:prstGeom prst="rect">
                <a:avLst/>
              </a:prstGeom>
              <a:blipFill>
                <a:blip r:embed="rId5"/>
                <a:stretch>
                  <a:fillRect l="-999" t="-1456" b="-3641"/>
                </a:stretch>
              </a:blipFill>
            </p:spPr>
            <p:txBody>
              <a:bodyPr/>
              <a:lstStyle/>
              <a:p>
                <a:r>
                  <a:rPr lang="ru-RU">
                    <a:noFill/>
                  </a:rPr>
                  <a:t> </a:t>
                </a:r>
              </a:p>
            </p:txBody>
          </p:sp>
        </mc:Fallback>
      </mc:AlternateContent>
      <p:sp>
        <p:nvSpPr>
          <p:cNvPr id="17" name="TextBox 16">
            <a:extLst>
              <a:ext uri="{FF2B5EF4-FFF2-40B4-BE49-F238E27FC236}">
                <a16:creationId xmlns:a16="http://schemas.microsoft.com/office/drawing/2014/main" id="{0FD18256-01B4-A39D-2E9D-20B69D5716C9}"/>
              </a:ext>
            </a:extLst>
          </p:cNvPr>
          <p:cNvSpPr txBox="1"/>
          <p:nvPr/>
        </p:nvSpPr>
        <p:spPr>
          <a:xfrm>
            <a:off x="594888" y="205594"/>
            <a:ext cx="6097508" cy="584775"/>
          </a:xfrm>
          <a:prstGeom prst="rect">
            <a:avLst/>
          </a:prstGeom>
          <a:noFill/>
        </p:spPr>
        <p:txBody>
          <a:bodyPr wrap="square">
            <a:spAutoFit/>
          </a:bodyPr>
          <a:lstStyle/>
          <a:p>
            <a:pPr algn="l" fontAlgn="base">
              <a:buNone/>
            </a:pPr>
            <a:r>
              <a:rPr lang="en-US" sz="3200" b="1" dirty="0">
                <a:latin typeface="Times New Roman" panose="02020603050405020304" pitchFamily="18" charset="0"/>
                <a:cs typeface="Times New Roman" panose="02020603050405020304" pitchFamily="18" charset="0"/>
              </a:rPr>
              <a:t>MEDIAN QIYMAT</a:t>
            </a:r>
            <a:r>
              <a:rPr lang="en-US" sz="3200" b="1" i="0" dirty="0">
                <a:effectLst/>
                <a:latin typeface="Times New Roman" panose="02020603050405020304" pitchFamily="18" charset="0"/>
                <a:cs typeface="Times New Roman" panose="02020603050405020304" pitchFamily="18" charset="0"/>
              </a:rPr>
              <a:t>(MEDIAN)</a:t>
            </a:r>
            <a:endParaRPr lang="tr-TR" sz="3200" b="1" i="0" dirty="0">
              <a:effectLst/>
              <a:latin typeface="Times New Roman" panose="02020603050405020304" pitchFamily="18" charset="0"/>
              <a:cs typeface="Times New Roman" panose="02020603050405020304" pitchFamily="18" charset="0"/>
            </a:endParaRPr>
          </a:p>
        </p:txBody>
      </p:sp>
      <p:pic>
        <p:nvPicPr>
          <p:cNvPr id="2" name="Рисунок 1">
            <a:extLst>
              <a:ext uri="{FF2B5EF4-FFF2-40B4-BE49-F238E27FC236}">
                <a16:creationId xmlns:a16="http://schemas.microsoft.com/office/drawing/2014/main" id="{37613172-2040-7409-2EFE-8EC3F4D0F268}"/>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contrast="40000"/>
                    </a14:imgEffect>
                  </a14:imgLayer>
                </a14:imgProps>
              </a:ext>
            </a:extLst>
          </a:blip>
          <a:stretch>
            <a:fillRect/>
          </a:stretch>
        </p:blipFill>
        <p:spPr>
          <a:xfrm>
            <a:off x="1791570" y="3990525"/>
            <a:ext cx="2785475" cy="868973"/>
          </a:xfrm>
          <a:prstGeom prst="rect">
            <a:avLst/>
          </a:prstGeom>
          <a:ln>
            <a:solidFill>
              <a:schemeClr val="tx1"/>
            </a:solidFill>
          </a:ln>
        </p:spPr>
      </p:pic>
      <p:pic>
        <p:nvPicPr>
          <p:cNvPr id="4" name="Рисунок 3">
            <a:extLst>
              <a:ext uri="{FF2B5EF4-FFF2-40B4-BE49-F238E27FC236}">
                <a16:creationId xmlns:a16="http://schemas.microsoft.com/office/drawing/2014/main" id="{76D154EE-B88C-47E9-56D4-147B577B6D9E}"/>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contrast="40000"/>
                    </a14:imgEffect>
                  </a14:imgLayer>
                </a14:imgProps>
              </a:ext>
            </a:extLst>
          </a:blip>
          <a:stretch>
            <a:fillRect/>
          </a:stretch>
        </p:blipFill>
        <p:spPr>
          <a:xfrm>
            <a:off x="1640163" y="5607801"/>
            <a:ext cx="3158670" cy="1147650"/>
          </a:xfrm>
          <a:prstGeom prst="rect">
            <a:avLst/>
          </a:prstGeom>
          <a:ln>
            <a:solidFill>
              <a:schemeClr val="tx1"/>
            </a:solidFill>
          </a:ln>
        </p:spPr>
      </p:pic>
    </p:spTree>
    <p:extLst>
      <p:ext uri="{BB962C8B-B14F-4D97-AF65-F5344CB8AC3E}">
        <p14:creationId xmlns:p14="http://schemas.microsoft.com/office/powerpoint/2010/main" val="2273527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A0F61D-C329-40A7-0217-2BF656804B04}"/>
              </a:ext>
            </a:extLst>
          </p:cNvPr>
          <p:cNvSpPr txBox="1"/>
          <p:nvPr/>
        </p:nvSpPr>
        <p:spPr>
          <a:xfrm>
            <a:off x="594888" y="1103064"/>
            <a:ext cx="5271758" cy="830997"/>
          </a:xfrm>
          <a:prstGeom prst="rect">
            <a:avLst/>
          </a:prstGeom>
          <a:noFill/>
        </p:spPr>
        <p:txBody>
          <a:bodyPr wrap="square">
            <a:spAutoFit/>
          </a:bodyPr>
          <a:lstStyle/>
          <a:p>
            <a:pPr algn="l" fontAlgn="base">
              <a:buNone/>
            </a:pPr>
            <a:r>
              <a:rPr lang="en-US" sz="2400" b="1" dirty="0" err="1">
                <a:solidFill>
                  <a:srgbClr val="00B0F0"/>
                </a:solidFill>
                <a:latin typeface="Times New Roman" panose="02020603050405020304" pitchFamily="18" charset="0"/>
                <a:cs typeface="Times New Roman" panose="02020603050405020304" pitchFamily="18" charset="0"/>
              </a:rPr>
              <a:t>Guruhlangan</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ma’lumotlar</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uchun</a:t>
            </a:r>
            <a:r>
              <a:rPr lang="en-US" sz="2400" b="1" dirty="0">
                <a:solidFill>
                  <a:srgbClr val="00B0F0"/>
                </a:solidFill>
                <a:latin typeface="Times New Roman" panose="02020603050405020304" pitchFamily="18" charset="0"/>
                <a:cs typeface="Times New Roman" panose="02020603050405020304" pitchFamily="18" charset="0"/>
              </a:rPr>
              <a:t> median </a:t>
            </a:r>
            <a:r>
              <a:rPr lang="en-US" sz="2400" b="1" dirty="0" err="1">
                <a:solidFill>
                  <a:srgbClr val="00B0F0"/>
                </a:solidFill>
                <a:latin typeface="Times New Roman" panose="02020603050405020304" pitchFamily="18" charset="0"/>
                <a:cs typeface="Times New Roman" panose="02020603050405020304" pitchFamily="18" charset="0"/>
              </a:rPr>
              <a:t>qiymat</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topish</a:t>
            </a:r>
            <a:endParaRPr lang="tr-TR" sz="2400" b="1" i="0" dirty="0">
              <a:solidFill>
                <a:srgbClr val="00B0F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BFB8015-AF03-AB5B-256E-FEBD1552BE38}"/>
              </a:ext>
            </a:extLst>
          </p:cNvPr>
          <p:cNvSpPr txBox="1"/>
          <p:nvPr/>
        </p:nvSpPr>
        <p:spPr>
          <a:xfrm>
            <a:off x="797428" y="1969002"/>
            <a:ext cx="5440409" cy="1200329"/>
          </a:xfrm>
          <a:prstGeom prst="rect">
            <a:avLst/>
          </a:prstGeom>
          <a:noFill/>
        </p:spPr>
        <p:txBody>
          <a:bodyPr wrap="square">
            <a:spAutoFit/>
          </a:bodyPr>
          <a:lstStyle/>
          <a:p>
            <a:pPr marL="285750" indent="-285750">
              <a:buFont typeface="Wingdings" panose="05000000000000000000" pitchFamily="2" charset="2"/>
              <a:buChar char="§"/>
            </a:pPr>
            <a:r>
              <a:rPr lang="es-ES" b="1" dirty="0" err="1">
                <a:latin typeface="Times New Roman" panose="02020603050405020304" pitchFamily="18" charset="0"/>
                <a:cs typeface="Times New Roman" panose="02020603050405020304" pitchFamily="18" charset="0"/>
              </a:rPr>
              <a:t>Guruhlangan</a:t>
            </a:r>
            <a:r>
              <a:rPr lang="es-ES" b="1" dirty="0">
                <a:latin typeface="Times New Roman" panose="02020603050405020304" pitchFamily="18" charset="0"/>
                <a:cs typeface="Times New Roman" panose="02020603050405020304" pitchFamily="18" charset="0"/>
              </a:rPr>
              <a:t> </a:t>
            </a:r>
            <a:r>
              <a:rPr lang="es-ES" b="1" dirty="0" err="1">
                <a:latin typeface="Times New Roman" panose="02020603050405020304" pitchFamily="18" charset="0"/>
                <a:cs typeface="Times New Roman" panose="02020603050405020304" pitchFamily="18" charset="0"/>
              </a:rPr>
              <a:t>ma’lumotlar</a:t>
            </a:r>
            <a:r>
              <a:rPr lang="es-ES" b="1" dirty="0">
                <a:latin typeface="Times New Roman" panose="02020603050405020304" pitchFamily="18" charset="0"/>
                <a:cs typeface="Times New Roman" panose="02020603050405020304" pitchFamily="18" charset="0"/>
              </a:rPr>
              <a:t> </a:t>
            </a:r>
            <a:r>
              <a:rPr lang="es-ES" b="1" dirty="0" err="1">
                <a:latin typeface="Times New Roman" panose="02020603050405020304" pitchFamily="18" charset="0"/>
                <a:cs typeface="Times New Roman" panose="02020603050405020304" pitchFamily="18" charset="0"/>
              </a:rPr>
              <a:t>uchun</a:t>
            </a:r>
            <a:r>
              <a:rPr lang="es-ES" b="1" dirty="0">
                <a:latin typeface="Times New Roman" panose="02020603050405020304" pitchFamily="18" charset="0"/>
                <a:cs typeface="Times New Roman" panose="02020603050405020304" pitchFamily="18" charset="0"/>
              </a:rPr>
              <a:t> median</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maxsus</a:t>
            </a:r>
            <a:r>
              <a:rPr lang="es-ES" dirty="0">
                <a:latin typeface="Times New Roman" panose="02020603050405020304" pitchFamily="18" charset="0"/>
                <a:cs typeface="Times New Roman" panose="02020603050405020304" pitchFamily="18" charset="0"/>
              </a:rPr>
              <a:t> formula </a:t>
            </a:r>
            <a:r>
              <a:rPr lang="es-ES" dirty="0" err="1">
                <a:latin typeface="Times New Roman" panose="02020603050405020304" pitchFamily="18" charset="0"/>
                <a:cs typeface="Times New Roman" panose="02020603050405020304" pitchFamily="18" charset="0"/>
              </a:rPr>
              <a:t>yordamida</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topiladi</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Quyida</a:t>
            </a:r>
            <a:r>
              <a:rPr lang="es-ES" dirty="0">
                <a:latin typeface="Times New Roman" panose="02020603050405020304" pitchFamily="18" charset="0"/>
                <a:cs typeface="Times New Roman" panose="02020603050405020304" pitchFamily="18" charset="0"/>
              </a:rPr>
              <a:t> </a:t>
            </a:r>
            <a:r>
              <a:rPr lang="es-ES" b="1" dirty="0">
                <a:latin typeface="Times New Roman" panose="02020603050405020304" pitchFamily="18" charset="0"/>
                <a:cs typeface="Times New Roman" panose="02020603050405020304" pitchFamily="18" charset="0"/>
              </a:rPr>
              <a:t>formula</a:t>
            </a:r>
            <a:r>
              <a:rPr lang="es-ES" dirty="0">
                <a:latin typeface="Times New Roman" panose="02020603050405020304" pitchFamily="18" charset="0"/>
                <a:cs typeface="Times New Roman" panose="02020603050405020304" pitchFamily="18" charset="0"/>
              </a:rPr>
              <a:t>, </a:t>
            </a:r>
            <a:r>
              <a:rPr lang="es-ES" b="1" dirty="0" err="1">
                <a:latin typeface="Times New Roman" panose="02020603050405020304" pitchFamily="18" charset="0"/>
                <a:cs typeface="Times New Roman" panose="02020603050405020304" pitchFamily="18" charset="0"/>
              </a:rPr>
              <a:t>qoidasi</a:t>
            </a:r>
            <a:r>
              <a:rPr lang="es-ES" dirty="0">
                <a:latin typeface="Times New Roman" panose="02020603050405020304" pitchFamily="18" charset="0"/>
                <a:cs typeface="Times New Roman" panose="02020603050405020304" pitchFamily="18" charset="0"/>
              </a:rPr>
              <a:t>, va </a:t>
            </a:r>
            <a:r>
              <a:rPr lang="es-ES" b="1" dirty="0" err="1">
                <a:latin typeface="Times New Roman" panose="02020603050405020304" pitchFamily="18" charset="0"/>
                <a:cs typeface="Times New Roman" panose="02020603050405020304" pitchFamily="18" charset="0"/>
              </a:rPr>
              <a:t>har</a:t>
            </a:r>
            <a:r>
              <a:rPr lang="es-ES" b="1" dirty="0">
                <a:latin typeface="Times New Roman" panose="02020603050405020304" pitchFamily="18" charset="0"/>
                <a:cs typeface="Times New Roman" panose="02020603050405020304" pitchFamily="18" charset="0"/>
              </a:rPr>
              <a:t> bir </a:t>
            </a:r>
            <a:r>
              <a:rPr lang="es-ES" b="1" dirty="0" err="1">
                <a:latin typeface="Times New Roman" panose="02020603050405020304" pitchFamily="18" charset="0"/>
                <a:cs typeface="Times New Roman" panose="02020603050405020304" pitchFamily="18" charset="0"/>
              </a:rPr>
              <a:t>belgi</a:t>
            </a:r>
            <a:r>
              <a:rPr lang="es-ES" b="1" dirty="0">
                <a:latin typeface="Times New Roman" panose="02020603050405020304" pitchFamily="18" charset="0"/>
                <a:cs typeface="Times New Roman" panose="02020603050405020304" pitchFamily="18" charset="0"/>
              </a:rPr>
              <a:t> </a:t>
            </a:r>
            <a:r>
              <a:rPr lang="es-ES" b="1" dirty="0" err="1">
                <a:latin typeface="Times New Roman" panose="02020603050405020304" pitchFamily="18" charset="0"/>
                <a:cs typeface="Times New Roman" panose="02020603050405020304" pitchFamily="18" charset="0"/>
              </a:rPr>
              <a:t>nimani</a:t>
            </a:r>
            <a:r>
              <a:rPr lang="es-ES" b="1" dirty="0">
                <a:latin typeface="Times New Roman" panose="02020603050405020304" pitchFamily="18" charset="0"/>
                <a:cs typeface="Times New Roman" panose="02020603050405020304" pitchFamily="18" charset="0"/>
              </a:rPr>
              <a:t> </a:t>
            </a:r>
            <a:r>
              <a:rPr lang="es-ES" b="1" dirty="0" err="1">
                <a:latin typeface="Times New Roman" panose="02020603050405020304" pitchFamily="18" charset="0"/>
                <a:cs typeface="Times New Roman" panose="02020603050405020304" pitchFamily="18" charset="0"/>
              </a:rPr>
              <a:t>anglatishi</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sodda</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qilib</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berilgan</a:t>
            </a:r>
            <a:r>
              <a:rPr lang="es-ES" dirty="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DE10F80-65D1-299F-C130-0617DE281128}"/>
              </a:ext>
            </a:extLst>
          </p:cNvPr>
          <p:cNvSpPr txBox="1"/>
          <p:nvPr/>
        </p:nvSpPr>
        <p:spPr>
          <a:xfrm>
            <a:off x="548682" y="3204272"/>
            <a:ext cx="6097508" cy="369332"/>
          </a:xfrm>
          <a:prstGeom prst="rect">
            <a:avLst/>
          </a:prstGeom>
          <a:noFill/>
        </p:spPr>
        <p:txBody>
          <a:bodyPr wrap="square">
            <a:spAutoFit/>
          </a:bodyPr>
          <a:lstStyle/>
          <a:p>
            <a:r>
              <a:rPr lang="tr-TR" dirty="0">
                <a:solidFill>
                  <a:srgbClr val="FFC000"/>
                </a:solidFill>
                <a:latin typeface="Times New Roman" panose="02020603050405020304" pitchFamily="18" charset="0"/>
                <a:cs typeface="Times New Roman" panose="02020603050405020304" pitchFamily="18" charset="0"/>
              </a:rPr>
              <a:t>Guruhlangan ma’lumotlar uchun Median formulasi</a:t>
            </a:r>
            <a:endParaRPr lang="ru-RU" dirty="0">
              <a:solidFill>
                <a:srgbClr val="FFC000"/>
              </a:solidFill>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B198C6C1-94D6-779D-D8A9-7EA5AF43A54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452645" y="3691632"/>
            <a:ext cx="3789311" cy="1088419"/>
          </a:xfrm>
          <a:prstGeom prst="rect">
            <a:avLst/>
          </a:prstGeom>
          <a:ln>
            <a:solidFill>
              <a:schemeClr val="tx1"/>
            </a:solidFill>
          </a:ln>
        </p:spPr>
      </p:pic>
      <p:sp>
        <p:nvSpPr>
          <p:cNvPr id="11" name="TextBox 10">
            <a:extLst>
              <a:ext uri="{FF2B5EF4-FFF2-40B4-BE49-F238E27FC236}">
                <a16:creationId xmlns:a16="http://schemas.microsoft.com/office/drawing/2014/main" id="{6A85961F-93F0-D74E-EA7E-C5D6588C8EA3}"/>
              </a:ext>
            </a:extLst>
          </p:cNvPr>
          <p:cNvSpPr txBox="1"/>
          <p:nvPr/>
        </p:nvSpPr>
        <p:spPr>
          <a:xfrm>
            <a:off x="548682" y="4915551"/>
            <a:ext cx="5974721" cy="1754326"/>
          </a:xfrm>
          <a:prstGeom prst="rect">
            <a:avLst/>
          </a:prstGeom>
          <a:noFill/>
        </p:spPr>
        <p:txBody>
          <a:bodyPr wrap="square">
            <a:spAutoFit/>
          </a:bodyPr>
          <a:lstStyle/>
          <a:p>
            <a:pPr>
              <a:buNone/>
            </a:pPr>
            <a:r>
              <a:rPr lang="tr-TR" dirty="0">
                <a:latin typeface="Times New Roman" panose="02020603050405020304" pitchFamily="18" charset="0"/>
                <a:cs typeface="Times New Roman" panose="02020603050405020304" pitchFamily="18" charset="0"/>
              </a:rPr>
              <a:t>Bu yerda:</a:t>
            </a:r>
          </a:p>
          <a:p>
            <a:pPr marL="742950" lvl="1" indent="-285750">
              <a:buFont typeface="Wingdings" panose="05000000000000000000" pitchFamily="2" charset="2"/>
              <a:buChar char="§"/>
            </a:pPr>
            <a:r>
              <a:rPr lang="tr-TR" b="1" dirty="0">
                <a:latin typeface="Times New Roman" panose="02020603050405020304" pitchFamily="18" charset="0"/>
                <a:cs typeface="Times New Roman" panose="02020603050405020304" pitchFamily="18" charset="0"/>
              </a:rPr>
              <a:t>L</a:t>
            </a:r>
            <a:r>
              <a:rPr lang="tr-TR" dirty="0">
                <a:latin typeface="Times New Roman" panose="02020603050405020304" pitchFamily="18" charset="0"/>
                <a:cs typeface="Times New Roman" panose="02020603050405020304" pitchFamily="18" charset="0"/>
              </a:rPr>
              <a:t> — median intervalining </a:t>
            </a:r>
            <a:r>
              <a:rPr lang="tr-TR" i="1" dirty="0">
                <a:latin typeface="Times New Roman" panose="02020603050405020304" pitchFamily="18" charset="0"/>
                <a:cs typeface="Times New Roman" panose="02020603050405020304" pitchFamily="18" charset="0"/>
              </a:rPr>
              <a:t>quyi chegarasi</a:t>
            </a:r>
            <a:endParaRPr lang="tr-TR"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tr-TR" b="1" dirty="0">
                <a:latin typeface="Times New Roman" panose="02020603050405020304" pitchFamily="18" charset="0"/>
                <a:cs typeface="Times New Roman" panose="02020603050405020304" pitchFamily="18" charset="0"/>
              </a:rPr>
              <a:t>N</a:t>
            </a:r>
            <a:r>
              <a:rPr lang="tr-TR" dirty="0">
                <a:latin typeface="Times New Roman" panose="02020603050405020304" pitchFamily="18" charset="0"/>
                <a:cs typeface="Times New Roman" panose="02020603050405020304" pitchFamily="18" charset="0"/>
              </a:rPr>
              <a:t> — barcha chastotalar yig‘indisi</a:t>
            </a:r>
          </a:p>
          <a:p>
            <a:pPr marL="742950" lvl="1" indent="-285750">
              <a:buFont typeface="Wingdings" panose="05000000000000000000" pitchFamily="2" charset="2"/>
              <a:buChar char="§"/>
            </a:pPr>
            <a:r>
              <a:rPr lang="tr-TR" b="1" dirty="0">
                <a:latin typeface="Times New Roman" panose="02020603050405020304" pitchFamily="18" charset="0"/>
                <a:cs typeface="Times New Roman" panose="02020603050405020304" pitchFamily="18" charset="0"/>
              </a:rPr>
              <a:t>CF</a:t>
            </a:r>
            <a:r>
              <a:rPr lang="tr-TR" dirty="0">
                <a:latin typeface="Times New Roman" panose="02020603050405020304" pitchFamily="18" charset="0"/>
                <a:cs typeface="Times New Roman" panose="02020603050405020304" pitchFamily="18" charset="0"/>
              </a:rPr>
              <a:t> — median intervalidan oldingi </a:t>
            </a:r>
            <a:r>
              <a:rPr lang="tr-TR" i="1" dirty="0">
                <a:latin typeface="Times New Roman" panose="02020603050405020304" pitchFamily="18" charset="0"/>
                <a:cs typeface="Times New Roman" panose="02020603050405020304" pitchFamily="18" charset="0"/>
              </a:rPr>
              <a:t>yig‘ilgan chastota</a:t>
            </a:r>
            <a:endParaRPr lang="tr-TR"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tr-TR" b="1" dirty="0">
                <a:latin typeface="Times New Roman" panose="02020603050405020304" pitchFamily="18" charset="0"/>
                <a:cs typeface="Times New Roman" panose="02020603050405020304" pitchFamily="18" charset="0"/>
              </a:rPr>
              <a:t>f</a:t>
            </a:r>
            <a:r>
              <a:rPr lang="tr-TR" dirty="0">
                <a:latin typeface="Times New Roman" panose="02020603050405020304" pitchFamily="18" charset="0"/>
                <a:cs typeface="Times New Roman" panose="02020603050405020304" pitchFamily="18" charset="0"/>
              </a:rPr>
              <a:t> — median intervalining chastotasi</a:t>
            </a:r>
          </a:p>
          <a:p>
            <a:pPr marL="742950" lvl="1" indent="-285750">
              <a:buFont typeface="Wingdings" panose="05000000000000000000" pitchFamily="2" charset="2"/>
              <a:buChar char="§"/>
            </a:pPr>
            <a:r>
              <a:rPr lang="tr-TR" b="1" dirty="0">
                <a:latin typeface="Times New Roman" panose="02020603050405020304" pitchFamily="18" charset="0"/>
                <a:cs typeface="Times New Roman" panose="02020603050405020304" pitchFamily="18" charset="0"/>
              </a:rPr>
              <a:t>h</a:t>
            </a:r>
            <a:r>
              <a:rPr lang="tr-TR" dirty="0">
                <a:latin typeface="Times New Roman" panose="02020603050405020304" pitchFamily="18" charset="0"/>
                <a:cs typeface="Times New Roman" panose="02020603050405020304" pitchFamily="18" charset="0"/>
              </a:rPr>
              <a:t> — interval kengligi (yuqori chegara − quyi chegara)</a:t>
            </a:r>
          </a:p>
        </p:txBody>
      </p:sp>
      <p:graphicFrame>
        <p:nvGraphicFramePr>
          <p:cNvPr id="12" name="Таблица 11">
            <a:extLst>
              <a:ext uri="{FF2B5EF4-FFF2-40B4-BE49-F238E27FC236}">
                <a16:creationId xmlns:a16="http://schemas.microsoft.com/office/drawing/2014/main" id="{A537435B-BD04-269D-E5CD-72B386DAFD33}"/>
              </a:ext>
            </a:extLst>
          </p:cNvPr>
          <p:cNvGraphicFramePr>
            <a:graphicFrameLocks noGrp="1"/>
          </p:cNvGraphicFramePr>
          <p:nvPr>
            <p:extLst>
              <p:ext uri="{D42A27DB-BD31-4B8C-83A1-F6EECF244321}">
                <p14:modId xmlns:p14="http://schemas.microsoft.com/office/powerpoint/2010/main" val="3052318003"/>
              </p:ext>
            </p:extLst>
          </p:nvPr>
        </p:nvGraphicFramePr>
        <p:xfrm>
          <a:off x="6957964" y="1725581"/>
          <a:ext cx="3652698" cy="1676400"/>
        </p:xfrm>
        <a:graphic>
          <a:graphicData uri="http://schemas.openxmlformats.org/drawingml/2006/table">
            <a:tbl>
              <a:tblPr>
                <a:tableStyleId>{5940675A-B579-460E-94D1-54222C63F5DA}</a:tableStyleId>
              </a:tblPr>
              <a:tblGrid>
                <a:gridCol w="1826349">
                  <a:extLst>
                    <a:ext uri="{9D8B030D-6E8A-4147-A177-3AD203B41FA5}">
                      <a16:colId xmlns:a16="http://schemas.microsoft.com/office/drawing/2014/main" val="3162720646"/>
                    </a:ext>
                  </a:extLst>
                </a:gridCol>
                <a:gridCol w="1826349">
                  <a:extLst>
                    <a:ext uri="{9D8B030D-6E8A-4147-A177-3AD203B41FA5}">
                      <a16:colId xmlns:a16="http://schemas.microsoft.com/office/drawing/2014/main" val="495471118"/>
                    </a:ext>
                  </a:extLst>
                </a:gridCol>
              </a:tblGrid>
              <a:tr h="302913">
                <a:tc>
                  <a:txBody>
                    <a:bodyPr/>
                    <a:lstStyle/>
                    <a:p>
                      <a:pPr>
                        <a:buNone/>
                      </a:pPr>
                      <a:r>
                        <a:rPr lang="tr-TR" sz="1600" dirty="0"/>
                        <a:t>Interval</a:t>
                      </a:r>
                    </a:p>
                  </a:txBody>
                  <a:tcPr anchor="ctr"/>
                </a:tc>
                <a:tc>
                  <a:txBody>
                    <a:bodyPr/>
                    <a:lstStyle/>
                    <a:p>
                      <a:pPr>
                        <a:buNone/>
                      </a:pPr>
                      <a:r>
                        <a:rPr lang="tr-TR" sz="1600"/>
                        <a:t>f</a:t>
                      </a:r>
                    </a:p>
                  </a:txBody>
                  <a:tcPr anchor="ctr"/>
                </a:tc>
                <a:extLst>
                  <a:ext uri="{0D108BD9-81ED-4DB2-BD59-A6C34878D82A}">
                    <a16:rowId xmlns:a16="http://schemas.microsoft.com/office/drawing/2014/main" val="120118930"/>
                  </a:ext>
                </a:extLst>
              </a:tr>
              <a:tr h="302913">
                <a:tc>
                  <a:txBody>
                    <a:bodyPr/>
                    <a:lstStyle/>
                    <a:p>
                      <a:pPr>
                        <a:buNone/>
                      </a:pPr>
                      <a:r>
                        <a:rPr lang="ru-RU" sz="1600"/>
                        <a:t>10–20</a:t>
                      </a:r>
                    </a:p>
                  </a:txBody>
                  <a:tcPr anchor="ctr"/>
                </a:tc>
                <a:tc>
                  <a:txBody>
                    <a:bodyPr/>
                    <a:lstStyle/>
                    <a:p>
                      <a:pPr>
                        <a:buNone/>
                      </a:pPr>
                      <a:r>
                        <a:rPr lang="ru-RU" sz="1600"/>
                        <a:t>3</a:t>
                      </a:r>
                    </a:p>
                  </a:txBody>
                  <a:tcPr anchor="ctr"/>
                </a:tc>
                <a:extLst>
                  <a:ext uri="{0D108BD9-81ED-4DB2-BD59-A6C34878D82A}">
                    <a16:rowId xmlns:a16="http://schemas.microsoft.com/office/drawing/2014/main" val="222535771"/>
                  </a:ext>
                </a:extLst>
              </a:tr>
              <a:tr h="302913">
                <a:tc>
                  <a:txBody>
                    <a:bodyPr/>
                    <a:lstStyle/>
                    <a:p>
                      <a:pPr>
                        <a:buNone/>
                      </a:pPr>
                      <a:r>
                        <a:rPr lang="ru-RU" sz="1600"/>
                        <a:t>20–30</a:t>
                      </a:r>
                    </a:p>
                  </a:txBody>
                  <a:tcPr anchor="ctr"/>
                </a:tc>
                <a:tc>
                  <a:txBody>
                    <a:bodyPr/>
                    <a:lstStyle/>
                    <a:p>
                      <a:pPr>
                        <a:buNone/>
                      </a:pPr>
                      <a:r>
                        <a:rPr lang="ru-RU" sz="1600"/>
                        <a:t>5</a:t>
                      </a:r>
                    </a:p>
                  </a:txBody>
                  <a:tcPr anchor="ctr"/>
                </a:tc>
                <a:extLst>
                  <a:ext uri="{0D108BD9-81ED-4DB2-BD59-A6C34878D82A}">
                    <a16:rowId xmlns:a16="http://schemas.microsoft.com/office/drawing/2014/main" val="2390770048"/>
                  </a:ext>
                </a:extLst>
              </a:tr>
              <a:tr h="302913">
                <a:tc>
                  <a:txBody>
                    <a:bodyPr/>
                    <a:lstStyle/>
                    <a:p>
                      <a:pPr>
                        <a:buNone/>
                      </a:pPr>
                      <a:r>
                        <a:rPr lang="ru-RU" sz="1600" dirty="0"/>
                        <a:t>30–40</a:t>
                      </a:r>
                    </a:p>
                  </a:txBody>
                  <a:tcPr anchor="ctr"/>
                </a:tc>
                <a:tc>
                  <a:txBody>
                    <a:bodyPr/>
                    <a:lstStyle/>
                    <a:p>
                      <a:pPr>
                        <a:buNone/>
                      </a:pPr>
                      <a:r>
                        <a:rPr lang="ru-RU" sz="1600"/>
                        <a:t>7</a:t>
                      </a:r>
                    </a:p>
                  </a:txBody>
                  <a:tcPr anchor="ctr"/>
                </a:tc>
                <a:extLst>
                  <a:ext uri="{0D108BD9-81ED-4DB2-BD59-A6C34878D82A}">
                    <a16:rowId xmlns:a16="http://schemas.microsoft.com/office/drawing/2014/main" val="3919505742"/>
                  </a:ext>
                </a:extLst>
              </a:tr>
              <a:tr h="302913">
                <a:tc>
                  <a:txBody>
                    <a:bodyPr/>
                    <a:lstStyle/>
                    <a:p>
                      <a:pPr>
                        <a:buNone/>
                      </a:pPr>
                      <a:r>
                        <a:rPr lang="ru-RU" sz="1600"/>
                        <a:t>40–50</a:t>
                      </a:r>
                    </a:p>
                  </a:txBody>
                  <a:tcPr anchor="ctr"/>
                </a:tc>
                <a:tc>
                  <a:txBody>
                    <a:bodyPr/>
                    <a:lstStyle/>
                    <a:p>
                      <a:pPr>
                        <a:buNone/>
                      </a:pPr>
                      <a:r>
                        <a:rPr lang="ru-RU" sz="1600" dirty="0"/>
                        <a:t>5</a:t>
                      </a:r>
                    </a:p>
                  </a:txBody>
                  <a:tcPr anchor="ctr"/>
                </a:tc>
                <a:extLst>
                  <a:ext uri="{0D108BD9-81ED-4DB2-BD59-A6C34878D82A}">
                    <a16:rowId xmlns:a16="http://schemas.microsoft.com/office/drawing/2014/main" val="3702874742"/>
                  </a:ext>
                </a:extLst>
              </a:tr>
            </a:tbl>
          </a:graphicData>
        </a:graphic>
      </p:graphicFrame>
      <p:sp>
        <p:nvSpPr>
          <p:cNvPr id="14" name="TextBox 13">
            <a:extLst>
              <a:ext uri="{FF2B5EF4-FFF2-40B4-BE49-F238E27FC236}">
                <a16:creationId xmlns:a16="http://schemas.microsoft.com/office/drawing/2014/main" id="{F31D93D8-BB9D-F8CD-ED76-7539A22D3712}"/>
              </a:ext>
            </a:extLst>
          </p:cNvPr>
          <p:cNvSpPr txBox="1"/>
          <p:nvPr/>
        </p:nvSpPr>
        <p:spPr>
          <a:xfrm>
            <a:off x="6849323" y="1356249"/>
            <a:ext cx="6097508" cy="369332"/>
          </a:xfrm>
          <a:prstGeom prst="rect">
            <a:avLst/>
          </a:prstGeom>
          <a:noFill/>
        </p:spPr>
        <p:txBody>
          <a:bodyPr wrap="square">
            <a:spAutoFit/>
          </a:bodyPr>
          <a:lstStyle/>
          <a:p>
            <a:r>
              <a:rPr lang="tr-TR" dirty="0">
                <a:solidFill>
                  <a:srgbClr val="FFC000"/>
                </a:solidFill>
                <a:latin typeface="Times New Roman" panose="02020603050405020304" pitchFamily="18" charset="0"/>
                <a:cs typeface="Times New Roman" panose="02020603050405020304" pitchFamily="18" charset="0"/>
              </a:rPr>
              <a:t>Misol</a:t>
            </a:r>
            <a:r>
              <a:rPr lang="en-US" dirty="0">
                <a:solidFill>
                  <a:srgbClr val="FFC000"/>
                </a:solidFill>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Jadvalani</a:t>
            </a:r>
            <a:r>
              <a:rPr lang="en-US" dirty="0">
                <a:latin typeface="Times New Roman" panose="02020603050405020304" pitchFamily="18" charset="0"/>
                <a:cs typeface="Times New Roman" panose="02020603050405020304" pitchFamily="18" charset="0"/>
              </a:rPr>
              <a:t> median </a:t>
            </a:r>
            <a:r>
              <a:rPr lang="en-US" dirty="0" err="1">
                <a:latin typeface="Times New Roman" panose="02020603050405020304" pitchFamily="18" charset="0"/>
                <a:cs typeface="Times New Roman" panose="02020603050405020304" pitchFamily="18" charset="0"/>
              </a:rPr>
              <a:t>qiymatini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topish</a:t>
            </a:r>
            <a:r>
              <a:rPr lang="en-US" dirty="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A629213-777E-071F-55C6-4FFB17A515BA}"/>
              </a:ext>
            </a:extLst>
          </p:cNvPr>
          <p:cNvSpPr txBox="1"/>
          <p:nvPr/>
        </p:nvSpPr>
        <p:spPr>
          <a:xfrm>
            <a:off x="6886672" y="3465661"/>
            <a:ext cx="5018635" cy="830997"/>
          </a:xfrm>
          <a:prstGeom prst="rect">
            <a:avLst/>
          </a:prstGeom>
          <a:noFill/>
        </p:spPr>
        <p:txBody>
          <a:bodyPr wrap="square">
            <a:spAutoFit/>
          </a:bodyPr>
          <a:lstStyle/>
          <a:p>
            <a:r>
              <a:rPr lang="tr-TR" sz="1600" b="1" dirty="0">
                <a:latin typeface="Times New Roman" panose="02020603050405020304" pitchFamily="18" charset="0"/>
                <a:cs typeface="Times New Roman" panose="02020603050405020304" pitchFamily="18" charset="0"/>
              </a:rPr>
              <a:t>1. N = 3+5+7+5 = 20</a:t>
            </a:r>
            <a:br>
              <a:rPr lang="tr-TR" sz="1600" dirty="0">
                <a:latin typeface="Times New Roman" panose="02020603050405020304" pitchFamily="18" charset="0"/>
                <a:cs typeface="Times New Roman" panose="02020603050405020304" pitchFamily="18" charset="0"/>
              </a:rPr>
            </a:br>
            <a:r>
              <a:rPr lang="tr-TR" sz="1600" b="1" dirty="0">
                <a:latin typeface="Times New Roman" panose="02020603050405020304" pitchFamily="18" charset="0"/>
                <a:cs typeface="Times New Roman" panose="02020603050405020304" pitchFamily="18" charset="0"/>
              </a:rPr>
              <a:t>2. N/2 = 10</a:t>
            </a:r>
            <a:br>
              <a:rPr lang="tr-TR" sz="1600" dirty="0">
                <a:latin typeface="Times New Roman" panose="02020603050405020304" pitchFamily="18" charset="0"/>
                <a:cs typeface="Times New Roman" panose="02020603050405020304" pitchFamily="18" charset="0"/>
              </a:rPr>
            </a:br>
            <a:r>
              <a:rPr lang="tr-TR" sz="1600" dirty="0">
                <a:latin typeface="Times New Roman" panose="02020603050405020304" pitchFamily="18" charset="0"/>
                <a:cs typeface="Times New Roman" panose="02020603050405020304" pitchFamily="18" charset="0"/>
              </a:rPr>
              <a:t>10 → </a:t>
            </a:r>
            <a:r>
              <a:rPr lang="tr-TR" sz="1600" b="1" dirty="0">
                <a:latin typeface="Times New Roman" panose="02020603050405020304" pitchFamily="18" charset="0"/>
                <a:cs typeface="Times New Roman" panose="02020603050405020304" pitchFamily="18" charset="0"/>
              </a:rPr>
              <a:t>30–40 intervaliga tushadi</a:t>
            </a:r>
            <a:r>
              <a:rPr lang="tr-TR" sz="1600" dirty="0">
                <a:latin typeface="Times New Roman" panose="02020603050405020304" pitchFamily="18" charset="0"/>
                <a:cs typeface="Times New Roman" panose="02020603050405020304" pitchFamily="18" charset="0"/>
              </a:rPr>
              <a:t> → median interval</a:t>
            </a:r>
            <a:endParaRPr lang="ru-RU"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79C5187-D60E-70C5-8848-13B3FED2756E}"/>
                  </a:ext>
                </a:extLst>
              </p:cNvPr>
              <p:cNvSpPr txBox="1"/>
              <p:nvPr/>
            </p:nvSpPr>
            <p:spPr>
              <a:xfrm>
                <a:off x="6441917" y="4336986"/>
                <a:ext cx="6504914" cy="2122889"/>
              </a:xfrm>
              <a:prstGeom prst="rect">
                <a:avLst/>
              </a:prstGeom>
              <a:noFill/>
            </p:spPr>
            <p:txBody>
              <a:bodyPr wrap="square">
                <a:spAutoFit/>
              </a:bodyPr>
              <a:lstStyle/>
              <a:p>
                <a:pPr lvl="1"/>
                <a:r>
                  <a:rPr lang="tr-TR" sz="1600" dirty="0">
                    <a:latin typeface="Times New Roman" panose="02020603050405020304" pitchFamily="18" charset="0"/>
                    <a:cs typeface="Times New Roman" panose="02020603050405020304" pitchFamily="18" charset="0"/>
                  </a:rPr>
                  <a:t>Demak:</a:t>
                </a:r>
              </a:p>
              <a:p>
                <a:pPr marL="742950" lvl="1" indent="-285750">
                  <a:buFont typeface="Wingdings" panose="05000000000000000000" pitchFamily="2" charset="2"/>
                  <a:buChar char="§"/>
                </a:pPr>
                <a:r>
                  <a:rPr lang="tr-TR" sz="1600" dirty="0">
                    <a:latin typeface="Times New Roman" panose="02020603050405020304" pitchFamily="18" charset="0"/>
                    <a:cs typeface="Times New Roman" panose="02020603050405020304" pitchFamily="18" charset="0"/>
                  </a:rPr>
                  <a:t>L = 30</a:t>
                </a:r>
              </a:p>
              <a:p>
                <a:pPr marL="742950" lvl="1" indent="-285750">
                  <a:buFont typeface="Wingdings" panose="05000000000000000000" pitchFamily="2" charset="2"/>
                  <a:buChar char="§"/>
                </a:pPr>
                <a:r>
                  <a:rPr lang="tr-TR" sz="1600" dirty="0">
                    <a:latin typeface="Times New Roman" panose="02020603050405020304" pitchFamily="18" charset="0"/>
                    <a:cs typeface="Times New Roman" panose="02020603050405020304" pitchFamily="18" charset="0"/>
                  </a:rPr>
                  <a:t>f = 7</a:t>
                </a:r>
              </a:p>
              <a:p>
                <a:pPr marL="742950" lvl="1" indent="-285750">
                  <a:buFont typeface="Wingdings" panose="05000000000000000000" pitchFamily="2" charset="2"/>
                  <a:buChar char="§"/>
                </a:pPr>
                <a:r>
                  <a:rPr lang="tr-TR" sz="1600" dirty="0">
                    <a:latin typeface="Times New Roman" panose="02020603050405020304" pitchFamily="18" charset="0"/>
                    <a:cs typeface="Times New Roman" panose="02020603050405020304" pitchFamily="18" charset="0"/>
                  </a:rPr>
                  <a:t>CF = 3 + 5 = 8</a:t>
                </a:r>
              </a:p>
              <a:p>
                <a:pPr marL="742950" lvl="1" indent="-285750">
                  <a:buFont typeface="Wingdings" panose="05000000000000000000" pitchFamily="2" charset="2"/>
                  <a:buChar char="§"/>
                </a:pPr>
                <a:r>
                  <a:rPr lang="tr-TR" sz="1600" dirty="0">
                    <a:latin typeface="Times New Roman" panose="02020603050405020304" pitchFamily="18" charset="0"/>
                    <a:cs typeface="Times New Roman" panose="02020603050405020304" pitchFamily="18" charset="0"/>
                  </a:rPr>
                  <a:t>h = 10</a:t>
                </a:r>
              </a:p>
              <a:p>
                <a:pPr lvl="1"/>
                <a:r>
                  <a:rPr lang="tr-TR" sz="1600" dirty="0">
                    <a:latin typeface="Times New Roman" panose="02020603050405020304" pitchFamily="18" charset="0"/>
                    <a:cs typeface="Times New Roman" panose="02020603050405020304" pitchFamily="18" charset="0"/>
                  </a:rPr>
                  <a:t>Formula:</a:t>
                </a:r>
                <a:endParaRPr lang="en-US" sz="160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m:rPr>
                          <m:nor/>
                        </m:rPr>
                        <a:rPr lang="tr-TR" sz="1600" b="0">
                          <a:latin typeface="Times New Roman" panose="02020603050405020304" pitchFamily="18" charset="0"/>
                          <a:cs typeface="Times New Roman" panose="02020603050405020304" pitchFamily="18" charset="0"/>
                        </a:rPr>
                        <m:t>Median</m:t>
                      </m:r>
                      <m:r>
                        <a:rPr lang="tr-TR" sz="1600" b="0" i="0">
                          <a:latin typeface="Cambria Math" panose="02040503050406030204" pitchFamily="18" charset="0"/>
                        </a:rPr>
                        <m:t>=</m:t>
                      </m:r>
                      <m:r>
                        <a:rPr lang="tr-TR" sz="1600" b="0" i="0">
                          <a:latin typeface="Cambria Math" panose="02040503050406030204" pitchFamily="18" charset="0"/>
                        </a:rPr>
                        <m:t>30</m:t>
                      </m:r>
                      <m:r>
                        <a:rPr lang="tr-TR" sz="1600" b="0" i="0">
                          <a:latin typeface="Cambria Math" panose="02040503050406030204" pitchFamily="18" charset="0"/>
                        </a:rPr>
                        <m:t>+</m:t>
                      </m:r>
                      <m:d>
                        <m:dPr>
                          <m:ctrlPr>
                            <a:rPr lang="ar-AE" sz="1600" b="0" i="1">
                              <a:latin typeface="Cambria Math" panose="02040503050406030204" pitchFamily="18" charset="0"/>
                            </a:rPr>
                          </m:ctrlPr>
                        </m:dPr>
                        <m:e>
                          <m:f>
                            <m:fPr>
                              <m:ctrlPr>
                                <a:rPr lang="ar-AE" sz="1600" b="0" i="1">
                                  <a:latin typeface="Cambria Math" panose="02040503050406030204" pitchFamily="18" charset="0"/>
                                </a:rPr>
                              </m:ctrlPr>
                            </m:fPr>
                            <m:num>
                              <m:r>
                                <a:rPr lang="ar-AE" sz="1600" b="0" i="0">
                                  <a:latin typeface="Cambria Math" panose="02040503050406030204" pitchFamily="18" charset="0"/>
                                </a:rPr>
                                <m:t>10</m:t>
                              </m:r>
                              <m:r>
                                <a:rPr lang="ar-AE" sz="1600" b="0" i="0">
                                  <a:latin typeface="Cambria Math" panose="02040503050406030204" pitchFamily="18" charset="0"/>
                                </a:rPr>
                                <m:t>−</m:t>
                              </m:r>
                              <m:r>
                                <a:rPr lang="ar-AE" sz="1600" b="0" i="0">
                                  <a:latin typeface="Cambria Math" panose="02040503050406030204" pitchFamily="18" charset="0"/>
                                </a:rPr>
                                <m:t>8</m:t>
                              </m:r>
                            </m:num>
                            <m:den>
                              <m:r>
                                <a:rPr lang="ar-AE" sz="1600" b="0" i="0">
                                  <a:latin typeface="Cambria Math" panose="02040503050406030204" pitchFamily="18" charset="0"/>
                                </a:rPr>
                                <m:t>7</m:t>
                              </m:r>
                            </m:den>
                          </m:f>
                        </m:e>
                      </m:d>
                      <m:r>
                        <a:rPr lang="ar-AE" sz="1600" b="0" i="0">
                          <a:latin typeface="Cambria Math" panose="02040503050406030204" pitchFamily="18" charset="0"/>
                        </a:rPr>
                        <m:t>⋅</m:t>
                      </m:r>
                      <m:r>
                        <a:rPr lang="ar-AE" sz="1600" b="0" i="0">
                          <a:latin typeface="Cambria Math" panose="02040503050406030204" pitchFamily="18" charset="0"/>
                        </a:rPr>
                        <m:t>10</m:t>
                      </m:r>
                      <m:r>
                        <a:rPr lang="ar-AE" sz="1600" b="0" i="0">
                          <a:latin typeface="Cambria Math" panose="02040503050406030204" pitchFamily="18" charset="0"/>
                        </a:rPr>
                        <m:t>=</m:t>
                      </m:r>
                      <m:r>
                        <a:rPr lang="ar-AE" sz="1600" b="0" i="0">
                          <a:latin typeface="Cambria Math" panose="02040503050406030204" pitchFamily="18" charset="0"/>
                        </a:rPr>
                        <m:t>30</m:t>
                      </m:r>
                      <m:r>
                        <a:rPr lang="ar-AE" sz="1600" b="0" i="0">
                          <a:latin typeface="Cambria Math" panose="02040503050406030204" pitchFamily="18" charset="0"/>
                        </a:rPr>
                        <m:t>+</m:t>
                      </m:r>
                      <m:f>
                        <m:fPr>
                          <m:ctrlPr>
                            <a:rPr lang="ar-AE" sz="1600" b="0" i="1">
                              <a:latin typeface="Cambria Math" panose="02040503050406030204" pitchFamily="18" charset="0"/>
                            </a:rPr>
                          </m:ctrlPr>
                        </m:fPr>
                        <m:num>
                          <m:r>
                            <a:rPr lang="ar-AE" sz="1600" b="0" i="0">
                              <a:latin typeface="Cambria Math" panose="02040503050406030204" pitchFamily="18" charset="0"/>
                            </a:rPr>
                            <m:t>2</m:t>
                          </m:r>
                        </m:num>
                        <m:den>
                          <m:r>
                            <a:rPr lang="ar-AE" sz="1600" b="0" i="0">
                              <a:latin typeface="Cambria Math" panose="02040503050406030204" pitchFamily="18" charset="0"/>
                            </a:rPr>
                            <m:t>7</m:t>
                          </m:r>
                        </m:den>
                      </m:f>
                      <m:r>
                        <a:rPr lang="ar-AE" sz="1600" b="0" i="0">
                          <a:latin typeface="Cambria Math" panose="02040503050406030204" pitchFamily="18" charset="0"/>
                        </a:rPr>
                        <m:t>⋅</m:t>
                      </m:r>
                      <m:r>
                        <a:rPr lang="ar-AE" sz="1600" b="0" i="0">
                          <a:latin typeface="Cambria Math" panose="02040503050406030204" pitchFamily="18" charset="0"/>
                        </a:rPr>
                        <m:t>10</m:t>
                      </m:r>
                      <m:r>
                        <a:rPr lang="ar-AE" sz="1600" b="0" i="0">
                          <a:latin typeface="Cambria Math" panose="02040503050406030204" pitchFamily="18" charset="0"/>
                        </a:rPr>
                        <m:t>=</m:t>
                      </m:r>
                      <m:r>
                        <a:rPr lang="ar-AE" sz="1600" b="0" i="0">
                          <a:latin typeface="Cambria Math" panose="02040503050406030204" pitchFamily="18" charset="0"/>
                        </a:rPr>
                        <m:t>32</m:t>
                      </m:r>
                      <m:r>
                        <a:rPr lang="ar-AE" sz="1600" b="0" i="0">
                          <a:latin typeface="Cambria Math" panose="02040503050406030204" pitchFamily="18" charset="0"/>
                        </a:rPr>
                        <m:t>.</m:t>
                      </m:r>
                      <m:r>
                        <a:rPr lang="ar-AE" sz="1600" b="0" i="0">
                          <a:latin typeface="Cambria Math" panose="02040503050406030204" pitchFamily="18" charset="0"/>
                        </a:rPr>
                        <m:t>86</m:t>
                      </m:r>
                    </m:oMath>
                  </m:oMathPara>
                </a14:m>
                <a:endParaRPr lang="ar-AE" sz="1600" b="0" dirty="0">
                  <a:latin typeface="Times New Roman" panose="020206030504050203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B79C5187-D60E-70C5-8848-13B3FED2756E}"/>
                  </a:ext>
                </a:extLst>
              </p:cNvPr>
              <p:cNvSpPr txBox="1">
                <a:spLocks noRot="1" noChangeAspect="1" noMove="1" noResize="1" noEditPoints="1" noAdjustHandles="1" noChangeArrowheads="1" noChangeShapeType="1" noTextEdit="1"/>
              </p:cNvSpPr>
              <p:nvPr/>
            </p:nvSpPr>
            <p:spPr>
              <a:xfrm>
                <a:off x="6441917" y="4336986"/>
                <a:ext cx="6504914" cy="2122889"/>
              </a:xfrm>
              <a:prstGeom prst="rect">
                <a:avLst/>
              </a:prstGeom>
              <a:blipFill>
                <a:blip r:embed="rId4"/>
                <a:stretch>
                  <a:fillRect t="-860"/>
                </a:stretch>
              </a:blipFill>
            </p:spPr>
            <p:txBody>
              <a:bodyPr/>
              <a:lstStyle/>
              <a:p>
                <a:r>
                  <a:rPr lang="ru-RU">
                    <a:noFill/>
                  </a:rPr>
                  <a:t> </a:t>
                </a:r>
              </a:p>
            </p:txBody>
          </p:sp>
        </mc:Fallback>
      </mc:AlternateContent>
      <p:cxnSp>
        <p:nvCxnSpPr>
          <p:cNvPr id="19" name="Прямая соединительная линия 18">
            <a:extLst>
              <a:ext uri="{FF2B5EF4-FFF2-40B4-BE49-F238E27FC236}">
                <a16:creationId xmlns:a16="http://schemas.microsoft.com/office/drawing/2014/main" id="{943AEF41-6C5C-53F0-49F9-FDDD66FF7A6F}"/>
              </a:ext>
            </a:extLst>
          </p:cNvPr>
          <p:cNvCxnSpPr>
            <a:cxnSpLocks/>
          </p:cNvCxnSpPr>
          <p:nvPr/>
        </p:nvCxnSpPr>
        <p:spPr>
          <a:xfrm>
            <a:off x="6476998" y="996808"/>
            <a:ext cx="0" cy="5655598"/>
          </a:xfrm>
          <a:prstGeom prst="line">
            <a:avLst/>
          </a:prstGeom>
          <a:ln w="57150"/>
        </p:spPr>
        <p:style>
          <a:lnRef idx="1">
            <a:schemeClr val="accent5"/>
          </a:lnRef>
          <a:fillRef idx="0">
            <a:schemeClr val="accent5"/>
          </a:fillRef>
          <a:effectRef idx="0">
            <a:schemeClr val="accent5"/>
          </a:effectRef>
          <a:fontRef idx="minor">
            <a:schemeClr val="tx1"/>
          </a:fontRef>
        </p:style>
      </p:cxnSp>
      <p:sp>
        <p:nvSpPr>
          <p:cNvPr id="21" name="TextBox 20">
            <a:extLst>
              <a:ext uri="{FF2B5EF4-FFF2-40B4-BE49-F238E27FC236}">
                <a16:creationId xmlns:a16="http://schemas.microsoft.com/office/drawing/2014/main" id="{6568934A-B3B4-79C6-E065-9C39E1C28446}"/>
              </a:ext>
            </a:extLst>
          </p:cNvPr>
          <p:cNvSpPr txBox="1"/>
          <p:nvPr/>
        </p:nvSpPr>
        <p:spPr>
          <a:xfrm>
            <a:off x="594888" y="205594"/>
            <a:ext cx="6097508" cy="584775"/>
          </a:xfrm>
          <a:prstGeom prst="rect">
            <a:avLst/>
          </a:prstGeom>
          <a:noFill/>
        </p:spPr>
        <p:txBody>
          <a:bodyPr wrap="square">
            <a:spAutoFit/>
          </a:bodyPr>
          <a:lstStyle/>
          <a:p>
            <a:pPr algn="l" fontAlgn="base">
              <a:buNone/>
            </a:pPr>
            <a:r>
              <a:rPr lang="en-US" sz="3200" b="1" dirty="0">
                <a:latin typeface="Times New Roman" panose="02020603050405020304" pitchFamily="18" charset="0"/>
                <a:cs typeface="Times New Roman" panose="02020603050405020304" pitchFamily="18" charset="0"/>
              </a:rPr>
              <a:t>MEDIAN QIYMAT</a:t>
            </a:r>
            <a:r>
              <a:rPr lang="en-US" sz="3200" b="1" i="0" dirty="0">
                <a:effectLst/>
                <a:latin typeface="Times New Roman" panose="02020603050405020304" pitchFamily="18" charset="0"/>
                <a:cs typeface="Times New Roman" panose="02020603050405020304" pitchFamily="18" charset="0"/>
              </a:rPr>
              <a:t>(MEDIAN)</a:t>
            </a:r>
            <a:endParaRPr lang="tr-TR" sz="3200" b="1"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5692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4065E0-AC80-B5FF-812C-F5352331E188}"/>
              </a:ext>
            </a:extLst>
          </p:cNvPr>
          <p:cNvSpPr txBox="1"/>
          <p:nvPr/>
        </p:nvSpPr>
        <p:spPr>
          <a:xfrm>
            <a:off x="694854" y="240847"/>
            <a:ext cx="6097508" cy="584775"/>
          </a:xfrm>
          <a:prstGeom prst="rect">
            <a:avLst/>
          </a:prstGeom>
          <a:noFill/>
        </p:spPr>
        <p:txBody>
          <a:bodyPr wrap="square">
            <a:spAutoFit/>
          </a:bodyPr>
          <a:lstStyle/>
          <a:p>
            <a:pPr algn="l" fontAlgn="base"/>
            <a:r>
              <a:rPr lang="en-US" sz="3200" b="1" dirty="0">
                <a:latin typeface="Times New Roman" panose="02020603050405020304" pitchFamily="18" charset="0"/>
                <a:cs typeface="Times New Roman" panose="02020603050405020304" pitchFamily="18" charset="0"/>
              </a:rPr>
              <a:t>MODE (REJIM) QIYMAT</a:t>
            </a:r>
            <a:endParaRPr lang="en-US" sz="3200" b="1" i="0" dirty="0">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EEEA69-F6B4-2107-0555-23C3DEDACA3F}"/>
              </a:ext>
            </a:extLst>
          </p:cNvPr>
          <p:cNvSpPr txBox="1"/>
          <p:nvPr/>
        </p:nvSpPr>
        <p:spPr>
          <a:xfrm>
            <a:off x="622048" y="1388125"/>
            <a:ext cx="11355686" cy="3903954"/>
          </a:xfrm>
          <a:prstGeom prst="rect">
            <a:avLst/>
          </a:prstGeom>
          <a:noFill/>
        </p:spPr>
        <p:txBody>
          <a:bodyPr wrap="square">
            <a:spAutoFit/>
          </a:bodyPr>
          <a:lstStyle/>
          <a:p>
            <a:pPr>
              <a:lnSpc>
                <a:spcPct val="150000"/>
              </a:lnSpc>
              <a:buNone/>
            </a:pPr>
            <a:r>
              <a:rPr lang="tr-TR" sz="2400" b="1" dirty="0">
                <a:solidFill>
                  <a:srgbClr val="FFC000"/>
                </a:solidFill>
                <a:latin typeface="Times New Roman" panose="02020603050405020304" pitchFamily="18" charset="0"/>
                <a:cs typeface="Times New Roman" panose="02020603050405020304" pitchFamily="18" charset="0"/>
              </a:rPr>
              <a:t>Mode</a:t>
            </a:r>
            <a:r>
              <a:rPr lang="tr-TR" sz="2400" dirty="0">
                <a:latin typeface="Times New Roman" panose="02020603050405020304" pitchFamily="18" charset="0"/>
                <a:cs typeface="Times New Roman" panose="02020603050405020304" pitchFamily="18" charset="0"/>
              </a:rPr>
              <a:t> yoki </a:t>
            </a:r>
            <a:r>
              <a:rPr lang="tr-TR" sz="2400" b="1" dirty="0">
                <a:solidFill>
                  <a:srgbClr val="FFC000"/>
                </a:solidFill>
                <a:latin typeface="Times New Roman" panose="02020603050405020304" pitchFamily="18" charset="0"/>
                <a:cs typeface="Times New Roman" panose="02020603050405020304" pitchFamily="18" charset="0"/>
              </a:rPr>
              <a:t>Rejim</a:t>
            </a:r>
            <a:r>
              <a:rPr lang="tr-TR" sz="2400" dirty="0">
                <a:latin typeface="Times New Roman" panose="02020603050405020304" pitchFamily="18" charset="0"/>
                <a:cs typeface="Times New Roman" panose="02020603050405020304" pitchFamily="18" charset="0"/>
              </a:rPr>
              <a:t> — bu ma’lumotlar to‘plamida eng ko‘p uchraydigan qiymatdir.</a:t>
            </a:r>
          </a:p>
          <a:p>
            <a:pPr marL="342900" indent="-342900">
              <a:lnSpc>
                <a:spcPct val="150000"/>
              </a:lnSpc>
              <a:buFont typeface="Wingdings" panose="05000000000000000000" pitchFamily="2" charset="2"/>
              <a:buChar char="§"/>
            </a:pPr>
            <a:r>
              <a:rPr lang="tr-TR" sz="2400" dirty="0">
                <a:latin typeface="Times New Roman" panose="02020603050405020304" pitchFamily="18" charset="0"/>
                <a:cs typeface="Times New Roman" panose="02020603050405020304" pitchFamily="18" charset="0"/>
              </a:rPr>
              <a:t>Mode ma’lumotlarning markaziy tendensiyasini ko‘rsatadigan statistik ko‘rsatkichlardan biridir.</a:t>
            </a:r>
          </a:p>
          <a:p>
            <a:pPr marL="342900" indent="-342900">
              <a:lnSpc>
                <a:spcPct val="150000"/>
              </a:lnSpc>
              <a:buFont typeface="Wingdings" panose="05000000000000000000" pitchFamily="2" charset="2"/>
              <a:buChar char="§"/>
            </a:pPr>
            <a:r>
              <a:rPr lang="tr-TR" sz="2400" dirty="0">
                <a:latin typeface="Times New Roman" panose="02020603050405020304" pitchFamily="18" charset="0"/>
                <a:cs typeface="Times New Roman" panose="02020603050405020304" pitchFamily="18" charset="0"/>
              </a:rPr>
              <a:t>Mode har doim </a:t>
            </a:r>
            <a:r>
              <a:rPr lang="tr-TR" sz="2400" b="1" dirty="0">
                <a:latin typeface="Times New Roman" panose="02020603050405020304" pitchFamily="18" charset="0"/>
                <a:cs typeface="Times New Roman" panose="02020603050405020304" pitchFamily="18" charset="0"/>
              </a:rPr>
              <a:t>bir nechta qiymatdan iborat bo‘lishi ham mumkin</a:t>
            </a:r>
            <a:r>
              <a:rPr lang="tr-TR" sz="2400" dirty="0">
                <a:latin typeface="Times New Roman" panose="02020603050405020304" pitchFamily="18" charset="0"/>
                <a:cs typeface="Times New Roman" panose="02020603050405020304" pitchFamily="18" charset="0"/>
              </a:rPr>
              <a:t>:</a:t>
            </a:r>
          </a:p>
          <a:p>
            <a:pPr marL="1257300" lvl="2" indent="-342900">
              <a:lnSpc>
                <a:spcPct val="150000"/>
              </a:lnSpc>
              <a:buFont typeface="Wingdings" panose="05000000000000000000" pitchFamily="2" charset="2"/>
              <a:buChar char="Ø"/>
            </a:pPr>
            <a:r>
              <a:rPr lang="tr-TR" sz="2400" dirty="0">
                <a:latin typeface="Times New Roman" panose="02020603050405020304" pitchFamily="18" charset="0"/>
                <a:cs typeface="Times New Roman" panose="02020603050405020304" pitchFamily="18" charset="0"/>
              </a:rPr>
              <a:t>Agar </a:t>
            </a:r>
            <a:r>
              <a:rPr lang="tr-TR" sz="2400" b="1" dirty="0">
                <a:latin typeface="Times New Roman" panose="02020603050405020304" pitchFamily="18" charset="0"/>
                <a:cs typeface="Times New Roman" panose="02020603050405020304" pitchFamily="18" charset="0"/>
              </a:rPr>
              <a:t>birgina eng ko‘p takrorlangan qiymat</a:t>
            </a:r>
            <a:r>
              <a:rPr lang="tr-TR" sz="2400" dirty="0">
                <a:latin typeface="Times New Roman" panose="02020603050405020304" pitchFamily="18" charset="0"/>
                <a:cs typeface="Times New Roman" panose="02020603050405020304" pitchFamily="18" charset="0"/>
              </a:rPr>
              <a:t> bo‘lsa → </a:t>
            </a:r>
            <a:r>
              <a:rPr lang="tr-TR" sz="2400" b="1" dirty="0">
                <a:solidFill>
                  <a:srgbClr val="00B0F0"/>
                </a:solidFill>
                <a:latin typeface="Times New Roman" panose="02020603050405020304" pitchFamily="18" charset="0"/>
                <a:cs typeface="Times New Roman" panose="02020603050405020304" pitchFamily="18" charset="0"/>
              </a:rPr>
              <a:t>unimodal</a:t>
            </a:r>
            <a:endParaRPr lang="tr-TR" sz="2400" dirty="0">
              <a:solidFill>
                <a:srgbClr val="00B0F0"/>
              </a:solidFill>
              <a:latin typeface="Times New Roman" panose="02020603050405020304" pitchFamily="18" charset="0"/>
              <a:cs typeface="Times New Roman" panose="02020603050405020304" pitchFamily="18" charset="0"/>
            </a:endParaRPr>
          </a:p>
          <a:p>
            <a:pPr marL="1257300" lvl="2" indent="-342900">
              <a:lnSpc>
                <a:spcPct val="150000"/>
              </a:lnSpc>
              <a:buFont typeface="Wingdings" panose="05000000000000000000" pitchFamily="2" charset="2"/>
              <a:buChar char="Ø"/>
            </a:pPr>
            <a:r>
              <a:rPr lang="tr-TR" sz="2400" dirty="0">
                <a:latin typeface="Times New Roman" panose="02020603050405020304" pitchFamily="18" charset="0"/>
                <a:cs typeface="Times New Roman" panose="02020603050405020304" pitchFamily="18" charset="0"/>
              </a:rPr>
              <a:t>Agar </a:t>
            </a:r>
            <a:r>
              <a:rPr lang="tr-TR" sz="2400" b="1" dirty="0">
                <a:latin typeface="Times New Roman" panose="02020603050405020304" pitchFamily="18" charset="0"/>
                <a:cs typeface="Times New Roman" panose="02020603050405020304" pitchFamily="18" charset="0"/>
              </a:rPr>
              <a:t>ikki eng ko‘p takrorlangan qiymat</a:t>
            </a:r>
            <a:r>
              <a:rPr lang="tr-TR" sz="2400" dirty="0">
                <a:latin typeface="Times New Roman" panose="02020603050405020304" pitchFamily="18" charset="0"/>
                <a:cs typeface="Times New Roman" panose="02020603050405020304" pitchFamily="18" charset="0"/>
              </a:rPr>
              <a:t> bo‘lsa → </a:t>
            </a:r>
            <a:r>
              <a:rPr lang="tr-TR" sz="2400" b="1" dirty="0">
                <a:solidFill>
                  <a:srgbClr val="00B0F0"/>
                </a:solidFill>
                <a:latin typeface="Times New Roman" panose="02020603050405020304" pitchFamily="18" charset="0"/>
                <a:cs typeface="Times New Roman" panose="02020603050405020304" pitchFamily="18" charset="0"/>
              </a:rPr>
              <a:t>bimodal</a:t>
            </a:r>
            <a:endParaRPr lang="tr-TR" sz="2400" dirty="0">
              <a:solidFill>
                <a:srgbClr val="00B0F0"/>
              </a:solidFill>
              <a:latin typeface="Times New Roman" panose="02020603050405020304" pitchFamily="18" charset="0"/>
              <a:cs typeface="Times New Roman" panose="02020603050405020304" pitchFamily="18" charset="0"/>
            </a:endParaRPr>
          </a:p>
          <a:p>
            <a:pPr marL="1257300" lvl="2" indent="-342900">
              <a:lnSpc>
                <a:spcPct val="150000"/>
              </a:lnSpc>
              <a:buFont typeface="Wingdings" panose="05000000000000000000" pitchFamily="2" charset="2"/>
              <a:buChar char="Ø"/>
            </a:pPr>
            <a:r>
              <a:rPr lang="tr-TR" sz="2400" dirty="0">
                <a:latin typeface="Times New Roman" panose="02020603050405020304" pitchFamily="18" charset="0"/>
                <a:cs typeface="Times New Roman" panose="02020603050405020304" pitchFamily="18" charset="0"/>
              </a:rPr>
              <a:t>Agar </a:t>
            </a:r>
            <a:r>
              <a:rPr lang="tr-TR" sz="2400" b="1" dirty="0">
                <a:latin typeface="Times New Roman" panose="02020603050405020304" pitchFamily="18" charset="0"/>
                <a:cs typeface="Times New Roman" panose="02020603050405020304" pitchFamily="18" charset="0"/>
              </a:rPr>
              <a:t>bir nechta qiymatlar teng takrorlangan</a:t>
            </a:r>
            <a:r>
              <a:rPr lang="tr-TR" sz="2400" dirty="0">
                <a:latin typeface="Times New Roman" panose="02020603050405020304" pitchFamily="18" charset="0"/>
                <a:cs typeface="Times New Roman" panose="02020603050405020304" pitchFamily="18" charset="0"/>
              </a:rPr>
              <a:t> bo‘lsa → </a:t>
            </a:r>
            <a:r>
              <a:rPr lang="tr-TR" sz="2400" b="1" dirty="0">
                <a:solidFill>
                  <a:srgbClr val="00B0F0"/>
                </a:solidFill>
                <a:latin typeface="Times New Roman" panose="02020603050405020304" pitchFamily="18" charset="0"/>
                <a:cs typeface="Times New Roman" panose="02020603050405020304" pitchFamily="18" charset="0"/>
              </a:rPr>
              <a:t>multimodal</a:t>
            </a:r>
            <a:endParaRPr lang="tr-TR" sz="2400"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4389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C0747C-BB15-DE28-A7BD-DF21E0E4E4AD}"/>
              </a:ext>
            </a:extLst>
          </p:cNvPr>
          <p:cNvSpPr txBox="1"/>
          <p:nvPr/>
        </p:nvSpPr>
        <p:spPr>
          <a:xfrm>
            <a:off x="694854" y="240847"/>
            <a:ext cx="6097508" cy="584775"/>
          </a:xfrm>
          <a:prstGeom prst="rect">
            <a:avLst/>
          </a:prstGeom>
          <a:noFill/>
        </p:spPr>
        <p:txBody>
          <a:bodyPr wrap="square">
            <a:spAutoFit/>
          </a:bodyPr>
          <a:lstStyle/>
          <a:p>
            <a:pPr algn="l" fontAlgn="base"/>
            <a:r>
              <a:rPr lang="en-US" sz="3200" b="1" dirty="0">
                <a:latin typeface="Times New Roman" panose="02020603050405020304" pitchFamily="18" charset="0"/>
                <a:cs typeface="Times New Roman" panose="02020603050405020304" pitchFamily="18" charset="0"/>
              </a:rPr>
              <a:t>MODE (REJIM) QIYMAT</a:t>
            </a:r>
            <a:endParaRPr lang="en-US" sz="3200" b="1" i="0" dirty="0">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A9DE790-F683-ACF1-8133-9E9CD1661D10}"/>
              </a:ext>
            </a:extLst>
          </p:cNvPr>
          <p:cNvSpPr txBox="1"/>
          <p:nvPr/>
        </p:nvSpPr>
        <p:spPr>
          <a:xfrm>
            <a:off x="694854" y="1063983"/>
            <a:ext cx="5271758" cy="830997"/>
          </a:xfrm>
          <a:prstGeom prst="rect">
            <a:avLst/>
          </a:prstGeom>
          <a:noFill/>
        </p:spPr>
        <p:txBody>
          <a:bodyPr wrap="square">
            <a:spAutoFit/>
          </a:bodyPr>
          <a:lstStyle/>
          <a:p>
            <a:pPr algn="l" fontAlgn="base">
              <a:buNone/>
            </a:pPr>
            <a:r>
              <a:rPr lang="en-US" sz="2400" b="1" dirty="0" err="1">
                <a:solidFill>
                  <a:srgbClr val="00B0F0"/>
                </a:solidFill>
                <a:latin typeface="Times New Roman" panose="02020603050405020304" pitchFamily="18" charset="0"/>
                <a:cs typeface="Times New Roman" panose="02020603050405020304" pitchFamily="18" charset="0"/>
              </a:rPr>
              <a:t>Guruhlanmagan</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ma’lumotlar</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uchun</a:t>
            </a:r>
            <a:r>
              <a:rPr lang="en-US" sz="2400" b="1" dirty="0">
                <a:solidFill>
                  <a:srgbClr val="00B0F0"/>
                </a:solidFill>
                <a:latin typeface="Times New Roman" panose="02020603050405020304" pitchFamily="18" charset="0"/>
                <a:cs typeface="Times New Roman" panose="02020603050405020304" pitchFamily="18" charset="0"/>
              </a:rPr>
              <a:t> median </a:t>
            </a:r>
            <a:r>
              <a:rPr lang="en-US" sz="2400" b="1" dirty="0" err="1">
                <a:solidFill>
                  <a:srgbClr val="00B0F0"/>
                </a:solidFill>
                <a:latin typeface="Times New Roman" panose="02020603050405020304" pitchFamily="18" charset="0"/>
                <a:cs typeface="Times New Roman" panose="02020603050405020304" pitchFamily="18" charset="0"/>
              </a:rPr>
              <a:t>qiymat</a:t>
            </a:r>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err="1">
                <a:solidFill>
                  <a:srgbClr val="00B0F0"/>
                </a:solidFill>
                <a:latin typeface="Times New Roman" panose="02020603050405020304" pitchFamily="18" charset="0"/>
                <a:cs typeface="Times New Roman" panose="02020603050405020304" pitchFamily="18" charset="0"/>
              </a:rPr>
              <a:t>topish</a:t>
            </a:r>
            <a:endParaRPr lang="tr-TR" sz="2400" b="1" i="0" dirty="0">
              <a:solidFill>
                <a:srgbClr val="00B0F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9570096-2A29-47D1-8DFB-E0984783C8AF}"/>
              </a:ext>
            </a:extLst>
          </p:cNvPr>
          <p:cNvSpPr txBox="1"/>
          <p:nvPr/>
        </p:nvSpPr>
        <p:spPr>
          <a:xfrm>
            <a:off x="694854" y="1877516"/>
            <a:ext cx="5271758" cy="1200329"/>
          </a:xfrm>
          <a:prstGeom prst="rect">
            <a:avLst/>
          </a:prstGeom>
          <a:noFill/>
        </p:spPr>
        <p:txBody>
          <a:bodyPr wrap="square">
            <a:spAutoFit/>
          </a:bodyPr>
          <a:lstStyle/>
          <a:p>
            <a:r>
              <a:rPr lang="tr-TR" dirty="0">
                <a:latin typeface="Times New Roman" panose="02020603050405020304" pitchFamily="18" charset="0"/>
                <a:cs typeface="Times New Roman" panose="02020603050405020304" pitchFamily="18" charset="0"/>
              </a:rPr>
              <a:t>Guruhlanmagan ma'lumotlar uchun </a:t>
            </a:r>
            <a:r>
              <a:rPr lang="tr-TR" b="1" dirty="0">
                <a:latin typeface="Times New Roman" panose="02020603050405020304" pitchFamily="18" charset="0"/>
                <a:cs typeface="Times New Roman" panose="02020603050405020304" pitchFamily="18" charset="0"/>
              </a:rPr>
              <a:t>Mod</a:t>
            </a:r>
            <a:r>
              <a:rPr lang="en-US" b="1" dirty="0">
                <a:latin typeface="Times New Roman" panose="02020603050405020304" pitchFamily="18" charset="0"/>
                <a:cs typeface="Times New Roman" panose="02020603050405020304" pitchFamily="18" charset="0"/>
              </a:rPr>
              <a:t>e</a:t>
            </a:r>
            <a:r>
              <a:rPr lang="tr-TR" dirty="0">
                <a:latin typeface="Times New Roman" panose="02020603050405020304" pitchFamily="18" charset="0"/>
                <a:cs typeface="Times New Roman" panose="02020603050405020304" pitchFamily="18" charset="0"/>
              </a:rPr>
              <a:t> — bu shunchaki ro'yxatdagi </a:t>
            </a:r>
            <a:r>
              <a:rPr lang="en-US" dirty="0" err="1">
                <a:latin typeface="Times New Roman" panose="02020603050405020304" pitchFamily="18" charset="0"/>
                <a:cs typeface="Times New Roman" panose="02020603050405020304" pitchFamily="18" charset="0"/>
              </a:rPr>
              <a:t>eng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ko’p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uchraydigan</a:t>
            </a:r>
            <a:r>
              <a:rPr lang="en-US"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elementni topishdir. Hech qanday murakkab bo'lish yoki ko'paytirish formulasi yo'q, faqat </a:t>
            </a:r>
            <a:r>
              <a:rPr lang="tr-TR" b="1" dirty="0">
                <a:latin typeface="Times New Roman" panose="02020603050405020304" pitchFamily="18" charset="0"/>
                <a:cs typeface="Times New Roman" panose="02020603050405020304" pitchFamily="18" charset="0"/>
              </a:rPr>
              <a:t>sanash</a:t>
            </a:r>
            <a:r>
              <a:rPr lang="tr-TR" dirty="0">
                <a:latin typeface="Times New Roman" panose="02020603050405020304" pitchFamily="18" charset="0"/>
                <a:cs typeface="Times New Roman" panose="02020603050405020304" pitchFamily="18" charset="0"/>
              </a:rPr>
              <a:t> kerak.</a:t>
            </a:r>
            <a:endParaRPr lang="ru-RU"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0EDA57FB-3A19-FB93-7AEC-03EE07E14CA9}"/>
              </a:ext>
            </a:extLst>
          </p:cNvPr>
          <p:cNvSpPr>
            <a:spLocks noChangeArrowheads="1"/>
          </p:cNvSpPr>
          <p:nvPr/>
        </p:nvSpPr>
        <p:spPr bwMode="auto">
          <a:xfrm>
            <a:off x="694854" y="3077845"/>
            <a:ext cx="5850801" cy="3924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ru-RU" sz="2000" dirty="0" err="1">
                <a:solidFill>
                  <a:srgbClr val="00B0F0"/>
                </a:solidFill>
                <a:latin typeface="Times New Roman" panose="02020603050405020304" pitchFamily="18" charset="0"/>
                <a:cs typeface="Times New Roman" panose="02020603050405020304" pitchFamily="18" charset="0"/>
              </a:rPr>
              <a:t>Misol</a:t>
            </a:r>
            <a:r>
              <a:rPr lang="en-US" altLang="ru-RU" sz="2000" dirty="0">
                <a:solidFill>
                  <a:srgbClr val="00B0F0"/>
                </a:solidFill>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ru-RU" dirty="0">
                <a:latin typeface="Times New Roman" panose="02020603050405020304" pitchFamily="18" charset="0"/>
                <a:cs typeface="Times New Roman" panose="02020603050405020304" pitchFamily="18" charset="0"/>
              </a:rPr>
              <a:t>A) </a:t>
            </a:r>
            <a:r>
              <a:rPr lang="ru-RU" altLang="ru-RU" dirty="0" err="1">
                <a:latin typeface="Times New Roman" panose="02020603050405020304" pitchFamily="18" charset="0"/>
                <a:cs typeface="Times New Roman" panose="02020603050405020304" pitchFamily="18" charset="0"/>
              </a:rPr>
              <a:t>Yagona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mod</a:t>
            </a:r>
            <a:r>
              <a:rPr lang="en-US" altLang="ru-RU" dirty="0">
                <a:latin typeface="Times New Roman" panose="02020603050405020304" pitchFamily="18" charset="0"/>
                <a:cs typeface="Times New Roman" panose="02020603050405020304" pitchFamily="18" charset="0"/>
              </a:rPr>
              <a:t>e</a:t>
            </a:r>
            <a:r>
              <a:rPr lang="ru-RU" altLang="ru-RU" dirty="0">
                <a:latin typeface="Times New Roman" panose="02020603050405020304" pitchFamily="18" charset="0"/>
                <a:cs typeface="Times New Roman" panose="02020603050405020304" pitchFamily="18" charset="0"/>
              </a:rPr>
              <a:t>(</a:t>
            </a:r>
            <a:r>
              <a:rPr lang="ru-RU" altLang="ru-RU" dirty="0" err="1">
                <a:latin typeface="Times New Roman" panose="02020603050405020304" pitchFamily="18" charset="0"/>
                <a:cs typeface="Times New Roman" panose="02020603050405020304" pitchFamily="18" charset="0"/>
              </a:rPr>
              <a:t>unimodal</a:t>
            </a:r>
            <a:r>
              <a:rPr lang="ru-RU" altLang="ru-RU" dirty="0">
                <a:latin typeface="Times New Roman" panose="02020603050405020304" pitchFamily="18" charset="0"/>
                <a:cs typeface="Times New Roman" panose="02020603050405020304" pitchFamily="18" charset="0"/>
              </a:rPr>
              <a:t>)</a:t>
            </a:r>
            <a:r>
              <a:rPr lang="en-US" altLang="ru-RU" dirty="0">
                <a:latin typeface="Times New Roman" panose="02020603050405020304" pitchFamily="18" charset="0"/>
                <a:cs typeface="Times New Roman" panose="02020603050405020304" pitchFamily="18" charset="0"/>
              </a:rPr>
              <a:t> - </a:t>
            </a:r>
            <a:r>
              <a:rPr lang="ru-RU" altLang="ru-RU" dirty="0" err="1">
                <a:latin typeface="Times New Roman" panose="02020603050405020304" pitchFamily="18" charset="0"/>
                <a:cs typeface="Times New Roman" panose="02020603050405020304" pitchFamily="18" charset="0"/>
              </a:rPr>
              <a:t>To'plamda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faqat</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bitta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son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ko'p</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takrorlanadi</a:t>
            </a:r>
            <a:r>
              <a:rPr lang="ru-RU" altLang="ru-RU"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ru-RU"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ru-RU" altLang="ru-RU" dirty="0" err="1">
                <a:latin typeface="Times New Roman" panose="02020603050405020304" pitchFamily="18" charset="0"/>
                <a:cs typeface="Times New Roman" panose="02020603050405020304" pitchFamily="18" charset="0"/>
              </a:rPr>
              <a:t>Ma'lumot</a:t>
            </a:r>
            <a:r>
              <a:rPr lang="ru-RU" altLang="ru-RU" dirty="0">
                <a:latin typeface="Times New Roman" panose="02020603050405020304" pitchFamily="18" charset="0"/>
                <a:cs typeface="Times New Roman" panose="02020603050405020304" pitchFamily="18" charset="0"/>
              </a:rPr>
              <a:t>: 2, 5, 9, 5, 3, 5, 8</a:t>
            </a:r>
          </a:p>
          <a:p>
            <a:pPr marL="0" marR="0" lvl="0" indent="0" algn="l" defTabSz="914400" rtl="0" eaLnBrk="0" fontAlgn="base" latinLnBrk="0" hangingPunct="0">
              <a:lnSpc>
                <a:spcPct val="100000"/>
              </a:lnSpc>
              <a:spcBef>
                <a:spcPct val="0"/>
              </a:spcBef>
              <a:spcAft>
                <a:spcPct val="0"/>
              </a:spcAft>
              <a:buClrTx/>
              <a:buSzTx/>
              <a:tabLst/>
            </a:pPr>
            <a:endParaRPr lang="en-US" altLang="ru-RU"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ru-RU" altLang="ru-RU" dirty="0" err="1">
                <a:latin typeface="Times New Roman" panose="02020603050405020304" pitchFamily="18" charset="0"/>
                <a:cs typeface="Times New Roman" panose="02020603050405020304" pitchFamily="18" charset="0"/>
              </a:rPr>
              <a:t>Tahlil</a:t>
            </a:r>
            <a:r>
              <a:rPr lang="ru-RU" altLang="ru-RU" dirty="0">
                <a:latin typeface="Times New Roman" panose="02020603050405020304" pitchFamily="18" charset="0"/>
                <a:cs typeface="Times New Roman" panose="02020603050405020304" pitchFamily="18"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dirty="0">
                <a:latin typeface="Times New Roman" panose="02020603050405020304" pitchFamily="18" charset="0"/>
                <a:cs typeface="Times New Roman" panose="02020603050405020304" pitchFamily="18" charset="0"/>
              </a:rPr>
              <a:t>2 -&gt; 1 </a:t>
            </a:r>
            <a:r>
              <a:rPr lang="ru-RU" altLang="ru-RU" dirty="0" err="1">
                <a:latin typeface="Times New Roman" panose="02020603050405020304" pitchFamily="18" charset="0"/>
                <a:cs typeface="Times New Roman" panose="02020603050405020304" pitchFamily="18" charset="0"/>
              </a:rPr>
              <a:t>marta</a:t>
            </a:r>
            <a:endParaRPr lang="ru-RU" altLang="ru-RU" dirty="0">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dirty="0">
                <a:solidFill>
                  <a:srgbClr val="FFC000"/>
                </a:solidFill>
                <a:latin typeface="Times New Roman" panose="02020603050405020304" pitchFamily="18" charset="0"/>
                <a:cs typeface="Times New Roman" panose="02020603050405020304" pitchFamily="18" charset="0"/>
              </a:rPr>
              <a:t>5 </a:t>
            </a:r>
            <a:r>
              <a:rPr lang="ru-RU" altLang="ru-RU" dirty="0">
                <a:latin typeface="Times New Roman" panose="02020603050405020304" pitchFamily="18" charset="0"/>
                <a:cs typeface="Times New Roman" panose="02020603050405020304" pitchFamily="18" charset="0"/>
              </a:rPr>
              <a:t>-&gt; 3 </a:t>
            </a:r>
            <a:r>
              <a:rPr lang="ru-RU" altLang="ru-RU" dirty="0" err="1">
                <a:latin typeface="Times New Roman" panose="02020603050405020304" pitchFamily="18" charset="0"/>
                <a:cs typeface="Times New Roman" panose="02020603050405020304" pitchFamily="18" charset="0"/>
              </a:rPr>
              <a:t>marta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ko'p</a:t>
            </a:r>
            <a:r>
              <a:rPr lang="ru-RU" altLang="ru-RU" dirty="0">
                <a:latin typeface="Times New Roman" panose="02020603050405020304" pitchFamily="18" charset="0"/>
                <a:cs typeface="Times New Roman" panose="02020603050405020304" pitchFamily="18"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dirty="0">
                <a:latin typeface="Times New Roman" panose="02020603050405020304" pitchFamily="18" charset="0"/>
                <a:cs typeface="Times New Roman" panose="02020603050405020304" pitchFamily="18" charset="0"/>
              </a:rPr>
              <a:t>9 -&gt; 1 </a:t>
            </a:r>
            <a:r>
              <a:rPr lang="ru-RU" altLang="ru-RU" dirty="0" err="1">
                <a:latin typeface="Times New Roman" panose="02020603050405020304" pitchFamily="18" charset="0"/>
                <a:cs typeface="Times New Roman" panose="02020603050405020304" pitchFamily="18" charset="0"/>
              </a:rPr>
              <a:t>marta</a:t>
            </a:r>
            <a:endParaRPr lang="ru-RU" altLang="ru-RU" dirty="0">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dirty="0">
                <a:latin typeface="Times New Roman" panose="02020603050405020304" pitchFamily="18" charset="0"/>
                <a:cs typeface="Times New Roman" panose="02020603050405020304" pitchFamily="18" charset="0"/>
              </a:rPr>
              <a:t>3 -&gt; 1 </a:t>
            </a:r>
            <a:r>
              <a:rPr lang="ru-RU" altLang="ru-RU" dirty="0" err="1">
                <a:latin typeface="Times New Roman" panose="02020603050405020304" pitchFamily="18" charset="0"/>
                <a:cs typeface="Times New Roman" panose="02020603050405020304" pitchFamily="18" charset="0"/>
              </a:rPr>
              <a:t>marta</a:t>
            </a:r>
            <a:endParaRPr lang="ru-RU" altLang="ru-RU" dirty="0">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dirty="0">
                <a:latin typeface="Times New Roman" panose="02020603050405020304" pitchFamily="18" charset="0"/>
                <a:cs typeface="Times New Roman" panose="02020603050405020304" pitchFamily="18" charset="0"/>
              </a:rPr>
              <a:t>8 -&gt; 1 </a:t>
            </a:r>
            <a:r>
              <a:rPr lang="ru-RU" altLang="ru-RU" dirty="0" err="1">
                <a:latin typeface="Times New Roman" panose="02020603050405020304" pitchFamily="18" charset="0"/>
                <a:cs typeface="Times New Roman" panose="02020603050405020304" pitchFamily="18" charset="0"/>
              </a:rPr>
              <a:t>marta</a:t>
            </a:r>
            <a:endParaRPr lang="ru-RU" altLang="ru-RU"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ru-RU" altLang="ru-RU" dirty="0" err="1">
                <a:latin typeface="Times New Roman" panose="02020603050405020304" pitchFamily="18" charset="0"/>
                <a:cs typeface="Times New Roman" panose="02020603050405020304" pitchFamily="18" charset="0"/>
              </a:rPr>
              <a:t>Javob</a:t>
            </a:r>
            <a:r>
              <a:rPr lang="ru-RU" altLang="ru-RU" dirty="0">
                <a:latin typeface="Times New Roman" panose="02020603050405020304" pitchFamily="18" charset="0"/>
                <a:cs typeface="Times New Roman" panose="02020603050405020304" pitchFamily="18" charset="0"/>
              </a:rPr>
              <a:t>: </a:t>
            </a:r>
            <a:r>
              <a:rPr lang="en-US" altLang="ru-RU" dirty="0">
                <a:latin typeface="Times New Roman" panose="02020603050405020304" pitchFamily="18" charset="0"/>
                <a:cs typeface="Times New Roman" panose="02020603050405020304" pitchFamily="18" charset="0"/>
              </a:rPr>
              <a:t>Mode </a:t>
            </a:r>
            <a:r>
              <a:rPr lang="ru-RU" altLang="ru-RU" dirty="0">
                <a:latin typeface="Times New Roman" panose="02020603050405020304" pitchFamily="18" charset="0"/>
                <a:cs typeface="Times New Roman" panose="02020603050405020304" pitchFamily="18" charset="0"/>
              </a:rPr>
              <a:t>= 5</a:t>
            </a:r>
          </a:p>
          <a:p>
            <a:pPr marL="0" marR="0" lvl="0" indent="0" algn="l" defTabSz="914400" rtl="0" eaLnBrk="0" fontAlgn="base" latinLnBrk="0" hangingPunct="0">
              <a:lnSpc>
                <a:spcPct val="100000"/>
              </a:lnSpc>
              <a:spcBef>
                <a:spcPct val="0"/>
              </a:spcBef>
              <a:spcAft>
                <a:spcPct val="0"/>
              </a:spcAft>
              <a:buClrTx/>
              <a:buSzTx/>
              <a:buFontTx/>
              <a:buNone/>
              <a:tabLst/>
            </a:pPr>
            <a:endParaRPr lang="ru-RU" altLang="ru-RU" dirty="0">
              <a:latin typeface="Times New Roman" panose="02020603050405020304" pitchFamily="18" charset="0"/>
              <a:cs typeface="Times New Roman" panose="02020603050405020304" pitchFamily="18" charset="0"/>
            </a:endParaRPr>
          </a:p>
        </p:txBody>
      </p:sp>
      <p:cxnSp>
        <p:nvCxnSpPr>
          <p:cNvPr id="9" name="Прямая соединительная линия 8">
            <a:extLst>
              <a:ext uri="{FF2B5EF4-FFF2-40B4-BE49-F238E27FC236}">
                <a16:creationId xmlns:a16="http://schemas.microsoft.com/office/drawing/2014/main" id="{0BAD700E-48C6-1EE0-42EF-B3082BA1042D}"/>
              </a:ext>
            </a:extLst>
          </p:cNvPr>
          <p:cNvCxnSpPr>
            <a:cxnSpLocks/>
          </p:cNvCxnSpPr>
          <p:nvPr/>
        </p:nvCxnSpPr>
        <p:spPr>
          <a:xfrm>
            <a:off x="6476998" y="1132610"/>
            <a:ext cx="0" cy="5655598"/>
          </a:xfrm>
          <a:prstGeom prst="line">
            <a:avLst/>
          </a:prstGeom>
          <a:ln w="57150"/>
        </p:spPr>
        <p:style>
          <a:lnRef idx="1">
            <a:schemeClr val="accent5"/>
          </a:lnRef>
          <a:fillRef idx="0">
            <a:schemeClr val="accent5"/>
          </a:fillRef>
          <a:effectRef idx="0">
            <a:schemeClr val="accent5"/>
          </a:effectRef>
          <a:fontRef idx="minor">
            <a:schemeClr val="tx1"/>
          </a:fontRef>
        </p:style>
      </p:cxnSp>
      <p:sp>
        <p:nvSpPr>
          <p:cNvPr id="10" name="Rectangle 2">
            <a:extLst>
              <a:ext uri="{FF2B5EF4-FFF2-40B4-BE49-F238E27FC236}">
                <a16:creationId xmlns:a16="http://schemas.microsoft.com/office/drawing/2014/main" id="{120D953F-50DF-F0A6-F5AD-64418DD655FE}"/>
              </a:ext>
            </a:extLst>
          </p:cNvPr>
          <p:cNvSpPr>
            <a:spLocks noChangeArrowheads="1"/>
          </p:cNvSpPr>
          <p:nvPr/>
        </p:nvSpPr>
        <p:spPr bwMode="auto">
          <a:xfrm>
            <a:off x="6545655" y="1144253"/>
            <a:ext cx="5728203"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dirty="0">
                <a:latin typeface="Times New Roman" panose="02020603050405020304" pitchFamily="18" charset="0"/>
                <a:cs typeface="Times New Roman" panose="02020603050405020304" pitchFamily="18" charset="0"/>
              </a:rPr>
              <a:t>B) </a:t>
            </a:r>
            <a:r>
              <a:rPr lang="ru-RU" altLang="ru-RU" dirty="0" err="1">
                <a:latin typeface="Times New Roman" panose="02020603050405020304" pitchFamily="18" charset="0"/>
                <a:cs typeface="Times New Roman" panose="02020603050405020304" pitchFamily="18" charset="0"/>
              </a:rPr>
              <a:t>Ikki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Mod</a:t>
            </a:r>
            <a:r>
              <a:rPr lang="en-US" altLang="ru-RU" dirty="0">
                <a:latin typeface="Times New Roman" panose="02020603050405020304" pitchFamily="18" charset="0"/>
                <a:cs typeface="Times New Roman" panose="02020603050405020304" pitchFamily="18" charset="0"/>
              </a:rPr>
              <a:t>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Bimodal</a:t>
            </a:r>
            <a:r>
              <a:rPr lang="ru-RU" altLang="ru-RU" dirty="0">
                <a:latin typeface="Times New Roman" panose="02020603050405020304" pitchFamily="18" charset="0"/>
                <a:cs typeface="Times New Roman" panose="02020603050405020304" pitchFamily="18" charset="0"/>
              </a:rPr>
              <a:t>)</a:t>
            </a:r>
            <a:r>
              <a:rPr lang="en-US" altLang="ru-RU" dirty="0">
                <a:latin typeface="Times New Roman" panose="02020603050405020304" pitchFamily="18" charset="0"/>
                <a:cs typeface="Times New Roman" panose="02020603050405020304" pitchFamily="18" charset="0"/>
              </a:rPr>
              <a:t> - </a:t>
            </a:r>
            <a:r>
              <a:rPr lang="ru-RU" altLang="ru-RU" dirty="0" err="1">
                <a:latin typeface="Times New Roman" panose="02020603050405020304" pitchFamily="18" charset="0"/>
                <a:cs typeface="Times New Roman" panose="02020603050405020304" pitchFamily="18" charset="0"/>
              </a:rPr>
              <a:t>Agar</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ikkita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son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bir</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xil</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miqdorda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ko'p</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takrorlansa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ikkalasi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ham</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mod</a:t>
            </a:r>
            <a:r>
              <a:rPr lang="en-US" altLang="ru-RU" dirty="0">
                <a:latin typeface="Times New Roman" panose="02020603050405020304" pitchFamily="18" charset="0"/>
                <a:cs typeface="Times New Roman" panose="02020603050405020304" pitchFamily="18" charset="0"/>
              </a:rPr>
              <a:t>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hisoblanadi</a:t>
            </a:r>
            <a:r>
              <a:rPr lang="ru-RU" altLang="ru-RU"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r>
              <a:rPr lang="ru-RU" altLang="ru-RU" dirty="0" err="1">
                <a:latin typeface="Times New Roman" panose="02020603050405020304" pitchFamily="18" charset="0"/>
                <a:cs typeface="Times New Roman" panose="02020603050405020304" pitchFamily="18" charset="0"/>
              </a:rPr>
              <a:t>Ma'lumot</a:t>
            </a:r>
            <a:r>
              <a:rPr lang="ru-RU" altLang="ru-RU" dirty="0">
                <a:latin typeface="Times New Roman" panose="02020603050405020304" pitchFamily="18" charset="0"/>
                <a:cs typeface="Times New Roman" panose="02020603050405020304" pitchFamily="18" charset="0"/>
              </a:rPr>
              <a:t>: $10, 20, 10, 30, 20, 40$</a:t>
            </a:r>
          </a:p>
          <a:p>
            <a:pPr marL="0" marR="0" lvl="0" indent="0" algn="l" defTabSz="914400" rtl="0" eaLnBrk="0" fontAlgn="base" latinLnBrk="0" hangingPunct="0">
              <a:lnSpc>
                <a:spcPct val="100000"/>
              </a:lnSpc>
              <a:spcBef>
                <a:spcPct val="0"/>
              </a:spcBef>
              <a:spcAft>
                <a:spcPct val="0"/>
              </a:spcAft>
              <a:buClrTx/>
              <a:buSzTx/>
              <a:tabLst/>
            </a:pPr>
            <a:r>
              <a:rPr lang="ru-RU" altLang="ru-RU" dirty="0" err="1">
                <a:latin typeface="Times New Roman" panose="02020603050405020304" pitchFamily="18" charset="0"/>
                <a:cs typeface="Times New Roman" panose="02020603050405020304" pitchFamily="18" charset="0"/>
              </a:rPr>
              <a:t>Tahlil</a:t>
            </a:r>
            <a:r>
              <a:rPr lang="ru-RU" altLang="ru-RU" dirty="0">
                <a:latin typeface="Times New Roman" panose="02020603050405020304" pitchFamily="18" charset="0"/>
                <a:cs typeface="Times New Roman" panose="02020603050405020304" pitchFamily="18"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dirty="0">
                <a:solidFill>
                  <a:srgbClr val="FFC000"/>
                </a:solidFill>
                <a:latin typeface="Times New Roman" panose="02020603050405020304" pitchFamily="18" charset="0"/>
                <a:cs typeface="Times New Roman" panose="02020603050405020304" pitchFamily="18" charset="0"/>
              </a:rPr>
              <a:t>10</a:t>
            </a:r>
            <a:r>
              <a:rPr lang="ru-RU" altLang="ru-RU" dirty="0">
                <a:latin typeface="Times New Roman" panose="02020603050405020304" pitchFamily="18" charset="0"/>
                <a:cs typeface="Times New Roman" panose="02020603050405020304" pitchFamily="18" charset="0"/>
              </a:rPr>
              <a:t> -&gt; 2 </a:t>
            </a:r>
            <a:r>
              <a:rPr lang="ru-RU" altLang="ru-RU" dirty="0" err="1">
                <a:latin typeface="Times New Roman" panose="02020603050405020304" pitchFamily="18" charset="0"/>
                <a:cs typeface="Times New Roman" panose="02020603050405020304" pitchFamily="18" charset="0"/>
              </a:rPr>
              <a:t>marta</a:t>
            </a:r>
            <a:endParaRPr lang="ru-RU" altLang="ru-RU" dirty="0">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dirty="0">
                <a:solidFill>
                  <a:srgbClr val="FFC000"/>
                </a:solidFill>
                <a:latin typeface="Times New Roman" panose="02020603050405020304" pitchFamily="18" charset="0"/>
                <a:cs typeface="Times New Roman" panose="02020603050405020304" pitchFamily="18" charset="0"/>
              </a:rPr>
              <a:t>20</a:t>
            </a:r>
            <a:r>
              <a:rPr lang="ru-RU" altLang="ru-RU" dirty="0">
                <a:latin typeface="Times New Roman" panose="02020603050405020304" pitchFamily="18" charset="0"/>
                <a:cs typeface="Times New Roman" panose="02020603050405020304" pitchFamily="18" charset="0"/>
              </a:rPr>
              <a:t> -&gt; 2 </a:t>
            </a:r>
            <a:r>
              <a:rPr lang="ru-RU" altLang="ru-RU" dirty="0" err="1">
                <a:latin typeface="Times New Roman" panose="02020603050405020304" pitchFamily="18" charset="0"/>
                <a:cs typeface="Times New Roman" panose="02020603050405020304" pitchFamily="18" charset="0"/>
              </a:rPr>
              <a:t>marta</a:t>
            </a:r>
            <a:endParaRPr lang="ru-RU" altLang="ru-RU" dirty="0">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dirty="0">
                <a:latin typeface="Times New Roman" panose="02020603050405020304" pitchFamily="18" charset="0"/>
                <a:cs typeface="Times New Roman" panose="02020603050405020304" pitchFamily="18" charset="0"/>
              </a:rPr>
              <a:t>30 -&gt; 1 </a:t>
            </a:r>
            <a:r>
              <a:rPr lang="ru-RU" altLang="ru-RU" dirty="0" err="1">
                <a:latin typeface="Times New Roman" panose="02020603050405020304" pitchFamily="18" charset="0"/>
                <a:cs typeface="Times New Roman" panose="02020603050405020304" pitchFamily="18" charset="0"/>
              </a:rPr>
              <a:t>marta</a:t>
            </a:r>
            <a:endParaRPr lang="ru-RU" altLang="ru-RU" dirty="0">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dirty="0">
                <a:latin typeface="Times New Roman" panose="02020603050405020304" pitchFamily="18" charset="0"/>
                <a:cs typeface="Times New Roman" panose="02020603050405020304" pitchFamily="18" charset="0"/>
              </a:rPr>
              <a:t>40 -&gt; 1 </a:t>
            </a:r>
            <a:r>
              <a:rPr lang="ru-RU" altLang="ru-RU" dirty="0" err="1">
                <a:latin typeface="Times New Roman" panose="02020603050405020304" pitchFamily="18" charset="0"/>
                <a:cs typeface="Times New Roman" panose="02020603050405020304" pitchFamily="18" charset="0"/>
              </a:rPr>
              <a:t>marta</a:t>
            </a:r>
            <a:endParaRPr lang="ru-RU" altLang="ru-RU"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ru-RU" altLang="ru-RU" dirty="0" err="1">
                <a:latin typeface="Times New Roman" panose="02020603050405020304" pitchFamily="18" charset="0"/>
                <a:cs typeface="Times New Roman" panose="02020603050405020304" pitchFamily="18" charset="0"/>
              </a:rPr>
              <a:t>Javob</a:t>
            </a:r>
            <a:r>
              <a:rPr lang="ru-RU" altLang="ru-RU" dirty="0">
                <a:latin typeface="Times New Roman" panose="02020603050405020304" pitchFamily="18" charset="0"/>
                <a:cs typeface="Times New Roman" panose="02020603050405020304" pitchFamily="18" charset="0"/>
              </a:rPr>
              <a:t>: </a:t>
            </a:r>
            <a:r>
              <a:rPr lang="en-US" altLang="ru-RU" dirty="0">
                <a:latin typeface="Times New Roman" panose="02020603050405020304" pitchFamily="18" charset="0"/>
                <a:cs typeface="Times New Roman" panose="02020603050405020304" pitchFamily="18" charset="0"/>
              </a:rPr>
              <a:t>Mode </a:t>
            </a:r>
            <a:r>
              <a:rPr lang="ru-RU" altLang="ru-RU" dirty="0">
                <a:latin typeface="Times New Roman" panose="02020603050405020304" pitchFamily="18" charset="0"/>
                <a:cs typeface="Times New Roman" panose="02020603050405020304" pitchFamily="18" charset="0"/>
              </a:rPr>
              <a:t>= 10 </a:t>
            </a:r>
            <a:r>
              <a:rPr lang="ru-RU" altLang="ru-RU" dirty="0" err="1">
                <a:latin typeface="Times New Roman" panose="02020603050405020304" pitchFamily="18" charset="0"/>
                <a:cs typeface="Times New Roman" panose="02020603050405020304" pitchFamily="18" charset="0"/>
              </a:rPr>
              <a:t>va</a:t>
            </a:r>
            <a:r>
              <a:rPr lang="ru-RU" altLang="ru-RU" dirty="0">
                <a:latin typeface="Times New Roman" panose="02020603050405020304" pitchFamily="18" charset="0"/>
                <a:cs typeface="Times New Roman" panose="02020603050405020304" pitchFamily="18" charset="0"/>
              </a:rPr>
              <a:t> 20 (</a:t>
            </a:r>
            <a:r>
              <a:rPr lang="ru-RU" altLang="ru-RU" dirty="0" err="1">
                <a:latin typeface="Times New Roman" panose="02020603050405020304" pitchFamily="18" charset="0"/>
                <a:cs typeface="Times New Roman" panose="02020603050405020304" pitchFamily="18" charset="0"/>
              </a:rPr>
              <a:t>Ikkita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mod</a:t>
            </a:r>
            <a:r>
              <a:rPr lang="en-US" altLang="ru-RU" dirty="0">
                <a:latin typeface="Times New Roman" panose="02020603050405020304" pitchFamily="18" charset="0"/>
                <a:cs typeface="Times New Roman" panose="02020603050405020304" pitchFamily="18" charset="0"/>
              </a:rPr>
              <a:t>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bor</a:t>
            </a:r>
            <a:r>
              <a:rPr lang="ru-RU" altLang="ru-RU"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ru-RU" altLang="ru-RU" dirty="0">
              <a:latin typeface="Times New Roman" panose="02020603050405020304" pitchFamily="18" charset="0"/>
              <a:cs typeface="Times New Roman" panose="02020603050405020304" pitchFamily="18" charset="0"/>
            </a:endParaRPr>
          </a:p>
        </p:txBody>
      </p:sp>
      <p:sp>
        <p:nvSpPr>
          <p:cNvPr id="11" name="Rectangle 3">
            <a:extLst>
              <a:ext uri="{FF2B5EF4-FFF2-40B4-BE49-F238E27FC236}">
                <a16:creationId xmlns:a16="http://schemas.microsoft.com/office/drawing/2014/main" id="{DB9656F0-DE01-D636-2C9C-0CEDD5653C65}"/>
              </a:ext>
            </a:extLst>
          </p:cNvPr>
          <p:cNvSpPr>
            <a:spLocks noChangeArrowheads="1"/>
          </p:cNvSpPr>
          <p:nvPr/>
        </p:nvSpPr>
        <p:spPr bwMode="auto">
          <a:xfrm>
            <a:off x="6636189" y="4143238"/>
            <a:ext cx="5180559" cy="2073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ru-RU" altLang="ru-RU" dirty="0">
                <a:latin typeface="Times New Roman" panose="02020603050405020304" pitchFamily="18" charset="0"/>
                <a:cs typeface="Times New Roman" panose="02020603050405020304" pitchFamily="18" charset="0"/>
              </a:rPr>
              <a:t>C) </a:t>
            </a:r>
            <a:r>
              <a:rPr lang="ru-RU" altLang="ru-RU" dirty="0" err="1">
                <a:latin typeface="Times New Roman" panose="02020603050405020304" pitchFamily="18" charset="0"/>
                <a:cs typeface="Times New Roman" panose="02020603050405020304" pitchFamily="18" charset="0"/>
              </a:rPr>
              <a:t>Ko'p</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mod</a:t>
            </a:r>
            <a:r>
              <a:rPr lang="en-US" altLang="ru-RU" dirty="0">
                <a:latin typeface="Times New Roman" panose="02020603050405020304" pitchFamily="18" charset="0"/>
                <a:cs typeface="Times New Roman" panose="02020603050405020304" pitchFamily="18" charset="0"/>
              </a:rPr>
              <a:t>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multimodal</a:t>
            </a:r>
            <a:r>
              <a:rPr lang="ru-RU" altLang="ru-RU" dirty="0">
                <a:latin typeface="Times New Roman" panose="02020603050405020304" pitchFamily="18" charset="0"/>
                <a:cs typeface="Times New Roman" panose="02020603050405020304" pitchFamily="18" charset="0"/>
              </a:rPr>
              <a:t>)</a:t>
            </a:r>
            <a:r>
              <a:rPr lang="en-US" altLang="ru-RU" dirty="0">
                <a:latin typeface="Times New Roman" panose="02020603050405020304" pitchFamily="18" charset="0"/>
                <a:cs typeface="Times New Roman" panose="02020603050405020304" pitchFamily="18" charset="0"/>
              </a:rPr>
              <a:t> - </a:t>
            </a:r>
            <a:r>
              <a:rPr lang="ru-RU" altLang="ru-RU" dirty="0" err="1">
                <a:latin typeface="Times New Roman" panose="02020603050405020304" pitchFamily="18" charset="0"/>
                <a:cs typeface="Times New Roman" panose="02020603050405020304" pitchFamily="18" charset="0"/>
              </a:rPr>
              <a:t>Agar</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ikkitadan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ortiq</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son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yuqori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chastotaga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ega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bo'lsa</a:t>
            </a:r>
            <a:r>
              <a:rPr lang="ru-RU" altLang="ru-RU"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tabLst/>
            </a:pPr>
            <a:r>
              <a:rPr lang="ru-RU" altLang="ru-RU" dirty="0" err="1">
                <a:latin typeface="Times New Roman" panose="02020603050405020304" pitchFamily="18" charset="0"/>
                <a:cs typeface="Times New Roman" panose="02020603050405020304" pitchFamily="18" charset="0"/>
              </a:rPr>
              <a:t>Ma'lumot</a:t>
            </a:r>
            <a:r>
              <a:rPr lang="ru-RU" altLang="ru-RU" dirty="0">
                <a:latin typeface="Times New Roman" panose="02020603050405020304" pitchFamily="18" charset="0"/>
                <a:cs typeface="Times New Roman" panose="02020603050405020304" pitchFamily="18" charset="0"/>
              </a:rPr>
              <a:t>: A, B, A, B, C, C</a:t>
            </a:r>
          </a:p>
          <a:p>
            <a:pPr marL="0" marR="0" lvl="0" indent="0" algn="l" defTabSz="914400" rtl="0" eaLnBrk="0" fontAlgn="base" latinLnBrk="0" hangingPunct="0">
              <a:lnSpc>
                <a:spcPct val="150000"/>
              </a:lnSpc>
              <a:spcBef>
                <a:spcPct val="0"/>
              </a:spcBef>
              <a:spcAft>
                <a:spcPct val="0"/>
              </a:spcAft>
              <a:buClrTx/>
              <a:buSzTx/>
              <a:tabLst/>
            </a:pPr>
            <a:r>
              <a:rPr lang="ru-RU" altLang="ru-RU" dirty="0" err="1">
                <a:latin typeface="Times New Roman" panose="02020603050405020304" pitchFamily="18" charset="0"/>
                <a:cs typeface="Times New Roman" panose="02020603050405020304" pitchFamily="18" charset="0"/>
              </a:rPr>
              <a:t>Javob</a:t>
            </a:r>
            <a:r>
              <a:rPr lang="ru-RU" altLang="ru-RU" dirty="0">
                <a:latin typeface="Times New Roman" panose="02020603050405020304" pitchFamily="18" charset="0"/>
                <a:cs typeface="Times New Roman" panose="02020603050405020304" pitchFamily="18" charset="0"/>
              </a:rPr>
              <a:t>:</a:t>
            </a:r>
            <a:r>
              <a:rPr lang="en-US" altLang="ru-RU" dirty="0">
                <a:latin typeface="Times New Roman" panose="02020603050405020304" pitchFamily="18" charset="0"/>
                <a:cs typeface="Times New Roman" panose="02020603050405020304" pitchFamily="18" charset="0"/>
              </a:rPr>
              <a:t> Mode</a:t>
            </a:r>
            <a:r>
              <a:rPr lang="ru-RU" altLang="ru-RU" dirty="0">
                <a:latin typeface="Times New Roman" panose="02020603050405020304" pitchFamily="18" charset="0"/>
                <a:cs typeface="Times New Roman" panose="02020603050405020304" pitchFamily="18" charset="0"/>
              </a:rPr>
              <a:t> = A, B, C (</a:t>
            </a:r>
            <a:r>
              <a:rPr lang="ru-RU" altLang="ru-RU" dirty="0" err="1">
                <a:latin typeface="Times New Roman" panose="02020603050405020304" pitchFamily="18" charset="0"/>
                <a:cs typeface="Times New Roman" panose="02020603050405020304" pitchFamily="18" charset="0"/>
              </a:rPr>
              <a:t>Uchala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qiymat</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ham</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moda</a:t>
            </a:r>
            <a:r>
              <a:rPr lang="ru-RU" altLang="ru-RU"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lang="ru-RU" alt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9134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FB3E51-982F-310C-13FE-DB0934856EFB}"/>
              </a:ext>
            </a:extLst>
          </p:cNvPr>
          <p:cNvSpPr txBox="1"/>
          <p:nvPr/>
        </p:nvSpPr>
        <p:spPr>
          <a:xfrm>
            <a:off x="658262" y="428358"/>
            <a:ext cx="10875475" cy="523220"/>
          </a:xfrm>
          <a:prstGeom prst="rect">
            <a:avLst/>
          </a:prstGeom>
          <a:noFill/>
        </p:spPr>
        <p:txBody>
          <a:bodyPr wrap="square">
            <a:spAutoFit/>
          </a:bodyPr>
          <a:lstStyle/>
          <a:p>
            <a:r>
              <a:rPr lang="en-US" sz="2800" b="1" dirty="0">
                <a:solidFill>
                  <a:srgbClr val="F0FCFF"/>
                </a:solidFill>
                <a:latin typeface="Times New Roman" panose="02020603050405020304" pitchFamily="18" charset="0"/>
                <a:ea typeface="Spline Sans Bold" pitchFamily="34" charset="-122"/>
                <a:cs typeface="Times New Roman" panose="02020603050405020304" pitchFamily="18" charset="0"/>
              </a:rPr>
              <a:t>STATISTIKA: DISPERSIYA O’LCHOVI</a:t>
            </a:r>
            <a:endParaRPr lang="ru-RU" sz="2800" dirty="0"/>
          </a:p>
        </p:txBody>
      </p:sp>
      <p:sp>
        <p:nvSpPr>
          <p:cNvPr id="3" name="TextBox 2">
            <a:extLst>
              <a:ext uri="{FF2B5EF4-FFF2-40B4-BE49-F238E27FC236}">
                <a16:creationId xmlns:a16="http://schemas.microsoft.com/office/drawing/2014/main" id="{C8D8A2AB-2C4B-ABF8-51B5-3740D87A027D}"/>
              </a:ext>
            </a:extLst>
          </p:cNvPr>
          <p:cNvSpPr txBox="1"/>
          <p:nvPr/>
        </p:nvSpPr>
        <p:spPr>
          <a:xfrm>
            <a:off x="1808053" y="2206175"/>
            <a:ext cx="7100558" cy="461665"/>
          </a:xfrm>
          <a:prstGeom prst="rect">
            <a:avLst/>
          </a:prstGeom>
          <a:noFill/>
        </p:spPr>
        <p:txBody>
          <a:bodyPr wrap="square">
            <a:spAutoFit/>
          </a:bodyPr>
          <a:lstStyle/>
          <a:p>
            <a:pPr marL="457200" indent="-457200" algn="l" fontAlgn="base">
              <a:buFont typeface="Wingdings" panose="05000000000000000000" pitchFamily="2" charset="2"/>
              <a:buChar char="§"/>
            </a:pPr>
            <a:r>
              <a:rPr lang="en-US" sz="2400" b="1" i="0" dirty="0">
                <a:effectLst/>
                <a:latin typeface="Times New Roman" panose="02020603050405020304" pitchFamily="18" charset="0"/>
                <a:cs typeface="Times New Roman" panose="02020603050405020304" pitchFamily="18" charset="0"/>
              </a:rPr>
              <a:t>DIAPAZON</a:t>
            </a:r>
            <a:endParaRPr lang="tr-TR" sz="2400" b="1" i="0" dirty="0">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53A133F-E048-A12D-B851-C674CD85742F}"/>
              </a:ext>
            </a:extLst>
          </p:cNvPr>
          <p:cNvSpPr txBox="1"/>
          <p:nvPr/>
        </p:nvSpPr>
        <p:spPr>
          <a:xfrm>
            <a:off x="1808053" y="2967334"/>
            <a:ext cx="7100558" cy="461665"/>
          </a:xfrm>
          <a:prstGeom prst="rect">
            <a:avLst/>
          </a:prstGeom>
          <a:noFill/>
        </p:spPr>
        <p:txBody>
          <a:bodyPr wrap="square">
            <a:spAutoFit/>
          </a:bodyPr>
          <a:lstStyle/>
          <a:p>
            <a:pPr marL="457200" indent="-457200" algn="l" fontAlgn="base">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DISPERSIYA</a:t>
            </a:r>
            <a:endParaRPr lang="en-US" sz="2400" b="1" i="0" dirty="0">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08F6E97-AF15-4E4E-9026-571945D8C93F}"/>
              </a:ext>
            </a:extLst>
          </p:cNvPr>
          <p:cNvSpPr txBox="1"/>
          <p:nvPr/>
        </p:nvSpPr>
        <p:spPr>
          <a:xfrm>
            <a:off x="1808053" y="3649482"/>
            <a:ext cx="7100558" cy="461665"/>
          </a:xfrm>
          <a:prstGeom prst="rect">
            <a:avLst/>
          </a:prstGeom>
          <a:noFill/>
        </p:spPr>
        <p:txBody>
          <a:bodyPr wrap="square">
            <a:spAutoFit/>
          </a:bodyPr>
          <a:lstStyle/>
          <a:p>
            <a:pPr marL="457200" indent="-457200" algn="l" fontAlgn="base">
              <a:buFont typeface="Wingdings" panose="05000000000000000000" pitchFamily="2" charset="2"/>
              <a:buChar char="§"/>
            </a:pPr>
            <a:r>
              <a:rPr lang="en-US" sz="2400" b="1" i="0" dirty="0">
                <a:effectLst/>
                <a:latin typeface="Times New Roman" panose="02020603050405020304" pitchFamily="18" charset="0"/>
                <a:cs typeface="Times New Roman" panose="02020603050405020304" pitchFamily="18" charset="0"/>
              </a:rPr>
              <a:t>STANDART OG’ISH</a:t>
            </a:r>
          </a:p>
        </p:txBody>
      </p:sp>
      <p:sp>
        <p:nvSpPr>
          <p:cNvPr id="6" name="TextBox 5">
            <a:extLst>
              <a:ext uri="{FF2B5EF4-FFF2-40B4-BE49-F238E27FC236}">
                <a16:creationId xmlns:a16="http://schemas.microsoft.com/office/drawing/2014/main" id="{4FBE6CB7-CB00-254D-B921-8C333B76955E}"/>
              </a:ext>
            </a:extLst>
          </p:cNvPr>
          <p:cNvSpPr txBox="1"/>
          <p:nvPr/>
        </p:nvSpPr>
        <p:spPr>
          <a:xfrm>
            <a:off x="957026" y="1513180"/>
            <a:ext cx="6097508" cy="369332"/>
          </a:xfrm>
          <a:prstGeom prst="rect">
            <a:avLst/>
          </a:prstGeom>
          <a:noFill/>
        </p:spPr>
        <p:txBody>
          <a:bodyPr wrap="square">
            <a:spAutoFit/>
          </a:bodyPr>
          <a:lstStyle/>
          <a:p>
            <a:r>
              <a:rPr lang="en-US" sz="1800" b="1" dirty="0">
                <a:solidFill>
                  <a:srgbClr val="F0FCFF"/>
                </a:solidFill>
                <a:latin typeface="Times New Roman" panose="02020603050405020304" pitchFamily="18" charset="0"/>
                <a:ea typeface="Spline Sans Bold" pitchFamily="34" charset="-122"/>
                <a:cs typeface="Times New Roman" panose="02020603050405020304" pitchFamily="18" charset="0"/>
              </a:rPr>
              <a:t>DISPERSIYA O’LCHOVI </a:t>
            </a:r>
            <a:r>
              <a:rPr lang="en-US" b="1" dirty="0">
                <a:solidFill>
                  <a:srgbClr val="F0FCFF"/>
                </a:solidFill>
                <a:latin typeface="Times New Roman" panose="02020603050405020304" pitchFamily="18" charset="0"/>
                <a:ea typeface="Spline Sans Bold" pitchFamily="34" charset="-122"/>
                <a:cs typeface="Times New Roman" panose="02020603050405020304" pitchFamily="18" charset="0"/>
              </a:rPr>
              <a:t>TURLARI:</a:t>
            </a:r>
            <a:endParaRPr lang="ru-RU" dirty="0"/>
          </a:p>
        </p:txBody>
      </p:sp>
    </p:spTree>
    <p:extLst>
      <p:ext uri="{BB962C8B-B14F-4D97-AF65-F5344CB8AC3E}">
        <p14:creationId xmlns:p14="http://schemas.microsoft.com/office/powerpoint/2010/main" val="755679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211D47-7699-96B0-980A-1ABB7E7E7E14}"/>
              </a:ext>
            </a:extLst>
          </p:cNvPr>
          <p:cNvSpPr txBox="1"/>
          <p:nvPr/>
        </p:nvSpPr>
        <p:spPr>
          <a:xfrm>
            <a:off x="939298" y="340434"/>
            <a:ext cx="6097508" cy="584775"/>
          </a:xfrm>
          <a:prstGeom prst="rect">
            <a:avLst/>
          </a:prstGeom>
          <a:noFill/>
        </p:spPr>
        <p:txBody>
          <a:bodyPr wrap="square">
            <a:spAutoFit/>
          </a:bodyPr>
          <a:lstStyle/>
          <a:p>
            <a:pPr algn="l" fontAlgn="base"/>
            <a:r>
              <a:rPr lang="en-US" sz="3200" b="1" i="0" dirty="0">
                <a:effectLst/>
                <a:latin typeface="Times New Roman" panose="02020603050405020304" pitchFamily="18" charset="0"/>
                <a:cs typeface="Times New Roman" panose="02020603050405020304" pitchFamily="18" charset="0"/>
              </a:rPr>
              <a:t>DIAPAZON</a:t>
            </a:r>
            <a:endParaRPr lang="tr-TR" sz="3200" b="1" i="0" dirty="0">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31CFA30-F6D3-CCEB-CFF2-0FA249AF461F}"/>
              </a:ext>
            </a:extLst>
          </p:cNvPr>
          <p:cNvSpPr txBox="1"/>
          <p:nvPr/>
        </p:nvSpPr>
        <p:spPr>
          <a:xfrm>
            <a:off x="1029833" y="1381582"/>
            <a:ext cx="9716630" cy="954107"/>
          </a:xfrm>
          <a:prstGeom prst="rect">
            <a:avLst/>
          </a:prstGeom>
          <a:noFill/>
        </p:spPr>
        <p:txBody>
          <a:bodyPr wrap="square">
            <a:spAutoFit/>
          </a:bodyPr>
          <a:lstStyle/>
          <a:p>
            <a:r>
              <a:rPr lang="tr-TR" sz="28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rPr>
              <a:t>Diapazon (Range)</a:t>
            </a:r>
            <a:r>
              <a:rPr lang="en-US" sz="28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rPr>
              <a:t> </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tr-TR" sz="2800" dirty="0">
                <a:latin typeface="Times New Roman" panose="02020603050405020304" pitchFamily="18" charset="0"/>
                <a:ea typeface="Tahoma" panose="020B0604030504040204" pitchFamily="34" charset="0"/>
                <a:cs typeface="Times New Roman" panose="02020603050405020304" pitchFamily="18" charset="0"/>
              </a:rPr>
              <a:t>Eng oddiy o'lchov. Eng katta va eng kichik son o'rtasidagi farq.</a:t>
            </a:r>
            <a:endParaRPr lang="ru-RU" sz="28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Рисунок 6">
            <a:extLst>
              <a:ext uri="{FF2B5EF4-FFF2-40B4-BE49-F238E27FC236}">
                <a16:creationId xmlns:a16="http://schemas.microsoft.com/office/drawing/2014/main" id="{BBCC5B0F-8751-A360-2C2B-90D1FD08842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3988052" y="2792061"/>
            <a:ext cx="3183815" cy="954107"/>
          </a:xfrm>
          <a:prstGeom prst="rect">
            <a:avLst/>
          </a:prstGeom>
          <a:ln>
            <a:solidFill>
              <a:schemeClr val="tx1"/>
            </a:solidFill>
          </a:ln>
        </p:spPr>
      </p:pic>
      <p:sp>
        <p:nvSpPr>
          <p:cNvPr id="9" name="TextBox 8">
            <a:extLst>
              <a:ext uri="{FF2B5EF4-FFF2-40B4-BE49-F238E27FC236}">
                <a16:creationId xmlns:a16="http://schemas.microsoft.com/office/drawing/2014/main" id="{B4E4DC1D-25EA-F54F-E5CD-9B4AE59093E9}"/>
              </a:ext>
            </a:extLst>
          </p:cNvPr>
          <p:cNvSpPr txBox="1"/>
          <p:nvPr/>
        </p:nvSpPr>
        <p:spPr>
          <a:xfrm>
            <a:off x="1111313" y="4522311"/>
            <a:ext cx="9635150" cy="830997"/>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Kamchiligi</a:t>
            </a:r>
            <a:r>
              <a:rPr lang="en-US" sz="2400" b="1" dirty="0">
                <a:latin typeface="Times New Roman" panose="02020603050405020304" pitchFamily="18" charset="0"/>
                <a:cs typeface="Times New Roman" panose="02020603050405020304" pitchFamily="18" charset="0"/>
              </a:rPr>
              <a:t> - </a:t>
            </a:r>
            <a:r>
              <a:rPr lang="tr-TR" sz="2400" dirty="0">
                <a:latin typeface="Times New Roman" panose="02020603050405020304" pitchFamily="18" charset="0"/>
                <a:cs typeface="Times New Roman" panose="02020603050405020304" pitchFamily="18" charset="0"/>
              </a:rPr>
              <a:t> Bitta "outlier" (chetga chiqqan son) butun natijani buzib ko'rsatishi mumkin.</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879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B5A019-7707-74C2-DAD2-B9DC4FB08073}"/>
              </a:ext>
            </a:extLst>
          </p:cNvPr>
          <p:cNvSpPr txBox="1"/>
          <p:nvPr/>
        </p:nvSpPr>
        <p:spPr>
          <a:xfrm>
            <a:off x="649589" y="403809"/>
            <a:ext cx="6097508" cy="646331"/>
          </a:xfrm>
          <a:prstGeom prst="rect">
            <a:avLst/>
          </a:prstGeom>
          <a:noFill/>
        </p:spPr>
        <p:txBody>
          <a:bodyPr wrap="square">
            <a:spAutoFit/>
          </a:bodyPr>
          <a:lstStyle/>
          <a:p>
            <a:pPr algn="l" fontAlgn="base"/>
            <a:r>
              <a:rPr lang="en-US" sz="3600" b="1" dirty="0">
                <a:latin typeface="Times New Roman" panose="02020603050405020304" pitchFamily="18" charset="0"/>
                <a:cs typeface="Times New Roman" panose="02020603050405020304" pitchFamily="18" charset="0"/>
              </a:rPr>
              <a:t>DISPERSIYA (VARIANCE)</a:t>
            </a:r>
            <a:endParaRPr lang="en-US" sz="3600" b="1" i="0" dirty="0">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53F4D9C-F918-5BDC-8976-EB9700F86933}"/>
              </a:ext>
            </a:extLst>
          </p:cNvPr>
          <p:cNvSpPr txBox="1"/>
          <p:nvPr/>
        </p:nvSpPr>
        <p:spPr>
          <a:xfrm>
            <a:off x="649589" y="1306930"/>
            <a:ext cx="4528994" cy="1015663"/>
          </a:xfrm>
          <a:prstGeom prst="rect">
            <a:avLst/>
          </a:prstGeom>
          <a:noFill/>
        </p:spPr>
        <p:txBody>
          <a:bodyPr wrap="square">
            <a:spAutoFit/>
          </a:bodyPr>
          <a:lstStyle/>
          <a:p>
            <a:r>
              <a:rPr lang="tr-TR" sz="2000" b="1" dirty="0">
                <a:solidFill>
                  <a:srgbClr val="FFC000"/>
                </a:solidFill>
                <a:latin typeface="Times New Roman" panose="02020603050405020304" pitchFamily="18" charset="0"/>
                <a:cs typeface="Times New Roman" panose="02020603050405020304" pitchFamily="18" charset="0"/>
              </a:rPr>
              <a:t>Dispersiya</a:t>
            </a:r>
            <a:r>
              <a:rPr lang="tr-TR" sz="2000" dirty="0">
                <a:latin typeface="Times New Roman" panose="02020603050405020304" pitchFamily="18" charset="0"/>
                <a:cs typeface="Times New Roman" panose="02020603050405020304" pitchFamily="18" charset="0"/>
              </a:rPr>
              <a:t> — bu ma’lumotlarning o‘rtacha qiymatdan (mean) qanchaga chetga chiqishini o‘lchaydigan statistika.</a:t>
            </a:r>
            <a:endParaRPr lang="ru-RU"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AF00306-1577-BBFC-C8A0-199FBE55A29B}"/>
              </a:ext>
            </a:extLst>
          </p:cNvPr>
          <p:cNvSpPr txBox="1"/>
          <p:nvPr/>
        </p:nvSpPr>
        <p:spPr>
          <a:xfrm>
            <a:off x="649589" y="2457925"/>
            <a:ext cx="5198950" cy="1631216"/>
          </a:xfrm>
          <a:prstGeom prst="rect">
            <a:avLst/>
          </a:prstGeom>
          <a:noFill/>
        </p:spPr>
        <p:txBody>
          <a:bodyPr wrap="square">
            <a:spAutoFit/>
          </a:bodyPr>
          <a:lstStyle/>
          <a:p>
            <a:pPr>
              <a:buNone/>
            </a:pPr>
            <a:r>
              <a:rPr lang="tr-TR" sz="2000" dirty="0">
                <a:latin typeface="Times New Roman" panose="02020603050405020304" pitchFamily="18" charset="0"/>
                <a:cs typeface="Times New Roman" panose="02020603050405020304" pitchFamily="18" charset="0"/>
              </a:rPr>
              <a:t>Ya’ni:</a:t>
            </a:r>
          </a:p>
          <a:p>
            <a:pPr marL="800100" lvl="1" indent="-342900">
              <a:buFont typeface="Wingdings" panose="05000000000000000000" pitchFamily="2" charset="2"/>
              <a:buChar char="§"/>
            </a:pPr>
            <a:r>
              <a:rPr lang="tr-TR" sz="2000" dirty="0">
                <a:latin typeface="Times New Roman" panose="02020603050405020304" pitchFamily="18" charset="0"/>
                <a:cs typeface="Times New Roman" panose="02020603050405020304" pitchFamily="18" charset="0"/>
              </a:rPr>
              <a:t>Ma’lumotlar </a:t>
            </a:r>
            <a:r>
              <a:rPr lang="tr-TR" sz="2000" b="1" dirty="0">
                <a:latin typeface="Times New Roman" panose="02020603050405020304" pitchFamily="18" charset="0"/>
                <a:cs typeface="Times New Roman" panose="02020603050405020304" pitchFamily="18" charset="0"/>
              </a:rPr>
              <a:t>bir-biriga yaqin bo‘lsa</a:t>
            </a:r>
            <a:r>
              <a:rPr lang="tr-TR" sz="2000" dirty="0">
                <a:latin typeface="Times New Roman" panose="02020603050405020304" pitchFamily="18" charset="0"/>
                <a:cs typeface="Times New Roman" panose="02020603050405020304" pitchFamily="18" charset="0"/>
              </a:rPr>
              <a:t>, dispersiya </a:t>
            </a:r>
            <a:r>
              <a:rPr lang="tr-TR" sz="2000" b="1" dirty="0">
                <a:latin typeface="Times New Roman" panose="02020603050405020304" pitchFamily="18" charset="0"/>
                <a:cs typeface="Times New Roman" panose="02020603050405020304" pitchFamily="18" charset="0"/>
              </a:rPr>
              <a:t>kichik</a:t>
            </a:r>
            <a:r>
              <a:rPr lang="tr-TR" sz="20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
            </a:pPr>
            <a:r>
              <a:rPr lang="tr-TR" sz="2000" dirty="0">
                <a:latin typeface="Times New Roman" panose="02020603050405020304" pitchFamily="18" charset="0"/>
                <a:cs typeface="Times New Roman" panose="02020603050405020304" pitchFamily="18" charset="0"/>
              </a:rPr>
              <a:t>Ma’lumotlar </a:t>
            </a:r>
            <a:r>
              <a:rPr lang="tr-TR" sz="2000" b="1" dirty="0">
                <a:latin typeface="Times New Roman" panose="02020603050405020304" pitchFamily="18" charset="0"/>
                <a:cs typeface="Times New Roman" panose="02020603050405020304" pitchFamily="18" charset="0"/>
              </a:rPr>
              <a:t>tarqoq, uzoq-uzoqlarda bo‘lsa</a:t>
            </a:r>
            <a:r>
              <a:rPr lang="tr-TR" sz="2000" dirty="0">
                <a:latin typeface="Times New Roman" panose="02020603050405020304" pitchFamily="18" charset="0"/>
                <a:cs typeface="Times New Roman" panose="02020603050405020304" pitchFamily="18" charset="0"/>
              </a:rPr>
              <a:t>, dispersiya </a:t>
            </a:r>
            <a:r>
              <a:rPr lang="tr-TR" sz="2000" b="1" dirty="0">
                <a:latin typeface="Times New Roman" panose="02020603050405020304" pitchFamily="18" charset="0"/>
                <a:cs typeface="Times New Roman" panose="02020603050405020304" pitchFamily="18" charset="0"/>
              </a:rPr>
              <a:t>katta</a:t>
            </a:r>
            <a:r>
              <a:rPr lang="tr-TR" sz="2000" dirty="0">
                <a:latin typeface="Times New Roman" panose="02020603050405020304" pitchFamily="18" charset="0"/>
                <a:cs typeface="Times New Roman" panose="02020603050405020304" pitchFamily="18" charset="0"/>
              </a:rPr>
              <a:t>.</a:t>
            </a:r>
          </a:p>
        </p:txBody>
      </p:sp>
      <p:pic>
        <p:nvPicPr>
          <p:cNvPr id="9" name="Рисунок 8">
            <a:extLst>
              <a:ext uri="{FF2B5EF4-FFF2-40B4-BE49-F238E27FC236}">
                <a16:creationId xmlns:a16="http://schemas.microsoft.com/office/drawing/2014/main" id="{2C8018CD-6912-DC8F-6357-55857E5369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306930"/>
            <a:ext cx="5968621" cy="2991771"/>
          </a:xfrm>
          <a:prstGeom prst="rect">
            <a:avLst/>
          </a:prstGeom>
        </p:spPr>
      </p:pic>
      <p:sp>
        <p:nvSpPr>
          <p:cNvPr id="11" name="TextBox 10">
            <a:extLst>
              <a:ext uri="{FF2B5EF4-FFF2-40B4-BE49-F238E27FC236}">
                <a16:creationId xmlns:a16="http://schemas.microsoft.com/office/drawing/2014/main" id="{F6A2F470-AB8D-AAF3-B47D-B10246CC2A7B}"/>
              </a:ext>
            </a:extLst>
          </p:cNvPr>
          <p:cNvSpPr txBox="1"/>
          <p:nvPr/>
        </p:nvSpPr>
        <p:spPr>
          <a:xfrm>
            <a:off x="495678" y="4812406"/>
            <a:ext cx="6097508" cy="1477328"/>
          </a:xfrm>
          <a:prstGeom prst="rect">
            <a:avLst/>
          </a:prstGeom>
          <a:noFill/>
        </p:spPr>
        <p:txBody>
          <a:bodyPr wrap="square">
            <a:spAutoFit/>
          </a:bodyPr>
          <a:lstStyle/>
          <a:p>
            <a:pPr>
              <a:buNone/>
            </a:pPr>
            <a:r>
              <a:rPr lang="en-US" dirty="0" err="1">
                <a:latin typeface="Times New Roman" panose="02020603050405020304" pitchFamily="18" charset="0"/>
                <a:cs typeface="Times New Roman" panose="02020603050405020304" pitchFamily="18" charset="0"/>
              </a:rPr>
              <a:t>Misol</a:t>
            </a:r>
            <a:r>
              <a:rPr lang="en-US"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Uchta o‘quvchi matematika testidan ball oldi:</a:t>
            </a:r>
          </a:p>
          <a:p>
            <a:pPr marL="285750" indent="-28575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A: 90</a:t>
            </a:r>
          </a:p>
          <a:p>
            <a:pPr marL="285750" indent="-28575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B: 92</a:t>
            </a:r>
          </a:p>
          <a:p>
            <a:pPr marL="285750" indent="-28575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C: 91</a:t>
            </a:r>
          </a:p>
          <a:p>
            <a:pPr>
              <a:buNone/>
            </a:pPr>
            <a:r>
              <a:rPr lang="tr-TR" dirty="0">
                <a:latin typeface="Times New Roman" panose="02020603050405020304" pitchFamily="18" charset="0"/>
                <a:cs typeface="Times New Roman" panose="02020603050405020304" pitchFamily="18" charset="0"/>
              </a:rPr>
              <a:t>Bu ballar bir-biriga juda yaqin → </a:t>
            </a:r>
            <a:r>
              <a:rPr lang="tr-TR" b="1" dirty="0">
                <a:latin typeface="Times New Roman" panose="02020603050405020304" pitchFamily="18" charset="0"/>
                <a:cs typeface="Times New Roman" panose="02020603050405020304" pitchFamily="18" charset="0"/>
              </a:rPr>
              <a:t>dispersiya kichik</a:t>
            </a:r>
            <a:r>
              <a:rPr lang="tr-TR" dirty="0">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0A1356BD-B4CB-189C-0792-E6DA5CB06BA7}"/>
              </a:ext>
            </a:extLst>
          </p:cNvPr>
          <p:cNvSpPr txBox="1"/>
          <p:nvPr/>
        </p:nvSpPr>
        <p:spPr>
          <a:xfrm>
            <a:off x="6096000" y="4812406"/>
            <a:ext cx="6097508" cy="1477328"/>
          </a:xfrm>
          <a:prstGeom prst="rect">
            <a:avLst/>
          </a:prstGeom>
          <a:noFill/>
        </p:spPr>
        <p:txBody>
          <a:bodyPr wrap="square">
            <a:spAutoFit/>
          </a:bodyPr>
          <a:lstStyle/>
          <a:p>
            <a:pPr>
              <a:buNone/>
            </a:pPr>
            <a:r>
              <a:rPr lang="tr-TR" dirty="0">
                <a:latin typeface="Times New Roman" panose="02020603050405020304" pitchFamily="18" charset="0"/>
                <a:cs typeface="Times New Roman" panose="02020603050405020304" pitchFamily="18" charset="0"/>
              </a:rPr>
              <a:t>Endi boshqa uchta o‘quvchi:</a:t>
            </a:r>
          </a:p>
          <a:p>
            <a:pPr marL="285750" indent="-28575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A: 50</a:t>
            </a:r>
          </a:p>
          <a:p>
            <a:pPr marL="285750" indent="-28575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B: 90</a:t>
            </a:r>
          </a:p>
          <a:p>
            <a:pPr marL="285750" indent="-28575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C: 100</a:t>
            </a:r>
          </a:p>
          <a:p>
            <a:pPr>
              <a:buNone/>
            </a:pPr>
            <a:r>
              <a:rPr lang="tr-TR" dirty="0">
                <a:latin typeface="Times New Roman" panose="02020603050405020304" pitchFamily="18" charset="0"/>
                <a:cs typeface="Times New Roman" panose="02020603050405020304" pitchFamily="18" charset="0"/>
              </a:rPr>
              <a:t>Bu yerda ballar bir-biridan juda uzoq → </a:t>
            </a:r>
            <a:r>
              <a:rPr lang="tr-TR" b="1" dirty="0">
                <a:latin typeface="Times New Roman" panose="02020603050405020304" pitchFamily="18" charset="0"/>
                <a:cs typeface="Times New Roman" panose="02020603050405020304" pitchFamily="18" charset="0"/>
              </a:rPr>
              <a:t>dispersiya katta</a:t>
            </a:r>
            <a:r>
              <a:rPr lang="tr-TR"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42423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D3251C-1F6A-E1E7-4786-DC9EC5B5023C}"/>
              </a:ext>
            </a:extLst>
          </p:cNvPr>
          <p:cNvSpPr txBox="1"/>
          <p:nvPr/>
        </p:nvSpPr>
        <p:spPr>
          <a:xfrm>
            <a:off x="649589" y="403809"/>
            <a:ext cx="6097508" cy="646331"/>
          </a:xfrm>
          <a:prstGeom prst="rect">
            <a:avLst/>
          </a:prstGeom>
          <a:noFill/>
        </p:spPr>
        <p:txBody>
          <a:bodyPr wrap="square">
            <a:spAutoFit/>
          </a:bodyPr>
          <a:lstStyle/>
          <a:p>
            <a:pPr algn="l" fontAlgn="base"/>
            <a:r>
              <a:rPr lang="en-US" sz="3600" b="1" dirty="0">
                <a:latin typeface="Times New Roman" panose="02020603050405020304" pitchFamily="18" charset="0"/>
                <a:cs typeface="Times New Roman" panose="02020603050405020304" pitchFamily="18" charset="0"/>
              </a:rPr>
              <a:t>DISPERSIYA (VARIANCE)</a:t>
            </a:r>
            <a:endParaRPr lang="en-US" sz="3600" b="1" i="0" dirty="0">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18F69C1-195D-CD01-3EF2-AEFF6C6B7588}"/>
              </a:ext>
            </a:extLst>
          </p:cNvPr>
          <p:cNvSpPr txBox="1"/>
          <p:nvPr/>
        </p:nvSpPr>
        <p:spPr>
          <a:xfrm>
            <a:off x="649589" y="1200514"/>
            <a:ext cx="6097508" cy="400110"/>
          </a:xfrm>
          <a:prstGeom prst="rect">
            <a:avLst/>
          </a:prstGeom>
          <a:noFill/>
        </p:spPr>
        <p:txBody>
          <a:bodyPr wrap="square">
            <a:spAutoFit/>
          </a:bodyPr>
          <a:lstStyle/>
          <a:p>
            <a:r>
              <a:rPr lang="tr-TR" sz="2000" dirty="0">
                <a:latin typeface="Times New Roman" panose="02020603050405020304" pitchFamily="18" charset="0"/>
                <a:cs typeface="Times New Roman" panose="02020603050405020304" pitchFamily="18" charset="0"/>
              </a:rPr>
              <a:t>Dispersiya (Variance) </a:t>
            </a:r>
            <a:r>
              <a:rPr lang="tr-TR" sz="2000" dirty="0">
                <a:solidFill>
                  <a:srgbClr val="FFC000"/>
                </a:solidFill>
                <a:latin typeface="Times New Roman" panose="02020603050405020304" pitchFamily="18" charset="0"/>
                <a:cs typeface="Times New Roman" panose="02020603050405020304" pitchFamily="18" charset="0"/>
              </a:rPr>
              <a:t>ikki xil </a:t>
            </a:r>
            <a:r>
              <a:rPr lang="tr-TR" sz="2000" dirty="0">
                <a:latin typeface="Times New Roman" panose="02020603050405020304" pitchFamily="18" charset="0"/>
                <a:cs typeface="Times New Roman" panose="02020603050405020304" pitchFamily="18" charset="0"/>
              </a:rPr>
              <a:t>usulda hisoblanadi.</a:t>
            </a:r>
            <a:endParaRPr lang="ru-RU"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F4854FE-D81A-FDB2-6F23-F50D7A321C65}"/>
              </a:ext>
            </a:extLst>
          </p:cNvPr>
          <p:cNvSpPr txBox="1"/>
          <p:nvPr/>
        </p:nvSpPr>
        <p:spPr>
          <a:xfrm>
            <a:off x="649589" y="1709199"/>
            <a:ext cx="6097508"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Population(Barchasi)</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dispersiya</a:t>
            </a:r>
            <a:r>
              <a:rPr lang="tr-TR" sz="2400" b="1" dirty="0">
                <a:solidFill>
                  <a:srgbClr val="FFC000"/>
                </a:solidFill>
                <a:latin typeface="Times New Roman" panose="02020603050405020304" pitchFamily="18" charset="0"/>
                <a:cs typeface="Times New Roman" panose="02020603050405020304" pitchFamily="18" charset="0"/>
              </a:rPr>
              <a:t> </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6364656-5D93-ACE6-F2B0-A71CB411A49D}"/>
              </a:ext>
            </a:extLst>
          </p:cNvPr>
          <p:cNvSpPr txBox="1"/>
          <p:nvPr/>
        </p:nvSpPr>
        <p:spPr>
          <a:xfrm>
            <a:off x="6425697" y="1709199"/>
            <a:ext cx="6097508"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Sample (Bir qismi)</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dispersiya</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B50AE82-34BB-132D-51CD-7BA9207769BD}"/>
              </a:ext>
            </a:extLst>
          </p:cNvPr>
          <p:cNvSpPr txBox="1"/>
          <p:nvPr/>
        </p:nvSpPr>
        <p:spPr>
          <a:xfrm>
            <a:off x="649589" y="2176320"/>
            <a:ext cx="5380018" cy="1477328"/>
          </a:xfrm>
          <a:prstGeom prst="rect">
            <a:avLst/>
          </a:prstGeom>
          <a:noFill/>
        </p:spPr>
        <p:txBody>
          <a:bodyPr wrap="square">
            <a:spAutoFit/>
          </a:bodyPr>
          <a:lstStyle/>
          <a:p>
            <a:pPr>
              <a:buNone/>
            </a:pPr>
            <a:r>
              <a:rPr lang="tr-TR" b="1" dirty="0">
                <a:solidFill>
                  <a:srgbClr val="00B0F0"/>
                </a:solidFill>
                <a:latin typeface="Times New Roman" panose="02020603050405020304" pitchFamily="18" charset="0"/>
                <a:cs typeface="Times New Roman" panose="02020603050405020304" pitchFamily="18" charset="0"/>
              </a:rPr>
              <a:t>Qachon ishlatiladi?</a:t>
            </a:r>
            <a:r>
              <a:rPr lang="tr-TR" dirty="0">
                <a:solidFill>
                  <a:srgbClr val="00B0F0"/>
                </a:solidFill>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Agar sizda o‘rganilayotgan obyektlarning </a:t>
            </a:r>
            <a:r>
              <a:rPr lang="tr-TR" b="1" dirty="0">
                <a:latin typeface="Times New Roman" panose="02020603050405020304" pitchFamily="18" charset="0"/>
                <a:cs typeface="Times New Roman" panose="02020603050405020304" pitchFamily="18" charset="0"/>
              </a:rPr>
              <a:t>100% hammasi</a:t>
            </a:r>
            <a:r>
              <a:rPr lang="tr-TR" dirty="0">
                <a:latin typeface="Times New Roman" panose="02020603050405020304" pitchFamily="18" charset="0"/>
                <a:cs typeface="Times New Roman" panose="02020603050405020304" pitchFamily="18" charset="0"/>
              </a:rPr>
              <a:t> haqida ma'lumot bo‘lsa.</a:t>
            </a:r>
            <a:endParaRPr lang="en-US" dirty="0">
              <a:latin typeface="Times New Roman" panose="02020603050405020304" pitchFamily="18" charset="0"/>
              <a:cs typeface="Times New Roman" panose="02020603050405020304" pitchFamily="18" charset="0"/>
            </a:endParaRPr>
          </a:p>
          <a:p>
            <a:pPr>
              <a:buNone/>
            </a:pPr>
            <a:endParaRPr lang="tr-T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tr-TR" i="1" dirty="0">
                <a:latin typeface="Times New Roman" panose="02020603050405020304" pitchFamily="18" charset="0"/>
                <a:cs typeface="Times New Roman" panose="02020603050405020304" pitchFamily="18" charset="0"/>
              </a:rPr>
              <a:t>Misol:</a:t>
            </a:r>
            <a:r>
              <a:rPr lang="tr-TR" dirty="0">
                <a:latin typeface="Times New Roman" panose="02020603050405020304" pitchFamily="18" charset="0"/>
                <a:cs typeface="Times New Roman" panose="02020603050405020304" pitchFamily="18" charset="0"/>
              </a:rPr>
              <a:t> Sinfdagi </a:t>
            </a:r>
            <a:r>
              <a:rPr lang="tr-TR" b="1" dirty="0">
                <a:latin typeface="Times New Roman" panose="02020603050405020304" pitchFamily="18" charset="0"/>
                <a:cs typeface="Times New Roman" panose="02020603050405020304" pitchFamily="18" charset="0"/>
              </a:rPr>
              <a:t>barcha 30 nafar</a:t>
            </a:r>
            <a:r>
              <a:rPr lang="tr-TR" dirty="0">
                <a:latin typeface="Times New Roman" panose="02020603050405020304" pitchFamily="18" charset="0"/>
                <a:cs typeface="Times New Roman" panose="02020603050405020304" pitchFamily="18" charset="0"/>
              </a:rPr>
              <a:t> o‘quvchining bahosini tahlil qilyapsiz. Hech kim qolib ketmadi.</a:t>
            </a:r>
          </a:p>
        </p:txBody>
      </p:sp>
      <p:pic>
        <p:nvPicPr>
          <p:cNvPr id="12" name="Рисунок 11">
            <a:extLst>
              <a:ext uri="{FF2B5EF4-FFF2-40B4-BE49-F238E27FC236}">
                <a16:creationId xmlns:a16="http://schemas.microsoft.com/office/drawing/2014/main" id="{146626AF-7DE4-B2B1-3250-8F9F5F014CB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706543" y="3910198"/>
            <a:ext cx="2747762" cy="1115268"/>
          </a:xfrm>
          <a:prstGeom prst="rect">
            <a:avLst/>
          </a:prstGeom>
          <a:ln>
            <a:solidFill>
              <a:schemeClr val="tx1"/>
            </a:solidFill>
          </a:ln>
        </p:spPr>
      </p:pic>
      <p:sp>
        <p:nvSpPr>
          <p:cNvPr id="13" name="Rectangle 1">
            <a:extLst>
              <a:ext uri="{FF2B5EF4-FFF2-40B4-BE49-F238E27FC236}">
                <a16:creationId xmlns:a16="http://schemas.microsoft.com/office/drawing/2014/main" id="{B7E70796-27F1-C3FB-564B-42BC26EE2CFB}"/>
              </a:ext>
            </a:extLst>
          </p:cNvPr>
          <p:cNvSpPr>
            <a:spLocks noChangeArrowheads="1"/>
          </p:cNvSpPr>
          <p:nvPr/>
        </p:nvSpPr>
        <p:spPr bwMode="auto">
          <a:xfrm>
            <a:off x="715253" y="5402467"/>
            <a:ext cx="5800979"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Font typeface="Wingdings" panose="05000000000000000000" pitchFamily="2" charset="2"/>
              <a:buChar char="§"/>
            </a:pPr>
            <a:r>
              <a:rPr lang="el-GR" sz="2000" b="1" dirty="0">
                <a:latin typeface="Times New Roman" panose="02020603050405020304" pitchFamily="18" charset="0"/>
                <a:cs typeface="Times New Roman" panose="02020603050405020304" pitchFamily="18" charset="0"/>
              </a:rPr>
              <a:t>σ</a:t>
            </a:r>
            <a:r>
              <a:rPr lang="en-US" sz="2000" b="1" baseline="30000" dirty="0">
                <a:latin typeface="Times New Roman" panose="02020603050405020304" pitchFamily="18" charset="0"/>
                <a:cs typeface="Times New Roman" panose="02020603050405020304" pitchFamily="18" charset="0"/>
              </a:rPr>
              <a:t>2  </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haqiqiy</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dispersiya</a:t>
            </a:r>
            <a:endParaRPr lang="en-US" altLang="ru-RU" sz="2000" dirty="0">
              <a:latin typeface="Times New Roman" panose="02020603050405020304" pitchFamily="18" charset="0"/>
              <a:cs typeface="Times New Roman" panose="02020603050405020304" pitchFamily="18" charset="0"/>
            </a:endParaRPr>
          </a:p>
          <a:p>
            <a:pPr marL="285750" indent="-285750" defTabSz="914400" eaLnBrk="0" fontAlgn="base" hangingPunct="0">
              <a:spcBef>
                <a:spcPct val="0"/>
              </a:spcBef>
              <a:spcAft>
                <a:spcPct val="0"/>
              </a:spcAft>
              <a:buFont typeface="Wingdings" panose="05000000000000000000" pitchFamily="2" charset="2"/>
              <a:buChar char="§"/>
            </a:pPr>
            <a:r>
              <a:rPr lang="ru-RU" altLang="ru-RU" sz="2000" b="1" dirty="0">
                <a:latin typeface="Times New Roman" panose="02020603050405020304" pitchFamily="18" charset="0"/>
                <a:cs typeface="Times New Roman" panose="02020603050405020304" pitchFamily="18" charset="0"/>
              </a:rPr>
              <a:t>µ</a:t>
            </a:r>
            <a:r>
              <a:rPr lang="en-US" altLang="ru-RU" sz="2000" b="1" dirty="0">
                <a:latin typeface="Times New Roman" panose="02020603050405020304" pitchFamily="18" charset="0"/>
                <a:cs typeface="Times New Roman" panose="02020603050405020304" pitchFamily="18" charset="0"/>
              </a:rPr>
              <a:t> </a:t>
            </a:r>
            <a:r>
              <a:rPr lang="en-US" altLang="ru-RU" sz="2000" dirty="0">
                <a:latin typeface="Times New Roman" panose="02020603050405020304" pitchFamily="18" charset="0"/>
                <a:cs typeface="Times New Roman" panose="02020603050405020304" pitchFamily="18" charset="0"/>
              </a:rPr>
              <a:t> </a:t>
            </a:r>
            <a:r>
              <a:rPr lang="ru-RU" altLang="ru-RU" sz="2000" dirty="0">
                <a:latin typeface="Times New Roman" panose="02020603050405020304" pitchFamily="18" charset="0"/>
                <a:cs typeface="Times New Roman" panose="02020603050405020304" pitchFamily="18" charset="0"/>
              </a:rPr>
              <a:t>— </a:t>
            </a:r>
            <a:r>
              <a:rPr lang="en-US" altLang="ru-RU" sz="2000" dirty="0" err="1">
                <a:latin typeface="Times New Roman" panose="02020603050405020304" pitchFamily="18" charset="0"/>
                <a:cs typeface="Times New Roman" panose="02020603050405020304" pitchFamily="18" charset="0"/>
              </a:rPr>
              <a:t>barcha</a:t>
            </a:r>
            <a:r>
              <a:rPr lang="ru-RU" altLang="ru-RU" sz="2000" dirty="0">
                <a:latin typeface="Times New Roman" panose="02020603050405020304" pitchFamily="18" charset="0"/>
                <a:cs typeface="Times New Roman" panose="02020603050405020304" pitchFamily="18" charset="0"/>
              </a:rPr>
              <a:t> </a:t>
            </a:r>
            <a:r>
              <a:rPr lang="en-US" altLang="ru-RU" sz="2000" dirty="0" err="1">
                <a:latin typeface="Times New Roman" panose="02020603050405020304" pitchFamily="18" charset="0"/>
                <a:cs typeface="Times New Roman" panose="02020603050405020304" pitchFamily="18" charset="0"/>
              </a:rPr>
              <a:t>ma’lumotlarning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o‘rtachasi</a:t>
            </a:r>
            <a:r>
              <a:rPr lang="ru-RU" altLang="ru-RU" sz="2000" dirty="0">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b="1" dirty="0">
                <a:latin typeface="Times New Roman" panose="02020603050405020304" pitchFamily="18" charset="0"/>
                <a:cs typeface="Times New Roman" panose="02020603050405020304" pitchFamily="18" charset="0"/>
              </a:rPr>
              <a:t>N</a:t>
            </a:r>
            <a:r>
              <a:rPr lang="en-US" altLang="ru-RU" sz="2000" b="1" dirty="0">
                <a:latin typeface="Times New Roman" panose="02020603050405020304" pitchFamily="18" charset="0"/>
                <a:cs typeface="Times New Roman" panose="02020603050405020304" pitchFamily="18" charset="0"/>
              </a:rPr>
              <a:t> </a:t>
            </a:r>
            <a:r>
              <a:rPr lang="en-US" altLang="ru-RU" sz="2000" dirty="0">
                <a:latin typeface="Times New Roman" panose="02020603050405020304" pitchFamily="18" charset="0"/>
                <a:cs typeface="Times New Roman" panose="02020603050405020304" pitchFamily="18" charset="0"/>
              </a:rPr>
              <a:t> –  </a:t>
            </a:r>
            <a:r>
              <a:rPr lang="en-US" altLang="ru-RU" sz="2000" dirty="0" err="1">
                <a:latin typeface="Times New Roman" panose="02020603050405020304" pitchFamily="18" charset="0"/>
                <a:cs typeface="Times New Roman" panose="02020603050405020304" pitchFamily="18" charset="0"/>
              </a:rPr>
              <a:t>ma’lumotlar</a:t>
            </a:r>
            <a:r>
              <a:rPr lang="en-US" altLang="ru-RU" sz="2000" dirty="0">
                <a:latin typeface="Times New Roman" panose="02020603050405020304" pitchFamily="18" charset="0"/>
                <a:cs typeface="Times New Roman" panose="02020603050405020304" pitchFamily="18" charset="0"/>
              </a:rPr>
              <a:t> </a:t>
            </a:r>
            <a:r>
              <a:rPr lang="en-US" altLang="ru-RU" sz="2000" dirty="0" err="1">
                <a:latin typeface="Times New Roman" panose="02020603050405020304" pitchFamily="18" charset="0"/>
                <a:cs typeface="Times New Roman" panose="02020603050405020304" pitchFamily="18" charset="0"/>
              </a:rPr>
              <a:t>soni</a:t>
            </a:r>
            <a:endParaRPr lang="en-US" altLang="ru-RU" sz="2000" dirty="0">
              <a:latin typeface="Times New Roman" panose="02020603050405020304" pitchFamily="18" charset="0"/>
              <a:cs typeface="Times New Roman" panose="02020603050405020304" pitchFamily="18" charset="0"/>
            </a:endParaRPr>
          </a:p>
          <a:p>
            <a:pPr marL="285750" indent="-285750" defTabSz="914400" eaLnBrk="0" fontAlgn="base" hangingPunct="0">
              <a:spcBef>
                <a:spcPct val="0"/>
              </a:spcBef>
              <a:spcAft>
                <a:spcPct val="0"/>
              </a:spcAft>
              <a:buFont typeface="Wingdings" panose="05000000000000000000" pitchFamily="2" charset="2"/>
              <a:buChar char="§"/>
            </a:pPr>
            <a:r>
              <a:rPr lang="tr-TR" b="1" dirty="0">
                <a:latin typeface="Times New Roman" panose="02020603050405020304" pitchFamily="18" charset="0"/>
                <a:cs typeface="Times New Roman" panose="02020603050405020304" pitchFamily="18" charset="0"/>
              </a:rPr>
              <a:t>x</a:t>
            </a:r>
            <a:r>
              <a:rPr lang="tr-TR" b="1" baseline="-2500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 har bir qiymat</a:t>
            </a:r>
            <a:endParaRPr lang="ru-RU" altLang="ru-RU"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69D0A18-37DC-CE3D-11EE-A946D7C24A72}"/>
              </a:ext>
            </a:extLst>
          </p:cNvPr>
          <p:cNvSpPr txBox="1"/>
          <p:nvPr/>
        </p:nvSpPr>
        <p:spPr>
          <a:xfrm>
            <a:off x="6425697" y="2169563"/>
            <a:ext cx="5766303" cy="923330"/>
          </a:xfrm>
          <a:prstGeom prst="rect">
            <a:avLst/>
          </a:prstGeom>
          <a:noFill/>
        </p:spPr>
        <p:txBody>
          <a:bodyPr wrap="square">
            <a:spAutoFit/>
          </a:bodyPr>
          <a:lstStyle/>
          <a:p>
            <a:r>
              <a:rPr lang="tr-TR" b="1" dirty="0">
                <a:solidFill>
                  <a:srgbClr val="00B0F0"/>
                </a:solidFill>
                <a:latin typeface="Times New Roman" panose="02020603050405020304" pitchFamily="18" charset="0"/>
                <a:cs typeface="Times New Roman" panose="02020603050405020304" pitchFamily="18" charset="0"/>
              </a:rPr>
              <a:t>Qachon ishlatiladi?</a:t>
            </a:r>
            <a:r>
              <a:rPr lang="tr-TR" dirty="0">
                <a:solidFill>
                  <a:srgbClr val="00B0F0"/>
                </a:solidFill>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Agar sizda katta guruhdan olingan </a:t>
            </a:r>
            <a:r>
              <a:rPr lang="tr-TR" b="1" dirty="0">
                <a:latin typeface="Times New Roman" panose="02020603050405020304" pitchFamily="18" charset="0"/>
                <a:cs typeface="Times New Roman" panose="02020603050405020304" pitchFamily="18" charset="0"/>
              </a:rPr>
              <a:t>kichik bir qism</a:t>
            </a:r>
            <a:r>
              <a:rPr lang="tr-TR" dirty="0">
                <a:latin typeface="Times New Roman" panose="02020603050405020304" pitchFamily="18" charset="0"/>
                <a:cs typeface="Times New Roman" panose="02020603050405020304" pitchFamily="18" charset="0"/>
              </a:rPr>
              <a:t> ma'lumotigina bo‘lsa. (Data Science va hayotda 99% holatda shu ishlatiladi).</a:t>
            </a:r>
            <a:endParaRPr lang="ru-RU"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63BB7E65-E01E-70B6-D681-9DAF6C7615EC}"/>
              </a:ext>
            </a:extLst>
          </p:cNvPr>
          <p:cNvSpPr txBox="1"/>
          <p:nvPr/>
        </p:nvSpPr>
        <p:spPr>
          <a:xfrm>
            <a:off x="6425697" y="3091592"/>
            <a:ext cx="5515823" cy="923330"/>
          </a:xfrm>
          <a:prstGeom prst="rect">
            <a:avLst/>
          </a:prstGeom>
          <a:noFill/>
        </p:spPr>
        <p:txBody>
          <a:bodyPr wrap="square">
            <a:spAutoFit/>
          </a:bodyPr>
          <a:lstStyle/>
          <a:p>
            <a:pPr marL="285750" indent="-285750">
              <a:buFont typeface="Wingdings" panose="05000000000000000000" pitchFamily="2" charset="2"/>
              <a:buChar char="§"/>
            </a:pPr>
            <a:r>
              <a:rPr lang="tr-TR" i="1" dirty="0">
                <a:latin typeface="Times New Roman" panose="02020603050405020304" pitchFamily="18" charset="0"/>
                <a:cs typeface="Times New Roman" panose="02020603050405020304" pitchFamily="18" charset="0"/>
              </a:rPr>
              <a:t>Misol:</a:t>
            </a:r>
            <a:r>
              <a:rPr lang="tr-TR" dirty="0">
                <a:latin typeface="Times New Roman" panose="02020603050405020304" pitchFamily="18" charset="0"/>
                <a:cs typeface="Times New Roman" panose="02020603050405020304" pitchFamily="18" charset="0"/>
              </a:rPr>
              <a:t> Butun O‘zbekiston aholisining bo‘yini o‘lchash imkonsiz. Shuning uchun </a:t>
            </a:r>
            <a:r>
              <a:rPr lang="tr-TR" b="1" dirty="0">
                <a:latin typeface="Times New Roman" panose="02020603050405020304" pitchFamily="18" charset="0"/>
                <a:cs typeface="Times New Roman" panose="02020603050405020304" pitchFamily="18" charset="0"/>
              </a:rPr>
              <a:t>1000 kishini</a:t>
            </a:r>
            <a:r>
              <a:rPr lang="tr-TR" dirty="0">
                <a:latin typeface="Times New Roman" panose="02020603050405020304" pitchFamily="18" charset="0"/>
                <a:cs typeface="Times New Roman" panose="02020603050405020304" pitchFamily="18" charset="0"/>
              </a:rPr>
              <a:t> (namuna) o‘lchab, xulosa qilasiz.</a:t>
            </a:r>
            <a:endParaRPr lang="ru-RU" dirty="0">
              <a:latin typeface="Times New Roman" panose="02020603050405020304" pitchFamily="18" charset="0"/>
              <a:cs typeface="Times New Roman" panose="02020603050405020304" pitchFamily="18" charset="0"/>
            </a:endParaRPr>
          </a:p>
        </p:txBody>
      </p:sp>
      <p:pic>
        <p:nvPicPr>
          <p:cNvPr id="19" name="Рисунок 18">
            <a:extLst>
              <a:ext uri="{FF2B5EF4-FFF2-40B4-BE49-F238E27FC236}">
                <a16:creationId xmlns:a16="http://schemas.microsoft.com/office/drawing/2014/main" id="{F8093622-3C7B-0947-BFEE-42F9C78B3AF1}"/>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7737697" y="4116869"/>
            <a:ext cx="2294592" cy="908597"/>
          </a:xfrm>
          <a:prstGeom prst="rect">
            <a:avLst/>
          </a:prstGeom>
          <a:ln>
            <a:solidFill>
              <a:schemeClr val="tx1"/>
            </a:solidFill>
          </a:ln>
        </p:spPr>
      </p:pic>
      <p:pic>
        <p:nvPicPr>
          <p:cNvPr id="22" name="Рисунок 21">
            <a:extLst>
              <a:ext uri="{FF2B5EF4-FFF2-40B4-BE49-F238E27FC236}">
                <a16:creationId xmlns:a16="http://schemas.microsoft.com/office/drawing/2014/main" id="{52EB274F-5824-7994-5682-CF1F9A940A89}"/>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Lst>
          </a:blip>
          <a:stretch>
            <a:fillRect/>
          </a:stretch>
        </p:blipFill>
        <p:spPr>
          <a:xfrm>
            <a:off x="6516232" y="5402466"/>
            <a:ext cx="4133288" cy="1277273"/>
          </a:xfrm>
          <a:prstGeom prst="rect">
            <a:avLst/>
          </a:prstGeom>
        </p:spPr>
      </p:pic>
    </p:spTree>
    <p:extLst>
      <p:ext uri="{BB962C8B-B14F-4D97-AF65-F5344CB8AC3E}">
        <p14:creationId xmlns:p14="http://schemas.microsoft.com/office/powerpoint/2010/main" val="1939000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C34285-011A-97F1-0BD8-84220C32CD59}"/>
              </a:ext>
            </a:extLst>
          </p:cNvPr>
          <p:cNvSpPr txBox="1"/>
          <p:nvPr/>
        </p:nvSpPr>
        <p:spPr>
          <a:xfrm>
            <a:off x="649589" y="215531"/>
            <a:ext cx="6097508" cy="646331"/>
          </a:xfrm>
          <a:prstGeom prst="rect">
            <a:avLst/>
          </a:prstGeom>
          <a:noFill/>
        </p:spPr>
        <p:txBody>
          <a:bodyPr wrap="square">
            <a:spAutoFit/>
          </a:bodyPr>
          <a:lstStyle/>
          <a:p>
            <a:pPr algn="l" fontAlgn="base"/>
            <a:r>
              <a:rPr lang="en-US" sz="3600" b="1" dirty="0">
                <a:latin typeface="Times New Roman" panose="02020603050405020304" pitchFamily="18" charset="0"/>
                <a:cs typeface="Times New Roman" panose="02020603050405020304" pitchFamily="18" charset="0"/>
              </a:rPr>
              <a:t>DISPERSIYA (VARIANCE)</a:t>
            </a:r>
            <a:endParaRPr lang="en-US" sz="3600" b="1" i="0" dirty="0">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21082E8-D8A4-0C18-27AF-20178C8D36ED}"/>
              </a:ext>
            </a:extLst>
          </p:cNvPr>
          <p:cNvSpPr txBox="1"/>
          <p:nvPr/>
        </p:nvSpPr>
        <p:spPr>
          <a:xfrm>
            <a:off x="649589" y="968569"/>
            <a:ext cx="6097508"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Population(Barchasi)</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dispersiya</a:t>
            </a:r>
            <a:r>
              <a:rPr lang="tr-TR" sz="2400" b="1" dirty="0">
                <a:solidFill>
                  <a:srgbClr val="FFC000"/>
                </a:solidFill>
                <a:latin typeface="Times New Roman" panose="02020603050405020304" pitchFamily="18" charset="0"/>
                <a:cs typeface="Times New Roman" panose="02020603050405020304" pitchFamily="18" charset="0"/>
              </a:rPr>
              <a:t> </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6AD24AE-9B55-A643-54D3-6B0A5840129D}"/>
              </a:ext>
            </a:extLst>
          </p:cNvPr>
          <p:cNvSpPr txBox="1"/>
          <p:nvPr/>
        </p:nvSpPr>
        <p:spPr>
          <a:xfrm>
            <a:off x="6443804" y="974970"/>
            <a:ext cx="6097508"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Sample (Bir qismi)</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dispersiya</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3DF5185-0DAB-F212-C84C-59DF565744DA}"/>
              </a:ext>
            </a:extLst>
          </p:cNvPr>
          <p:cNvSpPr txBox="1"/>
          <p:nvPr/>
        </p:nvSpPr>
        <p:spPr>
          <a:xfrm>
            <a:off x="649589" y="1436635"/>
            <a:ext cx="6260470" cy="338554"/>
          </a:xfrm>
          <a:prstGeom prst="rect">
            <a:avLst/>
          </a:prstGeom>
          <a:noFill/>
        </p:spPr>
        <p:txBody>
          <a:bodyPr wrap="square">
            <a:spAutoFit/>
          </a:bodyPr>
          <a:lstStyle/>
          <a:p>
            <a:r>
              <a:rPr lang="tr-TR" sz="1600" dirty="0">
                <a:latin typeface="Times New Roman" panose="02020603050405020304" pitchFamily="18" charset="0"/>
                <a:cs typeface="Times New Roman" panose="02020603050405020304" pitchFamily="18" charset="0"/>
              </a:rPr>
              <a:t>Tasavvur qiling, bizda 3 ta son bor: </a:t>
            </a:r>
            <a:r>
              <a:rPr lang="tr-TR" sz="1600" b="1" dirty="0">
                <a:latin typeface="Times New Roman" panose="02020603050405020304" pitchFamily="18" charset="0"/>
                <a:cs typeface="Times New Roman" panose="02020603050405020304" pitchFamily="18" charset="0"/>
              </a:rPr>
              <a:t>2, 4, 6</a:t>
            </a:r>
            <a:r>
              <a:rPr lang="tr-TR"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8A8EB30-6565-1757-ECE2-2D9C8B8916D4}"/>
              </a:ext>
            </a:extLst>
          </p:cNvPr>
          <p:cNvSpPr txBox="1"/>
          <p:nvPr/>
        </p:nvSpPr>
        <p:spPr>
          <a:xfrm>
            <a:off x="649589" y="1762305"/>
            <a:ext cx="6260470" cy="338554"/>
          </a:xfrm>
          <a:prstGeom prst="rect">
            <a:avLst/>
          </a:prstGeom>
          <a:noFill/>
        </p:spPr>
        <p:txBody>
          <a:bodyPr wrap="square">
            <a:spAutoFit/>
          </a:bodyPr>
          <a:lstStyle/>
          <a:p>
            <a:r>
              <a:rPr lang="pl-PL" sz="1600" dirty="0">
                <a:solidFill>
                  <a:srgbClr val="00B0F0"/>
                </a:solidFill>
                <a:latin typeface="Times New Roman" panose="02020603050405020304" pitchFamily="18" charset="0"/>
                <a:cs typeface="Times New Roman" panose="02020603050405020304" pitchFamily="18" charset="0"/>
              </a:rPr>
              <a:t>1-qadam: </a:t>
            </a:r>
            <a:r>
              <a:rPr lang="pl-PL" sz="1600" dirty="0">
                <a:latin typeface="Times New Roman" panose="02020603050405020304" pitchFamily="18" charset="0"/>
                <a:cs typeface="Times New Roman" panose="02020603050405020304" pitchFamily="18" charset="0"/>
              </a:rPr>
              <a:t>O‘rtacha qiymatni topamiz</a:t>
            </a:r>
            <a:endParaRPr lang="ru-RU" sz="1600" dirty="0">
              <a:latin typeface="Times New Roman" panose="02020603050405020304" pitchFamily="18" charset="0"/>
              <a:cs typeface="Times New Roman" panose="02020603050405020304" pitchFamily="18" charset="0"/>
            </a:endParaRPr>
          </a:p>
        </p:txBody>
      </p:sp>
      <p:pic>
        <p:nvPicPr>
          <p:cNvPr id="11" name="Рисунок 10">
            <a:extLst>
              <a:ext uri="{FF2B5EF4-FFF2-40B4-BE49-F238E27FC236}">
                <a16:creationId xmlns:a16="http://schemas.microsoft.com/office/drawing/2014/main" id="{38FAB52F-D101-A2A8-96F2-4FA4A38ACDF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650490" y="2044013"/>
            <a:ext cx="1614388" cy="533941"/>
          </a:xfrm>
          <a:prstGeom prst="rect">
            <a:avLst/>
          </a:prstGeom>
        </p:spPr>
      </p:pic>
      <p:sp>
        <p:nvSpPr>
          <p:cNvPr id="13" name="TextBox 12">
            <a:extLst>
              <a:ext uri="{FF2B5EF4-FFF2-40B4-BE49-F238E27FC236}">
                <a16:creationId xmlns:a16="http://schemas.microsoft.com/office/drawing/2014/main" id="{A2762778-4BA4-99D3-158A-232C25B5DF09}"/>
              </a:ext>
            </a:extLst>
          </p:cNvPr>
          <p:cNvSpPr txBox="1"/>
          <p:nvPr/>
        </p:nvSpPr>
        <p:spPr>
          <a:xfrm>
            <a:off x="707768" y="2540802"/>
            <a:ext cx="2292790" cy="338554"/>
          </a:xfrm>
          <a:prstGeom prst="rect">
            <a:avLst/>
          </a:prstGeom>
          <a:noFill/>
        </p:spPr>
        <p:txBody>
          <a:bodyPr wrap="square">
            <a:spAutoFit/>
          </a:bodyPr>
          <a:lstStyle/>
          <a:p>
            <a:r>
              <a:rPr lang="tr-TR" sz="1600" i="1" dirty="0">
                <a:latin typeface="Times New Roman" panose="02020603050405020304" pitchFamily="18" charset="0"/>
                <a:cs typeface="Times New Roman" panose="02020603050405020304" pitchFamily="18" charset="0"/>
              </a:rPr>
              <a:t>(O‘rtacha qiymat = 4)</a:t>
            </a:r>
            <a:endParaRPr lang="ru-RU" sz="1600" i="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372220D-7473-A493-4F0D-BFC1BCA170C7}"/>
              </a:ext>
            </a:extLst>
          </p:cNvPr>
          <p:cNvSpPr txBox="1"/>
          <p:nvPr/>
        </p:nvSpPr>
        <p:spPr>
          <a:xfrm>
            <a:off x="649589" y="2848620"/>
            <a:ext cx="6260470" cy="338554"/>
          </a:xfrm>
          <a:prstGeom prst="rect">
            <a:avLst/>
          </a:prstGeom>
          <a:noFill/>
        </p:spPr>
        <p:txBody>
          <a:bodyPr wrap="square">
            <a:spAutoFit/>
          </a:bodyPr>
          <a:lstStyle/>
          <a:p>
            <a:r>
              <a:rPr lang="tr-TR" sz="1600" dirty="0">
                <a:solidFill>
                  <a:srgbClr val="00B0F0"/>
                </a:solidFill>
                <a:latin typeface="Times New Roman" panose="02020603050405020304" pitchFamily="18" charset="0"/>
                <a:cs typeface="Times New Roman" panose="02020603050405020304" pitchFamily="18" charset="0"/>
              </a:rPr>
              <a:t>2-qadam: </a:t>
            </a:r>
            <a:r>
              <a:rPr lang="tr-TR" sz="1600" dirty="0">
                <a:latin typeface="Times New Roman" panose="02020603050405020304" pitchFamily="18" charset="0"/>
                <a:cs typeface="Times New Roman" panose="02020603050405020304" pitchFamily="18" charset="0"/>
              </a:rPr>
              <a:t>Farqlarning kvadratini hisoblaymiz</a:t>
            </a:r>
            <a:endParaRPr lang="ru-RU" sz="1600" dirty="0">
              <a:latin typeface="Times New Roman" panose="02020603050405020304" pitchFamily="18" charset="0"/>
              <a:cs typeface="Times New Roman" panose="02020603050405020304" pitchFamily="18" charset="0"/>
            </a:endParaRPr>
          </a:p>
        </p:txBody>
      </p:sp>
      <p:pic>
        <p:nvPicPr>
          <p:cNvPr id="17" name="Рисунок 16">
            <a:extLst>
              <a:ext uri="{FF2B5EF4-FFF2-40B4-BE49-F238E27FC236}">
                <a16:creationId xmlns:a16="http://schemas.microsoft.com/office/drawing/2014/main" id="{47D84BC9-7BA8-1FE5-EEA8-27D1DED91ED9}"/>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1650491" y="3279026"/>
            <a:ext cx="1614388" cy="841214"/>
          </a:xfrm>
          <a:prstGeom prst="rect">
            <a:avLst/>
          </a:prstGeom>
        </p:spPr>
      </p:pic>
      <p:sp>
        <p:nvSpPr>
          <p:cNvPr id="19" name="TextBox 18">
            <a:extLst>
              <a:ext uri="{FF2B5EF4-FFF2-40B4-BE49-F238E27FC236}">
                <a16:creationId xmlns:a16="http://schemas.microsoft.com/office/drawing/2014/main" id="{D89B38C1-1119-6229-02EC-81016684716A}"/>
              </a:ext>
            </a:extLst>
          </p:cNvPr>
          <p:cNvSpPr txBox="1"/>
          <p:nvPr/>
        </p:nvSpPr>
        <p:spPr>
          <a:xfrm>
            <a:off x="707768" y="4042815"/>
            <a:ext cx="6260470" cy="338554"/>
          </a:xfrm>
          <a:prstGeom prst="rect">
            <a:avLst/>
          </a:prstGeom>
          <a:noFill/>
        </p:spPr>
        <p:txBody>
          <a:bodyPr wrap="square">
            <a:spAutoFit/>
          </a:bodyPr>
          <a:lstStyle/>
          <a:p>
            <a:r>
              <a:rPr lang="tr-TR" sz="1600" dirty="0">
                <a:solidFill>
                  <a:srgbClr val="00B0F0"/>
                </a:solidFill>
                <a:latin typeface="Times New Roman" panose="02020603050405020304" pitchFamily="18" charset="0"/>
                <a:cs typeface="Times New Roman" panose="02020603050405020304" pitchFamily="18" charset="0"/>
              </a:rPr>
              <a:t>3-qadam: </a:t>
            </a:r>
            <a:r>
              <a:rPr lang="tr-TR" sz="1600" dirty="0">
                <a:latin typeface="Times New Roman" panose="02020603050405020304" pitchFamily="18" charset="0"/>
                <a:cs typeface="Times New Roman" panose="02020603050405020304" pitchFamily="18" charset="0"/>
              </a:rPr>
              <a:t>Kvadratlar yig‘indisi</a:t>
            </a:r>
            <a:endParaRPr lang="ru-RU" sz="1600" dirty="0">
              <a:latin typeface="Times New Roman" panose="02020603050405020304" pitchFamily="18" charset="0"/>
              <a:cs typeface="Times New Roman" panose="02020603050405020304" pitchFamily="18" charset="0"/>
            </a:endParaRPr>
          </a:p>
        </p:txBody>
      </p:sp>
      <p:pic>
        <p:nvPicPr>
          <p:cNvPr id="24" name="Рисунок 23">
            <a:extLst>
              <a:ext uri="{FF2B5EF4-FFF2-40B4-BE49-F238E27FC236}">
                <a16:creationId xmlns:a16="http://schemas.microsoft.com/office/drawing/2014/main" id="{4774E460-433E-E102-B06F-DA4F4E57BCDD}"/>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contrast="40000"/>
                    </a14:imgEffect>
                  </a14:imgLayer>
                </a14:imgProps>
              </a:ext>
            </a:extLst>
          </a:blip>
          <a:stretch>
            <a:fillRect/>
          </a:stretch>
        </p:blipFill>
        <p:spPr>
          <a:xfrm>
            <a:off x="1650490" y="4407700"/>
            <a:ext cx="1471563" cy="437880"/>
          </a:xfrm>
          <a:prstGeom prst="rect">
            <a:avLst/>
          </a:prstGeom>
        </p:spPr>
      </p:pic>
      <p:sp>
        <p:nvSpPr>
          <p:cNvPr id="25" name="Rectangle 2">
            <a:extLst>
              <a:ext uri="{FF2B5EF4-FFF2-40B4-BE49-F238E27FC236}">
                <a16:creationId xmlns:a16="http://schemas.microsoft.com/office/drawing/2014/main" id="{2711E49E-DDEC-3D4F-38B4-8286307761DF}"/>
              </a:ext>
            </a:extLst>
          </p:cNvPr>
          <p:cNvSpPr>
            <a:spLocks noChangeArrowheads="1"/>
          </p:cNvSpPr>
          <p:nvPr/>
        </p:nvSpPr>
        <p:spPr bwMode="auto">
          <a:xfrm>
            <a:off x="649590" y="4871911"/>
            <a:ext cx="4954506"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Vaziyat</a:t>
            </a:r>
            <a:r>
              <a:rPr kumimoji="0" lang="ru-RU" altLang="ru-RU"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Bizda</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faqat</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shu</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ta</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son</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bor</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boshqa</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hech</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qanday</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son</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mavjud</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emas</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deb</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hisoblaymiz</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Formulada</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biz</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ga</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sonlar</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miqdoriga</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bo‘lamiz</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Bizda</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ta</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son</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bor</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pic>
        <p:nvPicPr>
          <p:cNvPr id="27" name="Рисунок 26">
            <a:extLst>
              <a:ext uri="{FF2B5EF4-FFF2-40B4-BE49-F238E27FC236}">
                <a16:creationId xmlns:a16="http://schemas.microsoft.com/office/drawing/2014/main" id="{7E0ED331-20C6-36C2-DBCD-69D03EF2B8EB}"/>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contrast="40000"/>
                    </a14:imgEffect>
                  </a14:imgLayer>
                </a14:imgProps>
              </a:ext>
            </a:extLst>
          </a:blip>
          <a:stretch>
            <a:fillRect/>
          </a:stretch>
        </p:blipFill>
        <p:spPr>
          <a:xfrm>
            <a:off x="1804867" y="5994940"/>
            <a:ext cx="2391382" cy="797127"/>
          </a:xfrm>
          <a:prstGeom prst="rect">
            <a:avLst/>
          </a:prstGeom>
        </p:spPr>
      </p:pic>
      <p:sp>
        <p:nvSpPr>
          <p:cNvPr id="28" name="TextBox 27">
            <a:extLst>
              <a:ext uri="{FF2B5EF4-FFF2-40B4-BE49-F238E27FC236}">
                <a16:creationId xmlns:a16="http://schemas.microsoft.com/office/drawing/2014/main" id="{B68A4842-DEEF-F37F-1CC4-CEC75C89D940}"/>
              </a:ext>
            </a:extLst>
          </p:cNvPr>
          <p:cNvSpPr txBox="1"/>
          <p:nvPr/>
        </p:nvSpPr>
        <p:spPr>
          <a:xfrm>
            <a:off x="6443804" y="1443036"/>
            <a:ext cx="6260470" cy="338554"/>
          </a:xfrm>
          <a:prstGeom prst="rect">
            <a:avLst/>
          </a:prstGeom>
          <a:noFill/>
        </p:spPr>
        <p:txBody>
          <a:bodyPr wrap="square">
            <a:spAutoFit/>
          </a:bodyPr>
          <a:lstStyle/>
          <a:p>
            <a:r>
              <a:rPr lang="pl-PL" sz="1600" dirty="0">
                <a:solidFill>
                  <a:srgbClr val="00B0F0"/>
                </a:solidFill>
                <a:latin typeface="Times New Roman" panose="02020603050405020304" pitchFamily="18" charset="0"/>
                <a:cs typeface="Times New Roman" panose="02020603050405020304" pitchFamily="18" charset="0"/>
              </a:rPr>
              <a:t>1-qadam: </a:t>
            </a:r>
            <a:r>
              <a:rPr lang="pl-PL" sz="1600" dirty="0">
                <a:latin typeface="Times New Roman" panose="02020603050405020304" pitchFamily="18" charset="0"/>
                <a:cs typeface="Times New Roman" panose="02020603050405020304" pitchFamily="18" charset="0"/>
              </a:rPr>
              <a:t>O‘rtacha qiymatni topamiz</a:t>
            </a:r>
            <a:endParaRPr lang="ru-RU" sz="1600" dirty="0">
              <a:latin typeface="Times New Roman" panose="02020603050405020304" pitchFamily="18" charset="0"/>
              <a:cs typeface="Times New Roman" panose="02020603050405020304" pitchFamily="18" charset="0"/>
            </a:endParaRPr>
          </a:p>
        </p:txBody>
      </p:sp>
      <p:pic>
        <p:nvPicPr>
          <p:cNvPr id="29" name="Рисунок 28">
            <a:extLst>
              <a:ext uri="{FF2B5EF4-FFF2-40B4-BE49-F238E27FC236}">
                <a16:creationId xmlns:a16="http://schemas.microsoft.com/office/drawing/2014/main" id="{39B4BA06-ECFB-2B14-C2FA-9BDE6E1292C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7444705" y="1724744"/>
            <a:ext cx="1614388" cy="533941"/>
          </a:xfrm>
          <a:prstGeom prst="rect">
            <a:avLst/>
          </a:prstGeom>
        </p:spPr>
      </p:pic>
      <p:sp>
        <p:nvSpPr>
          <p:cNvPr id="30" name="TextBox 29">
            <a:extLst>
              <a:ext uri="{FF2B5EF4-FFF2-40B4-BE49-F238E27FC236}">
                <a16:creationId xmlns:a16="http://schemas.microsoft.com/office/drawing/2014/main" id="{A6E9E4DF-52AD-A612-031F-AE568FDD8073}"/>
              </a:ext>
            </a:extLst>
          </p:cNvPr>
          <p:cNvSpPr txBox="1"/>
          <p:nvPr/>
        </p:nvSpPr>
        <p:spPr>
          <a:xfrm>
            <a:off x="6501983" y="2221533"/>
            <a:ext cx="2292790" cy="338554"/>
          </a:xfrm>
          <a:prstGeom prst="rect">
            <a:avLst/>
          </a:prstGeom>
          <a:noFill/>
        </p:spPr>
        <p:txBody>
          <a:bodyPr wrap="square">
            <a:spAutoFit/>
          </a:bodyPr>
          <a:lstStyle/>
          <a:p>
            <a:r>
              <a:rPr lang="tr-TR" sz="1600" i="1" dirty="0">
                <a:latin typeface="Times New Roman" panose="02020603050405020304" pitchFamily="18" charset="0"/>
                <a:cs typeface="Times New Roman" panose="02020603050405020304" pitchFamily="18" charset="0"/>
              </a:rPr>
              <a:t>(O‘rtacha qiymat = 4)</a:t>
            </a:r>
            <a:endParaRPr lang="ru-RU" sz="1600" i="1"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BBF30044-DB90-5754-8795-F72138E53C9E}"/>
              </a:ext>
            </a:extLst>
          </p:cNvPr>
          <p:cNvSpPr txBox="1"/>
          <p:nvPr/>
        </p:nvSpPr>
        <p:spPr>
          <a:xfrm>
            <a:off x="6443804" y="2529351"/>
            <a:ext cx="6260470" cy="338554"/>
          </a:xfrm>
          <a:prstGeom prst="rect">
            <a:avLst/>
          </a:prstGeom>
          <a:noFill/>
        </p:spPr>
        <p:txBody>
          <a:bodyPr wrap="square">
            <a:spAutoFit/>
          </a:bodyPr>
          <a:lstStyle/>
          <a:p>
            <a:r>
              <a:rPr lang="tr-TR" sz="1600" dirty="0">
                <a:solidFill>
                  <a:srgbClr val="00B0F0"/>
                </a:solidFill>
                <a:latin typeface="Times New Roman" panose="02020603050405020304" pitchFamily="18" charset="0"/>
                <a:cs typeface="Times New Roman" panose="02020603050405020304" pitchFamily="18" charset="0"/>
              </a:rPr>
              <a:t>2-qadam: </a:t>
            </a:r>
            <a:r>
              <a:rPr lang="tr-TR" sz="1600" dirty="0">
                <a:latin typeface="Times New Roman" panose="02020603050405020304" pitchFamily="18" charset="0"/>
                <a:cs typeface="Times New Roman" panose="02020603050405020304" pitchFamily="18" charset="0"/>
              </a:rPr>
              <a:t>Farqlarning kvadratini hisoblaymiz</a:t>
            </a:r>
            <a:endParaRPr lang="ru-RU" sz="1600" dirty="0">
              <a:latin typeface="Times New Roman" panose="02020603050405020304" pitchFamily="18" charset="0"/>
              <a:cs typeface="Times New Roman" panose="02020603050405020304" pitchFamily="18" charset="0"/>
            </a:endParaRPr>
          </a:p>
        </p:txBody>
      </p:sp>
      <p:pic>
        <p:nvPicPr>
          <p:cNvPr id="32" name="Рисунок 31">
            <a:extLst>
              <a:ext uri="{FF2B5EF4-FFF2-40B4-BE49-F238E27FC236}">
                <a16:creationId xmlns:a16="http://schemas.microsoft.com/office/drawing/2014/main" id="{F8577277-61A3-AEA3-2AB3-45B0ADAD11B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7444706" y="2959757"/>
            <a:ext cx="1614388" cy="841214"/>
          </a:xfrm>
          <a:prstGeom prst="rect">
            <a:avLst/>
          </a:prstGeom>
        </p:spPr>
      </p:pic>
      <p:sp>
        <p:nvSpPr>
          <p:cNvPr id="33" name="TextBox 32">
            <a:extLst>
              <a:ext uri="{FF2B5EF4-FFF2-40B4-BE49-F238E27FC236}">
                <a16:creationId xmlns:a16="http://schemas.microsoft.com/office/drawing/2014/main" id="{B052C0DF-7A95-11C5-E5D2-FDDE68DB6133}"/>
              </a:ext>
            </a:extLst>
          </p:cNvPr>
          <p:cNvSpPr txBox="1"/>
          <p:nvPr/>
        </p:nvSpPr>
        <p:spPr>
          <a:xfrm>
            <a:off x="6501983" y="3723546"/>
            <a:ext cx="6260470" cy="338554"/>
          </a:xfrm>
          <a:prstGeom prst="rect">
            <a:avLst/>
          </a:prstGeom>
          <a:noFill/>
        </p:spPr>
        <p:txBody>
          <a:bodyPr wrap="square">
            <a:spAutoFit/>
          </a:bodyPr>
          <a:lstStyle/>
          <a:p>
            <a:r>
              <a:rPr lang="tr-TR" sz="1600" dirty="0">
                <a:solidFill>
                  <a:srgbClr val="00B0F0"/>
                </a:solidFill>
                <a:latin typeface="Times New Roman" panose="02020603050405020304" pitchFamily="18" charset="0"/>
                <a:cs typeface="Times New Roman" panose="02020603050405020304" pitchFamily="18" charset="0"/>
              </a:rPr>
              <a:t>3-qadam: </a:t>
            </a:r>
            <a:r>
              <a:rPr lang="tr-TR" sz="1600" dirty="0">
                <a:latin typeface="Times New Roman" panose="02020603050405020304" pitchFamily="18" charset="0"/>
                <a:cs typeface="Times New Roman" panose="02020603050405020304" pitchFamily="18" charset="0"/>
              </a:rPr>
              <a:t>Kvadratlar yig‘indisi</a:t>
            </a:r>
            <a:endParaRPr lang="ru-RU" sz="1600" dirty="0">
              <a:latin typeface="Times New Roman" panose="02020603050405020304" pitchFamily="18" charset="0"/>
              <a:cs typeface="Times New Roman" panose="02020603050405020304" pitchFamily="18" charset="0"/>
            </a:endParaRPr>
          </a:p>
        </p:txBody>
      </p:sp>
      <p:pic>
        <p:nvPicPr>
          <p:cNvPr id="34" name="Рисунок 33">
            <a:extLst>
              <a:ext uri="{FF2B5EF4-FFF2-40B4-BE49-F238E27FC236}">
                <a16:creationId xmlns:a16="http://schemas.microsoft.com/office/drawing/2014/main" id="{9AD34FA8-5DA9-CF6C-B9C4-558041FBB936}"/>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contrast="40000"/>
                    </a14:imgEffect>
                  </a14:imgLayer>
                </a14:imgProps>
              </a:ext>
            </a:extLst>
          </a:blip>
          <a:stretch>
            <a:fillRect/>
          </a:stretch>
        </p:blipFill>
        <p:spPr>
          <a:xfrm>
            <a:off x="7444705" y="4088431"/>
            <a:ext cx="1471563" cy="437880"/>
          </a:xfrm>
          <a:prstGeom prst="rect">
            <a:avLst/>
          </a:prstGeom>
        </p:spPr>
      </p:pic>
      <p:sp>
        <p:nvSpPr>
          <p:cNvPr id="35" name="Rectangle 3">
            <a:extLst>
              <a:ext uri="{FF2B5EF4-FFF2-40B4-BE49-F238E27FC236}">
                <a16:creationId xmlns:a16="http://schemas.microsoft.com/office/drawing/2014/main" id="{339404DB-575F-8406-3887-9E390EEFB536}"/>
              </a:ext>
            </a:extLst>
          </p:cNvPr>
          <p:cNvSpPr>
            <a:spLocks noChangeArrowheads="1"/>
          </p:cNvSpPr>
          <p:nvPr/>
        </p:nvSpPr>
        <p:spPr bwMode="auto">
          <a:xfrm>
            <a:off x="6443804" y="4809861"/>
            <a:ext cx="5578006"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sz="1600" i="1" dirty="0" err="1">
                <a:latin typeface="Times New Roman" panose="02020603050405020304" pitchFamily="18" charset="0"/>
                <a:cs typeface="Times New Roman" panose="02020603050405020304" pitchFamily="18" charset="0"/>
              </a:rPr>
              <a:t>Vaziyat</a:t>
            </a:r>
            <a:r>
              <a:rPr lang="ru-RU" altLang="ru-RU" sz="1600" i="1"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Bu</a:t>
            </a:r>
            <a:r>
              <a:rPr lang="ru-RU" altLang="ru-RU" sz="1600" dirty="0">
                <a:latin typeface="Times New Roman" panose="02020603050405020304" pitchFamily="18" charset="0"/>
                <a:cs typeface="Times New Roman" panose="02020603050405020304" pitchFamily="18" charset="0"/>
              </a:rPr>
              <a:t> 3 </a:t>
            </a:r>
            <a:r>
              <a:rPr lang="ru-RU" altLang="ru-RU" sz="1600" dirty="0" err="1">
                <a:latin typeface="Times New Roman" panose="02020603050405020304" pitchFamily="18" charset="0"/>
                <a:cs typeface="Times New Roman" panose="02020603050405020304" pitchFamily="18" charset="0"/>
              </a:rPr>
              <a:t>ta</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son</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katta</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bir</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guruhdan</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tasodifan</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tanlab</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olingan</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Biz</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ularga</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qarab</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kattaroq</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xulosa</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qilmoqchimiz</a:t>
            </a:r>
            <a:r>
              <a:rPr lang="ru-RU" altLang="ru-RU" sz="16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ru-RU" altLang="ru-RU" sz="1600" dirty="0" err="1">
                <a:latin typeface="Times New Roman" panose="02020603050405020304" pitchFamily="18" charset="0"/>
                <a:cs typeface="Times New Roman" panose="02020603050405020304" pitchFamily="18" charset="0"/>
              </a:rPr>
              <a:t>Formulada</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biz</a:t>
            </a:r>
            <a:r>
              <a:rPr lang="ru-RU" altLang="ru-RU" sz="1600" dirty="0">
                <a:latin typeface="Times New Roman" panose="02020603050405020304" pitchFamily="18" charset="0"/>
                <a:cs typeface="Times New Roman" panose="02020603050405020304" pitchFamily="18" charset="0"/>
              </a:rPr>
              <a:t> n - 1 </a:t>
            </a:r>
            <a:r>
              <a:rPr lang="ru-RU" altLang="ru-RU" sz="1600" dirty="0" err="1">
                <a:latin typeface="Times New Roman" panose="02020603050405020304" pitchFamily="18" charset="0"/>
                <a:cs typeface="Times New Roman" panose="02020603050405020304" pitchFamily="18" charset="0"/>
              </a:rPr>
              <a:t>ga</a:t>
            </a:r>
            <a:r>
              <a:rPr lang="ru-RU" altLang="ru-RU" sz="1600" dirty="0">
                <a:latin typeface="Times New Roman" panose="02020603050405020304" pitchFamily="18" charset="0"/>
                <a:cs typeface="Times New Roman" panose="02020603050405020304" pitchFamily="18" charset="0"/>
              </a:rPr>
              <a:t> </a:t>
            </a:r>
            <a:r>
              <a:rPr lang="ru-RU" altLang="ru-RU" sz="1600" dirty="0" err="1">
                <a:latin typeface="Times New Roman" panose="02020603050405020304" pitchFamily="18" charset="0"/>
                <a:cs typeface="Times New Roman" panose="02020603050405020304" pitchFamily="18" charset="0"/>
              </a:rPr>
              <a:t>bo‘lamiz</a:t>
            </a:r>
            <a:r>
              <a:rPr lang="ru-RU" altLang="ru-RU" sz="16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ru-RU" altLang="ru-RU" sz="1600" dirty="0">
                <a:latin typeface="Times New Roman" panose="02020603050405020304" pitchFamily="18" charset="0"/>
                <a:cs typeface="Times New Roman" panose="02020603050405020304" pitchFamily="18" charset="0"/>
              </a:rPr>
              <a:t>n = 3, </a:t>
            </a:r>
            <a:r>
              <a:rPr lang="ru-RU" altLang="ru-RU" sz="1600" dirty="0" err="1">
                <a:latin typeface="Times New Roman" panose="02020603050405020304" pitchFamily="18" charset="0"/>
                <a:cs typeface="Times New Roman" panose="02020603050405020304" pitchFamily="18" charset="0"/>
              </a:rPr>
              <a:t>demak</a:t>
            </a:r>
            <a:r>
              <a:rPr lang="ru-RU" altLang="ru-RU" sz="1600" dirty="0">
                <a:latin typeface="Times New Roman" panose="02020603050405020304" pitchFamily="18" charset="0"/>
                <a:cs typeface="Times New Roman" panose="02020603050405020304" pitchFamily="18" charset="0"/>
              </a:rPr>
              <a:t> n - 1 = 2.</a:t>
            </a:r>
          </a:p>
        </p:txBody>
      </p:sp>
      <p:pic>
        <p:nvPicPr>
          <p:cNvPr id="37" name="Рисунок 36">
            <a:extLst>
              <a:ext uri="{FF2B5EF4-FFF2-40B4-BE49-F238E27FC236}">
                <a16:creationId xmlns:a16="http://schemas.microsoft.com/office/drawing/2014/main" id="{BD7079C4-07B2-CE71-0D17-5B70CE1E3FA1}"/>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20000" contrast="40000"/>
                    </a14:imgEffect>
                  </a14:imgLayer>
                </a14:imgProps>
              </a:ext>
            </a:extLst>
          </a:blip>
          <a:stretch>
            <a:fillRect/>
          </a:stretch>
        </p:blipFill>
        <p:spPr>
          <a:xfrm>
            <a:off x="7265843" y="5916592"/>
            <a:ext cx="1972112" cy="849861"/>
          </a:xfrm>
          <a:prstGeom prst="rect">
            <a:avLst/>
          </a:prstGeom>
        </p:spPr>
      </p:pic>
    </p:spTree>
    <p:extLst>
      <p:ext uri="{BB962C8B-B14F-4D97-AF65-F5344CB8AC3E}">
        <p14:creationId xmlns:p14="http://schemas.microsoft.com/office/powerpoint/2010/main" val="2489651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A1F244-1667-8ACE-DEC5-6E5D94BC0A25}"/>
              </a:ext>
            </a:extLst>
          </p:cNvPr>
          <p:cNvSpPr txBox="1"/>
          <p:nvPr/>
        </p:nvSpPr>
        <p:spPr>
          <a:xfrm>
            <a:off x="649589" y="215531"/>
            <a:ext cx="6097508" cy="646331"/>
          </a:xfrm>
          <a:prstGeom prst="rect">
            <a:avLst/>
          </a:prstGeom>
          <a:noFill/>
        </p:spPr>
        <p:txBody>
          <a:bodyPr wrap="square">
            <a:spAutoFit/>
          </a:bodyPr>
          <a:lstStyle/>
          <a:p>
            <a:pPr algn="l" fontAlgn="base"/>
            <a:r>
              <a:rPr lang="en-US" sz="3600" b="1" dirty="0">
                <a:latin typeface="Times New Roman" panose="02020603050405020304" pitchFamily="18" charset="0"/>
                <a:cs typeface="Times New Roman" panose="02020603050405020304" pitchFamily="18" charset="0"/>
              </a:rPr>
              <a:t>DISPERSIYA (VARIANCE)</a:t>
            </a:r>
            <a:endParaRPr lang="en-US" sz="3600" b="1" i="0" dirty="0">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D400F23-0376-871B-C4DB-F4C5B0216B4A}"/>
              </a:ext>
            </a:extLst>
          </p:cNvPr>
          <p:cNvSpPr txBox="1"/>
          <p:nvPr/>
        </p:nvSpPr>
        <p:spPr>
          <a:xfrm>
            <a:off x="649589" y="1227767"/>
            <a:ext cx="6097508" cy="1200329"/>
          </a:xfrm>
          <a:prstGeom prst="rect">
            <a:avLst/>
          </a:prstGeom>
          <a:noFill/>
        </p:spPr>
        <p:txBody>
          <a:bodyPr wrap="square">
            <a:spAutoFit/>
          </a:bodyPr>
          <a:lstStyle/>
          <a:p>
            <a:pPr>
              <a:buNone/>
            </a:pPr>
            <a:r>
              <a:rPr lang="tr-TR" sz="2400" dirty="0">
                <a:latin typeface="Times New Roman" panose="02020603050405020304" pitchFamily="18" charset="0"/>
                <a:cs typeface="Times New Roman" panose="02020603050405020304" pitchFamily="18" charset="0"/>
              </a:rPr>
              <a:t>Qarang, farq qanchalik katta:</a:t>
            </a:r>
          </a:p>
          <a:p>
            <a:pPr marL="742950" lvl="1" indent="-285750">
              <a:buFont typeface="Wingdings" panose="05000000000000000000" pitchFamily="2" charset="2"/>
              <a:buChar char="§"/>
            </a:pPr>
            <a:r>
              <a:rPr lang="tr-TR" sz="2400" b="1" dirty="0">
                <a:latin typeface="Times New Roman" panose="02020603050405020304" pitchFamily="18" charset="0"/>
                <a:cs typeface="Times New Roman" panose="02020603050405020304" pitchFamily="18" charset="0"/>
              </a:rPr>
              <a:t>Population formulasi:</a:t>
            </a:r>
            <a:r>
              <a:rPr lang="tr-TR" sz="2400" dirty="0">
                <a:latin typeface="Times New Roman" panose="02020603050405020304" pitchFamily="18" charset="0"/>
                <a:cs typeface="Times New Roman" panose="02020603050405020304" pitchFamily="18" charset="0"/>
              </a:rPr>
              <a:t> 2.66</a:t>
            </a:r>
          </a:p>
          <a:p>
            <a:pPr marL="742950" lvl="1" indent="-285750">
              <a:buFont typeface="Wingdings" panose="05000000000000000000" pitchFamily="2" charset="2"/>
              <a:buChar char="§"/>
            </a:pPr>
            <a:r>
              <a:rPr lang="tr-TR" sz="2400" b="1" dirty="0">
                <a:latin typeface="Times New Roman" panose="02020603050405020304" pitchFamily="18" charset="0"/>
                <a:cs typeface="Times New Roman" panose="02020603050405020304" pitchFamily="18" charset="0"/>
              </a:rPr>
              <a:t>Sample formulasi:</a:t>
            </a:r>
            <a:r>
              <a:rPr lang="tr-TR" sz="2400" dirty="0">
                <a:latin typeface="Times New Roman" panose="02020603050405020304" pitchFamily="18" charset="0"/>
                <a:cs typeface="Times New Roman" panose="02020603050405020304" pitchFamily="18" charset="0"/>
              </a:rPr>
              <a:t> 4.0</a:t>
            </a:r>
          </a:p>
        </p:txBody>
      </p:sp>
      <p:sp>
        <p:nvSpPr>
          <p:cNvPr id="6" name="TextBox 5">
            <a:extLst>
              <a:ext uri="{FF2B5EF4-FFF2-40B4-BE49-F238E27FC236}">
                <a16:creationId xmlns:a16="http://schemas.microsoft.com/office/drawing/2014/main" id="{664A8A11-F1CA-198B-FC78-2C68DC61E1B8}"/>
              </a:ext>
            </a:extLst>
          </p:cNvPr>
          <p:cNvSpPr txBox="1"/>
          <p:nvPr/>
        </p:nvSpPr>
        <p:spPr>
          <a:xfrm>
            <a:off x="649589" y="2620543"/>
            <a:ext cx="10956954" cy="1200329"/>
          </a:xfrm>
          <a:prstGeom prst="rect">
            <a:avLst/>
          </a:prstGeom>
          <a:noFill/>
        </p:spPr>
        <p:txBody>
          <a:bodyPr wrap="square">
            <a:spAutoFit/>
          </a:bodyPr>
          <a:lstStyle/>
          <a:p>
            <a:r>
              <a:rPr lang="tr-TR" sz="2400" b="1" dirty="0">
                <a:solidFill>
                  <a:srgbClr val="00B0F0"/>
                </a:solidFill>
                <a:latin typeface="Times New Roman" panose="02020603050405020304" pitchFamily="18" charset="0"/>
                <a:cs typeface="Times New Roman" panose="02020603050405020304" pitchFamily="18" charset="0"/>
              </a:rPr>
              <a:t>Nega Sample (4.0) kattaroq chiqdi</a:t>
            </a:r>
            <a:r>
              <a:rPr lang="tr-TR" sz="2400" b="1" dirty="0">
                <a:latin typeface="Times New Roman" panose="02020603050405020304" pitchFamily="18" charset="0"/>
                <a:cs typeface="Times New Roman" panose="02020603050405020304" pitchFamily="18" charset="0"/>
              </a:rPr>
              <a:t>?</a:t>
            </a:r>
            <a:r>
              <a:rPr lang="tr-TR" sz="2400" dirty="0">
                <a:latin typeface="Times New Roman" panose="02020603050405020304" pitchFamily="18" charset="0"/>
                <a:cs typeface="Times New Roman" panose="02020603050405020304" pitchFamily="18" charset="0"/>
              </a:rPr>
              <a:t> Chunki biz faqat 3 ta sonni oldik. Katta ehtimol bilan, biz tanlamagan boshqa sonlar orasida o‘rtachadan ancha uzoqroq (masalan, 1 yoki 10) sonlar bo‘lishi mumkin edi.</a:t>
            </a:r>
            <a:endParaRPr lang="ru-RU" sz="2400" dirty="0">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02F147CB-13B7-4CCD-5DF0-72EA79BF1DD5}"/>
              </a:ext>
            </a:extLst>
          </p:cNvPr>
          <p:cNvSpPr>
            <a:spLocks noChangeArrowheads="1"/>
          </p:cNvSpPr>
          <p:nvPr/>
        </p:nvSpPr>
        <p:spPr bwMode="auto">
          <a:xfrm>
            <a:off x="603186" y="3960139"/>
            <a:ext cx="10830205"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sz="2400" dirty="0" err="1">
                <a:latin typeface="Times New Roman" panose="02020603050405020304" pitchFamily="18" charset="0"/>
                <a:cs typeface="Times New Roman" panose="02020603050405020304" pitchFamily="18" charset="0"/>
              </a:rPr>
              <a:t>Biz</a:t>
            </a:r>
            <a:r>
              <a:rPr lang="ru-RU" altLang="ru-RU" sz="2400" dirty="0">
                <a:latin typeface="Times New Roman" panose="02020603050405020304" pitchFamily="18" charset="0"/>
                <a:cs typeface="Times New Roman" panose="02020603050405020304" pitchFamily="18" charset="0"/>
              </a:rPr>
              <a:t> n-1 </a:t>
            </a:r>
            <a:r>
              <a:rPr lang="ru-RU" altLang="ru-RU" sz="2400" dirty="0" err="1">
                <a:latin typeface="Times New Roman" panose="02020603050405020304" pitchFamily="18" charset="0"/>
                <a:cs typeface="Times New Roman" panose="02020603050405020304" pitchFamily="18" charset="0"/>
              </a:rPr>
              <a:t>ga</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bo‘lish</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orqali</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natijani</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sun’iy</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ravishda</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kattalashtirdik</a:t>
            </a:r>
            <a:r>
              <a:rPr lang="ru-RU" altLang="ru-RU" sz="2400" dirty="0">
                <a:latin typeface="Times New Roman" panose="02020603050405020304" pitchFamily="18" charset="0"/>
                <a:cs typeface="Times New Roman" panose="02020603050405020304" pitchFamily="18" charset="0"/>
              </a:rPr>
              <a:t> (2.66 </a:t>
            </a:r>
            <a:r>
              <a:rPr lang="ru-RU" altLang="ru-RU" sz="2400" dirty="0" err="1">
                <a:latin typeface="Times New Roman" panose="02020603050405020304" pitchFamily="18" charset="0"/>
                <a:cs typeface="Times New Roman" panose="02020603050405020304" pitchFamily="18" charset="0"/>
              </a:rPr>
              <a:t>dan</a:t>
            </a:r>
            <a:r>
              <a:rPr lang="ru-RU" altLang="ru-RU" sz="2400" dirty="0">
                <a:latin typeface="Times New Roman" panose="02020603050405020304" pitchFamily="18" charset="0"/>
                <a:cs typeface="Times New Roman" panose="02020603050405020304" pitchFamily="18" charset="0"/>
              </a:rPr>
              <a:t> 4 </a:t>
            </a:r>
            <a:r>
              <a:rPr lang="ru-RU" altLang="ru-RU" sz="2400" dirty="0" err="1">
                <a:latin typeface="Times New Roman" panose="02020603050405020304" pitchFamily="18" charset="0"/>
                <a:cs typeface="Times New Roman" panose="02020603050405020304" pitchFamily="18" charset="0"/>
              </a:rPr>
              <a:t>ga</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Bu</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bizga</a:t>
            </a:r>
            <a:r>
              <a:rPr lang="ru-RU" altLang="ru-RU" sz="2400" dirty="0">
                <a:latin typeface="Times New Roman" panose="02020603050405020304" pitchFamily="18" charset="0"/>
                <a:cs typeface="Times New Roman" panose="02020603050405020304" pitchFamily="18" charset="0"/>
              </a:rPr>
              <a:t>: </a:t>
            </a:r>
            <a:r>
              <a:rPr lang="ru-RU" altLang="ru-RU" sz="2400" dirty="0">
                <a:solidFill>
                  <a:srgbClr val="FFC000"/>
                </a:solidFill>
                <a:latin typeface="Times New Roman" panose="02020603050405020304" pitchFamily="18" charset="0"/>
                <a:cs typeface="Times New Roman" panose="02020603050405020304" pitchFamily="18" charset="0"/>
              </a:rPr>
              <a:t>"</a:t>
            </a:r>
            <a:r>
              <a:rPr lang="ru-RU" altLang="ru-RU" sz="2400" dirty="0" err="1">
                <a:solidFill>
                  <a:srgbClr val="FFC000"/>
                </a:solidFill>
                <a:latin typeface="Times New Roman" panose="02020603050405020304" pitchFamily="18" charset="0"/>
                <a:cs typeface="Times New Roman" panose="02020603050405020304" pitchFamily="18" charset="0"/>
              </a:rPr>
              <a:t>Ehtiyot</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solidFill>
                  <a:srgbClr val="FFC000"/>
                </a:solidFill>
                <a:latin typeface="Times New Roman" panose="02020603050405020304" pitchFamily="18" charset="0"/>
                <a:cs typeface="Times New Roman" panose="02020603050405020304" pitchFamily="18" charset="0"/>
              </a:rPr>
              <a:t>bo‘l</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solidFill>
                  <a:srgbClr val="FFC000"/>
                </a:solidFill>
                <a:latin typeface="Times New Roman" panose="02020603050405020304" pitchFamily="18" charset="0"/>
                <a:cs typeface="Times New Roman" panose="02020603050405020304" pitchFamily="18" charset="0"/>
              </a:rPr>
              <a:t>haqiqiy</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solidFill>
                  <a:srgbClr val="FFC000"/>
                </a:solidFill>
                <a:latin typeface="Times New Roman" panose="02020603050405020304" pitchFamily="18" charset="0"/>
                <a:cs typeface="Times New Roman" panose="02020603050405020304" pitchFamily="18" charset="0"/>
              </a:rPr>
              <a:t>hayotda</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solidFill>
                  <a:srgbClr val="FFC000"/>
                </a:solidFill>
                <a:latin typeface="Times New Roman" panose="02020603050405020304" pitchFamily="18" charset="0"/>
                <a:cs typeface="Times New Roman" panose="02020603050405020304" pitchFamily="18" charset="0"/>
              </a:rPr>
              <a:t>tarqoqlik</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solidFill>
                  <a:srgbClr val="FFC000"/>
                </a:solidFill>
                <a:latin typeface="Times New Roman" panose="02020603050405020304" pitchFamily="18" charset="0"/>
                <a:cs typeface="Times New Roman" panose="02020603050405020304" pitchFamily="18" charset="0"/>
              </a:rPr>
              <a:t>sen</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solidFill>
                  <a:srgbClr val="FFC000"/>
                </a:solidFill>
                <a:latin typeface="Times New Roman" panose="02020603050405020304" pitchFamily="18" charset="0"/>
                <a:cs typeface="Times New Roman" panose="02020603050405020304" pitchFamily="18" charset="0"/>
              </a:rPr>
              <a:t>o‘ylagandan</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solidFill>
                  <a:srgbClr val="FFC000"/>
                </a:solidFill>
                <a:latin typeface="Times New Roman" panose="02020603050405020304" pitchFamily="18" charset="0"/>
                <a:cs typeface="Times New Roman" panose="02020603050405020304" pitchFamily="18" charset="0"/>
              </a:rPr>
              <a:t>kattaroq</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solidFill>
                  <a:srgbClr val="FFC000"/>
                </a:solidFill>
                <a:latin typeface="Times New Roman" panose="02020603050405020304" pitchFamily="18" charset="0"/>
                <a:cs typeface="Times New Roman" panose="02020603050405020304" pitchFamily="18" charset="0"/>
              </a:rPr>
              <a:t>bo‘lishi</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solidFill>
                  <a:srgbClr val="FFC000"/>
                </a:solidFill>
                <a:latin typeface="Times New Roman" panose="02020603050405020304" pitchFamily="18" charset="0"/>
                <a:cs typeface="Times New Roman" panose="02020603050405020304" pitchFamily="18" charset="0"/>
              </a:rPr>
              <a:t>mumkin</a:t>
            </a:r>
            <a:r>
              <a:rPr lang="ru-RU" altLang="ru-RU" sz="2400" dirty="0">
                <a:solidFill>
                  <a:srgbClr val="FFC000"/>
                </a:solidFill>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degan</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xavfsizlik</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signalini</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beradi</a:t>
            </a:r>
            <a:r>
              <a:rPr lang="ru-RU" altLang="ru-RU" sz="2400" dirty="0">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8090A74E-0A8B-74C6-D810-1D08EAF2C78E}"/>
              </a:ext>
            </a:extLst>
          </p:cNvPr>
          <p:cNvSpPr txBox="1"/>
          <p:nvPr/>
        </p:nvSpPr>
        <p:spPr>
          <a:xfrm>
            <a:off x="603186" y="5406096"/>
            <a:ext cx="10956953" cy="461665"/>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Shuning uchun Data Science’da har doim </a:t>
            </a:r>
            <a:r>
              <a:rPr lang="tr-TR" sz="2400" b="1" dirty="0">
                <a:latin typeface="Times New Roman" panose="02020603050405020304" pitchFamily="18" charset="0"/>
                <a:cs typeface="Times New Roman" panose="02020603050405020304" pitchFamily="18" charset="0"/>
              </a:rPr>
              <a:t>ikkinchi usul (4.0)</a:t>
            </a:r>
            <a:r>
              <a:rPr lang="tr-TR" sz="2400" dirty="0">
                <a:latin typeface="Times New Roman" panose="02020603050405020304" pitchFamily="18" charset="0"/>
                <a:cs typeface="Times New Roman" panose="02020603050405020304" pitchFamily="18" charset="0"/>
              </a:rPr>
              <a:t> to‘g‘ri deb qabul qilinadi.</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8188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254C50-BF02-88F9-52DE-DC6E49CFF450}"/>
              </a:ext>
            </a:extLst>
          </p:cNvPr>
          <p:cNvSpPr txBox="1"/>
          <p:nvPr/>
        </p:nvSpPr>
        <p:spPr>
          <a:xfrm>
            <a:off x="649589" y="215531"/>
            <a:ext cx="6097508" cy="646331"/>
          </a:xfrm>
          <a:prstGeom prst="rect">
            <a:avLst/>
          </a:prstGeom>
          <a:noFill/>
        </p:spPr>
        <p:txBody>
          <a:bodyPr wrap="square">
            <a:spAutoFit/>
          </a:bodyPr>
          <a:lstStyle/>
          <a:p>
            <a:pPr algn="l" fontAlgn="base"/>
            <a:r>
              <a:rPr lang="en-US" sz="3600" b="1" dirty="0">
                <a:latin typeface="Times New Roman" panose="02020603050405020304" pitchFamily="18" charset="0"/>
                <a:cs typeface="Times New Roman" panose="02020603050405020304" pitchFamily="18" charset="0"/>
              </a:rPr>
              <a:t>DISPERSIYA (VARIANCE)</a:t>
            </a:r>
            <a:endParaRPr lang="en-US" sz="3600" b="1" i="0" dirty="0">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2E24EB52-5771-10D8-ED51-23DDCB97309C}"/>
              </a:ext>
            </a:extLst>
          </p:cNvPr>
          <p:cNvSpPr>
            <a:spLocks noChangeArrowheads="1"/>
          </p:cNvSpPr>
          <p:nvPr/>
        </p:nvSpPr>
        <p:spPr bwMode="auto">
          <a:xfrm>
            <a:off x="577161" y="1223107"/>
            <a:ext cx="11219505" cy="4411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Statistikada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ma'lumotlarning</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tarqoqligini</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bilish</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uchun</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doim</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shu</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qadam</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qilinadi</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defTabSz="914400" eaLnBrk="0" fontAlgn="base" hangingPunct="0">
              <a:lnSpc>
                <a:spcPct val="150000"/>
              </a:lnSpc>
              <a:spcBef>
                <a:spcPct val="0"/>
              </a:spcBef>
              <a:spcAft>
                <a:spcPct val="0"/>
              </a:spcAft>
              <a:buFontTx/>
              <a:buAutoNum type="arabicPeriod"/>
            </a:pPr>
            <a:r>
              <a:rPr kumimoji="0" lang="ru-RU" altLang="ru-RU" sz="2400" b="1" i="0" u="none" strike="noStrike" cap="none" normalizeH="0" baseline="0" dirty="0" err="1">
                <a:ln>
                  <a:noFill/>
                </a:ln>
                <a:solidFill>
                  <a:srgbClr val="00B0F0"/>
                </a:solidFill>
                <a:effectLst/>
                <a:latin typeface="Times New Roman" panose="02020603050405020304" pitchFamily="18" charset="0"/>
                <a:cs typeface="Times New Roman" panose="02020603050405020304" pitchFamily="18" charset="0"/>
              </a:rPr>
              <a:t>Dispersiyani</a:t>
            </a:r>
            <a:r>
              <a:rPr kumimoji="0" lang="ru-RU" altLang="ru-RU" sz="24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ru-RU" altLang="ru-RU" sz="2400" b="1" i="0" u="none" strike="noStrike" cap="none" normalizeH="0" baseline="0" dirty="0" err="1">
                <a:ln>
                  <a:noFill/>
                </a:ln>
                <a:solidFill>
                  <a:srgbClr val="00B0F0"/>
                </a:solidFill>
                <a:effectLst/>
                <a:latin typeface="Times New Roman" panose="02020603050405020304" pitchFamily="18" charset="0"/>
                <a:cs typeface="Times New Roman" panose="02020603050405020304" pitchFamily="18" charset="0"/>
              </a:rPr>
              <a:t>hisoblaysiz</a:t>
            </a:r>
            <a:r>
              <a:rPr kumimoji="0" lang="en-US" altLang="ru-RU" sz="24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Hamma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farqlarni</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kvadratga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oshirib</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n-1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bo'lasiz</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defTabSz="914400" eaLnBrk="0" fontAlgn="base" hangingPunct="0">
              <a:lnSpc>
                <a:spcPct val="150000"/>
              </a:lnSpc>
              <a:spcBef>
                <a:spcPct val="0"/>
              </a:spcBef>
              <a:spcAft>
                <a:spcPct val="0"/>
              </a:spcAft>
            </a:pP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Natija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Kvadrat</a:t>
            </a:r>
            <a:r>
              <a:rPr kumimoji="0" lang="ru-RU" altLang="ru-RU"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son</a:t>
            </a:r>
            <a:r>
              <a:rPr kumimoji="0" lang="ru-RU" altLang="ru-RU"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defTabSz="914400" eaLnBrk="0" fontAlgn="base" hangingPunct="0">
              <a:lnSpc>
                <a:spcPct val="150000"/>
              </a:lnSpc>
              <a:spcBef>
                <a:spcPct val="0"/>
              </a:spcBef>
              <a:spcAft>
                <a:spcPct val="0"/>
              </a:spcAft>
              <a:buFontTx/>
              <a:buAutoNum type="arabicPeriod" startAt="2"/>
            </a:pPr>
            <a:r>
              <a:rPr kumimoji="0" lang="ru-RU" altLang="ru-RU" sz="2400" b="1" i="0" u="none" strike="noStrike" cap="none" normalizeH="0" baseline="0" dirty="0" err="1">
                <a:ln>
                  <a:noFill/>
                </a:ln>
                <a:solidFill>
                  <a:srgbClr val="00B0F0"/>
                </a:solidFill>
                <a:effectLst/>
                <a:latin typeface="Times New Roman" panose="02020603050405020304" pitchFamily="18" charset="0"/>
                <a:cs typeface="Times New Roman" panose="02020603050405020304" pitchFamily="18" charset="0"/>
              </a:rPr>
              <a:t>Ildiz</a:t>
            </a:r>
            <a:r>
              <a:rPr kumimoji="0" lang="ru-RU" altLang="ru-RU" sz="24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ru-RU" altLang="ru-RU" sz="2400" b="1" i="0" u="none" strike="noStrike" cap="none" normalizeH="0" baseline="0" dirty="0" err="1">
                <a:ln>
                  <a:noFill/>
                </a:ln>
                <a:solidFill>
                  <a:srgbClr val="00B0F0"/>
                </a:solidFill>
                <a:effectLst/>
                <a:latin typeface="Times New Roman" panose="02020603050405020304" pitchFamily="18" charset="0"/>
                <a:cs typeface="Times New Roman" panose="02020603050405020304" pitchFamily="18" charset="0"/>
              </a:rPr>
              <a:t>chiqarasiz</a:t>
            </a:r>
            <a:r>
              <a:rPr kumimoji="0" lang="ru-RU" altLang="ru-RU" sz="24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Natija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Oddiy</a:t>
            </a:r>
            <a:r>
              <a:rPr kumimoji="0" lang="ru-RU" altLang="ru-RU"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son</a:t>
            </a:r>
            <a:r>
              <a:rPr kumimoji="0" lang="ru-RU" altLang="ru-RU"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defTabSz="914400" eaLnBrk="0" fontAlgn="base" hangingPunct="0">
              <a:lnSpc>
                <a:spcPct val="150000"/>
              </a:lnSpc>
              <a:spcBef>
                <a:spcPct val="0"/>
              </a:spcBef>
              <a:spcAft>
                <a:spcPct val="0"/>
              </a:spcAft>
              <a:buFontTx/>
              <a:buAutoNum type="arabicPeriod" startAt="3"/>
            </a:pPr>
            <a:r>
              <a:rPr kumimoji="0" lang="ru-RU" altLang="ru-RU" sz="2400" b="1" i="0" u="none" strike="noStrike" cap="none" normalizeH="0" baseline="0" dirty="0" err="1">
                <a:ln>
                  <a:noFill/>
                </a:ln>
                <a:solidFill>
                  <a:srgbClr val="00B0F0"/>
                </a:solidFill>
                <a:effectLst/>
                <a:latin typeface="Times New Roman" panose="02020603050405020304" pitchFamily="18" charset="0"/>
                <a:cs typeface="Times New Roman" panose="02020603050405020304" pitchFamily="18" charset="0"/>
              </a:rPr>
              <a:t>Xulosa</a:t>
            </a:r>
            <a:r>
              <a:rPr kumimoji="0" lang="ru-RU" altLang="ru-RU" sz="24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ru-RU" altLang="ru-RU" sz="2400" b="1" i="0" u="none" strike="noStrike" cap="none" normalizeH="0" baseline="0" dirty="0" err="1">
                <a:ln>
                  <a:noFill/>
                </a:ln>
                <a:solidFill>
                  <a:srgbClr val="00B0F0"/>
                </a:solidFill>
                <a:effectLst/>
                <a:latin typeface="Times New Roman" panose="02020603050405020304" pitchFamily="18" charset="0"/>
                <a:cs typeface="Times New Roman" panose="02020603050405020304" pitchFamily="18" charset="0"/>
              </a:rPr>
              <a:t>qilasiz</a:t>
            </a:r>
            <a:r>
              <a:rPr lang="en-US" altLang="ru-RU" sz="2400" b="1" dirty="0">
                <a:solidFill>
                  <a:srgbClr val="00B0F0"/>
                </a:solidFill>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Mening</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ma'lumotlarim</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o'rtacha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qiymat</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atrofida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birlikka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o'ynab</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turadi</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tushuncha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(Standart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chetlanish</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Science</a:t>
            </a:r>
            <a:r>
              <a:rPr kumimoji="0" lang="en-US"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kelajakni</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bashorat</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qilish</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xatoligini</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Error</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hisoblashda</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asosiy</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qurol</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hisoblanadi</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01302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9ACD51-29D2-8750-D103-60A0923AA86F}"/>
              </a:ext>
            </a:extLst>
          </p:cNvPr>
          <p:cNvSpPr txBox="1"/>
          <p:nvPr/>
        </p:nvSpPr>
        <p:spPr>
          <a:xfrm>
            <a:off x="649589" y="215531"/>
            <a:ext cx="6097508" cy="646331"/>
          </a:xfrm>
          <a:prstGeom prst="rect">
            <a:avLst/>
          </a:prstGeom>
          <a:noFill/>
        </p:spPr>
        <p:txBody>
          <a:bodyPr wrap="square">
            <a:spAutoFit/>
          </a:bodyPr>
          <a:lstStyle/>
          <a:p>
            <a:pPr algn="l" fontAlgn="base"/>
            <a:r>
              <a:rPr lang="en-US" sz="3600" b="1" dirty="0">
                <a:latin typeface="Times New Roman" panose="02020603050405020304" pitchFamily="18" charset="0"/>
                <a:cs typeface="Times New Roman" panose="02020603050405020304" pitchFamily="18" charset="0"/>
              </a:rPr>
              <a:t>DISPERSIYA (VARIANCE)</a:t>
            </a:r>
            <a:endParaRPr lang="en-US" sz="3600" b="1" i="0" dirty="0">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011CC2A-2271-189C-938E-B3F1C0FF2A9D}"/>
              </a:ext>
            </a:extLst>
          </p:cNvPr>
          <p:cNvSpPr txBox="1"/>
          <p:nvPr/>
        </p:nvSpPr>
        <p:spPr>
          <a:xfrm>
            <a:off x="649589" y="961469"/>
            <a:ext cx="5198859" cy="523220"/>
          </a:xfrm>
          <a:prstGeom prst="rect">
            <a:avLst/>
          </a:prstGeom>
          <a:noFill/>
        </p:spPr>
        <p:txBody>
          <a:bodyPr wrap="none" rtlCol="0">
            <a:spAutoFit/>
          </a:bodyPr>
          <a:lstStyle/>
          <a:p>
            <a:r>
              <a:rPr lang="en-US" sz="2800" i="1" dirty="0" err="1">
                <a:latin typeface="Times New Roman" panose="02020603050405020304" pitchFamily="18" charset="0"/>
                <a:cs typeface="Times New Roman" panose="02020603050405020304" pitchFamily="18" charset="0"/>
              </a:rPr>
              <a:t>Mustaqil</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ishlash</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uchun</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masalalar</a:t>
            </a:r>
            <a:r>
              <a:rPr lang="en-US" sz="2800" i="1" dirty="0">
                <a:latin typeface="Times New Roman" panose="02020603050405020304" pitchFamily="18" charset="0"/>
                <a:cs typeface="Times New Roman" panose="02020603050405020304" pitchFamily="18" charset="0"/>
              </a:rPr>
              <a:t>:</a:t>
            </a:r>
            <a:endParaRPr lang="ru-RU" sz="2800" i="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320309D-42E8-3E7B-F34E-29B756AE46F6}"/>
              </a:ext>
            </a:extLst>
          </p:cNvPr>
          <p:cNvSpPr txBox="1"/>
          <p:nvPr/>
        </p:nvSpPr>
        <p:spPr>
          <a:xfrm>
            <a:off x="1147154" y="1584296"/>
            <a:ext cx="8739231" cy="1015663"/>
          </a:xfrm>
          <a:prstGeom prst="rect">
            <a:avLst/>
          </a:prstGeom>
          <a:noFill/>
        </p:spPr>
        <p:txBody>
          <a:bodyPr wrap="square">
            <a:spAutoFit/>
          </a:bodyPr>
          <a:lstStyle/>
          <a:p>
            <a:r>
              <a:rPr lang="tr-TR" sz="2000" dirty="0">
                <a:solidFill>
                  <a:srgbClr val="00B0F0"/>
                </a:solidFill>
                <a:latin typeface="Times New Roman" panose="02020603050405020304" pitchFamily="18" charset="0"/>
                <a:cs typeface="Times New Roman" panose="02020603050405020304" pitchFamily="18" charset="0"/>
              </a:rPr>
              <a:t>1-masala:</a:t>
            </a:r>
            <a:r>
              <a:rPr lang="en-US" sz="2000" dirty="0">
                <a:solidFill>
                  <a:srgbClr val="00B0F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Kichik do‘konning 5 kunlik savdo tushumi</a:t>
            </a:r>
            <a:r>
              <a:rPr lang="en-US" sz="2000" dirty="0">
                <a:latin typeface="Times New Roman" panose="02020603050405020304" pitchFamily="18" charset="0"/>
                <a:cs typeface="Times New Roman" panose="02020603050405020304" pitchFamily="18" charset="0"/>
              </a:rPr>
              <a:t> </a:t>
            </a:r>
            <a:r>
              <a:rPr lang="en-US" sz="2000" b="1" dirty="0">
                <a:solidFill>
                  <a:srgbClr val="FFC000"/>
                </a:solidFill>
                <a:latin typeface="Times New Roman" panose="02020603050405020304" pitchFamily="18" charset="0"/>
                <a:cs typeface="Times New Roman" panose="02020603050405020304" pitchFamily="18" charset="0"/>
              </a:rPr>
              <a:t>(12.5, 15.2, 10.8, 14.5, 13.0) </a:t>
            </a:r>
            <a:r>
              <a:rPr lang="tr-TR" sz="2000" b="1" dirty="0">
                <a:solidFill>
                  <a:srgbClr val="FFC00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(million so‘mda) quyidagicha bo‘ldi</a:t>
            </a:r>
            <a:r>
              <a:rPr lang="en-US" sz="2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Dispersiya va Standart chetlanishni hisoblang.</a:t>
            </a:r>
            <a:r>
              <a:rPr lang="en-US" sz="2000" dirty="0">
                <a:latin typeface="Times New Roman" panose="02020603050405020304" pitchFamily="18" charset="0"/>
                <a:cs typeface="Times New Roman" panose="02020603050405020304" pitchFamily="18" charset="0"/>
              </a:rPr>
              <a:t> </a:t>
            </a:r>
            <a:r>
              <a:rPr lang="en-US" sz="2000" i="1" dirty="0" err="1">
                <a:solidFill>
                  <a:srgbClr val="FF0000"/>
                </a:solidFill>
                <a:latin typeface="Times New Roman" panose="02020603050405020304" pitchFamily="18" charset="0"/>
                <a:cs typeface="Times New Roman" panose="02020603050405020304" pitchFamily="18" charset="0"/>
              </a:rPr>
              <a:t>Eslatma</a:t>
            </a:r>
            <a:r>
              <a:rPr lang="en-US" sz="2000" i="1" dirty="0">
                <a:solidFill>
                  <a:srgbClr val="FF000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O‘nlik kasrlar bilan ehtiyot bo‘lib</a:t>
            </a:r>
            <a:r>
              <a:rPr lang="en-US" sz="2000" dirty="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31DEAEA-768E-F600-151E-F09470ADBAF6}"/>
              </a:ext>
            </a:extLst>
          </p:cNvPr>
          <p:cNvSpPr txBox="1"/>
          <p:nvPr/>
        </p:nvSpPr>
        <p:spPr>
          <a:xfrm>
            <a:off x="1147154" y="2713776"/>
            <a:ext cx="9318652" cy="1015663"/>
          </a:xfrm>
          <a:prstGeom prst="rect">
            <a:avLst/>
          </a:prstGeom>
          <a:noFill/>
        </p:spPr>
        <p:txBody>
          <a:bodyPr wrap="square">
            <a:spAutoFit/>
          </a:bodyPr>
          <a:lstStyle/>
          <a:p>
            <a:r>
              <a:rPr lang="en-US" sz="2000" dirty="0">
                <a:solidFill>
                  <a:srgbClr val="00B0F0"/>
                </a:solidFill>
                <a:latin typeface="Times New Roman" panose="02020603050405020304" pitchFamily="18" charset="0"/>
                <a:cs typeface="Times New Roman" panose="02020603050405020304" pitchFamily="18" charset="0"/>
              </a:rPr>
              <a:t>2</a:t>
            </a:r>
            <a:r>
              <a:rPr lang="tr-TR" sz="2000" dirty="0">
                <a:solidFill>
                  <a:srgbClr val="00B0F0"/>
                </a:solidFill>
                <a:latin typeface="Times New Roman" panose="02020603050405020304" pitchFamily="18" charset="0"/>
                <a:cs typeface="Times New Roman" panose="02020603050405020304" pitchFamily="18" charset="0"/>
              </a:rPr>
              <a:t>-masala:</a:t>
            </a:r>
            <a:r>
              <a:rPr lang="en-US" sz="2000" dirty="0">
                <a:solidFill>
                  <a:srgbClr val="00B0F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Toshkent shahrida qishning 6 kuni davomida havo harorati </a:t>
            </a:r>
            <a:r>
              <a:rPr lang="en-US" sz="2000" b="1" dirty="0">
                <a:solidFill>
                  <a:srgbClr val="FFC000"/>
                </a:solidFill>
                <a:latin typeface="Times New Roman" panose="02020603050405020304" pitchFamily="18" charset="0"/>
                <a:cs typeface="Times New Roman" panose="02020603050405020304" pitchFamily="18" charset="0"/>
              </a:rPr>
              <a:t>(-5, -2, 0, -8, -3, -6) </a:t>
            </a:r>
            <a:r>
              <a:rPr lang="tr-TR" sz="2000" dirty="0">
                <a:latin typeface="Times New Roman" panose="02020603050405020304" pitchFamily="18" charset="0"/>
                <a:cs typeface="Times New Roman" panose="02020603050405020304" pitchFamily="18" charset="0"/>
              </a:rPr>
              <a:t>o‘lchandi.</a:t>
            </a:r>
            <a:r>
              <a:rPr lang="en-US" sz="2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Dispersiya va Standart chetlanishni hisoblang.</a:t>
            </a:r>
            <a:r>
              <a:rPr lang="en-US" sz="2000" dirty="0">
                <a:latin typeface="Times New Roman" panose="02020603050405020304" pitchFamily="18" charset="0"/>
                <a:cs typeface="Times New Roman" panose="02020603050405020304" pitchFamily="18" charset="0"/>
              </a:rPr>
              <a:t> </a:t>
            </a:r>
            <a:r>
              <a:rPr lang="en-US" sz="2000" i="1" dirty="0" err="1">
                <a:solidFill>
                  <a:srgbClr val="FF0000"/>
                </a:solidFill>
                <a:latin typeface="Times New Roman" panose="02020603050405020304" pitchFamily="18" charset="0"/>
                <a:cs typeface="Times New Roman" panose="02020603050405020304" pitchFamily="18" charset="0"/>
              </a:rPr>
              <a:t>Eslatma</a:t>
            </a:r>
            <a:r>
              <a:rPr lang="en-US" sz="2000" i="1" dirty="0">
                <a:solidFill>
                  <a:srgbClr val="FF000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Manfiy sonlarni kvadratga oshirishda adashmaslik talab etiladi.</a:t>
            </a:r>
            <a:endParaRPr lang="ru-RU"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41EB214-4BA5-E3A6-C3C6-9308FE3DABDF}"/>
              </a:ext>
            </a:extLst>
          </p:cNvPr>
          <p:cNvSpPr txBox="1"/>
          <p:nvPr/>
        </p:nvSpPr>
        <p:spPr>
          <a:xfrm>
            <a:off x="1147154" y="3988111"/>
            <a:ext cx="10414121" cy="1015663"/>
          </a:xfrm>
          <a:prstGeom prst="rect">
            <a:avLst/>
          </a:prstGeom>
          <a:noFill/>
        </p:spPr>
        <p:txBody>
          <a:bodyPr wrap="square">
            <a:spAutoFit/>
          </a:bodyPr>
          <a:lstStyle/>
          <a:p>
            <a:r>
              <a:rPr lang="en-US" sz="2000" dirty="0">
                <a:solidFill>
                  <a:srgbClr val="00B0F0"/>
                </a:solidFill>
                <a:latin typeface="Times New Roman" panose="02020603050405020304" pitchFamily="18" charset="0"/>
                <a:cs typeface="Times New Roman" panose="02020603050405020304" pitchFamily="18" charset="0"/>
              </a:rPr>
              <a:t>3</a:t>
            </a:r>
            <a:r>
              <a:rPr lang="tr-TR" sz="2000" dirty="0">
                <a:solidFill>
                  <a:srgbClr val="00B0F0"/>
                </a:solidFill>
                <a:latin typeface="Times New Roman" panose="02020603050405020304" pitchFamily="18" charset="0"/>
                <a:cs typeface="Times New Roman" panose="02020603050405020304" pitchFamily="18" charset="0"/>
              </a:rPr>
              <a:t>-masala:</a:t>
            </a:r>
            <a:r>
              <a:rPr lang="en-US" sz="2000" dirty="0">
                <a:solidFill>
                  <a:srgbClr val="00B0F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Bir kompaniyaning aksiya narxlari 5 oy davomida quyidagicha </a:t>
            </a:r>
            <a:r>
              <a:rPr lang="en-US" sz="2000" b="1" dirty="0">
                <a:solidFill>
                  <a:srgbClr val="FFC000"/>
                </a:solidFill>
                <a:latin typeface="Times New Roman" panose="02020603050405020304" pitchFamily="18" charset="0"/>
                <a:cs typeface="Times New Roman" panose="02020603050405020304" pitchFamily="18" charset="0"/>
              </a:rPr>
              <a:t>(100, 105, 98, 250, 102) </a:t>
            </a:r>
            <a:r>
              <a:rPr lang="tr-TR" sz="2000" dirty="0">
                <a:latin typeface="Times New Roman" panose="02020603050405020304" pitchFamily="18" charset="0"/>
                <a:cs typeface="Times New Roman" panose="02020603050405020304" pitchFamily="18" charset="0"/>
              </a:rPr>
              <a:t>o‘zgardi.</a:t>
            </a:r>
            <a:r>
              <a:rPr lang="en-US" sz="2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Dispersiya va Standart chetlanishni hisoblang.</a:t>
            </a:r>
            <a:r>
              <a:rPr lang="en-US" sz="2000" dirty="0">
                <a:latin typeface="Times New Roman" panose="02020603050405020304" pitchFamily="18" charset="0"/>
                <a:cs typeface="Times New Roman" panose="02020603050405020304" pitchFamily="18" charset="0"/>
              </a:rPr>
              <a:t> </a:t>
            </a:r>
            <a:r>
              <a:rPr lang="en-US" sz="2000" i="1" dirty="0" err="1">
                <a:solidFill>
                  <a:srgbClr val="FF0000"/>
                </a:solidFill>
                <a:latin typeface="Times New Roman" panose="02020603050405020304" pitchFamily="18" charset="0"/>
                <a:cs typeface="Times New Roman" panose="02020603050405020304" pitchFamily="18" charset="0"/>
              </a:rPr>
              <a:t>Eslatma</a:t>
            </a:r>
            <a:r>
              <a:rPr lang="en-US" sz="2000" i="1" dirty="0">
                <a:solidFill>
                  <a:srgbClr val="FF0000"/>
                </a:solidFill>
                <a:latin typeface="Times New Roman" panose="02020603050405020304" pitchFamily="18" charset="0"/>
                <a:cs typeface="Times New Roman" panose="02020603050405020304" pitchFamily="18" charset="0"/>
              </a:rPr>
              <a:t>:</a:t>
            </a:r>
            <a:r>
              <a:rPr lang="tr-TR" sz="2000" dirty="0">
                <a:latin typeface="Times New Roman" panose="02020603050405020304" pitchFamily="18" charset="0"/>
                <a:cs typeface="Times New Roman" panose="02020603050405020304" pitchFamily="18" charset="0"/>
              </a:rPr>
              <a:t> Bu yerda bitta son boshqalardan keskin farq qiladi (outlier), bu natijaga qanday ta'sir qilishini hisoblash jarayonida ko‘rasiz.</a:t>
            </a:r>
            <a:r>
              <a:rPr lang="en-US" sz="2000" dirty="0">
                <a:solidFill>
                  <a:srgbClr val="00B0F0"/>
                </a:solidFill>
                <a:latin typeface="Times New Roman" panose="02020603050405020304" pitchFamily="18" charset="0"/>
                <a:cs typeface="Times New Roman" panose="02020603050405020304" pitchFamily="18" charset="0"/>
              </a:rPr>
              <a:t> </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9923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E6B8E5-70F9-D073-2D94-3B040A2D0734}"/>
              </a:ext>
            </a:extLst>
          </p:cNvPr>
          <p:cNvSpPr txBox="1"/>
          <p:nvPr/>
        </p:nvSpPr>
        <p:spPr>
          <a:xfrm>
            <a:off x="712964" y="351333"/>
            <a:ext cx="6097508"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STANDART OG’ISH</a:t>
            </a:r>
          </a:p>
        </p:txBody>
      </p:sp>
      <p:sp>
        <p:nvSpPr>
          <p:cNvPr id="3" name="TextBox 2">
            <a:extLst>
              <a:ext uri="{FF2B5EF4-FFF2-40B4-BE49-F238E27FC236}">
                <a16:creationId xmlns:a16="http://schemas.microsoft.com/office/drawing/2014/main" id="{A2E5C4D7-C3F2-FA0F-AC6D-7D2074593C48}"/>
              </a:ext>
            </a:extLst>
          </p:cNvPr>
          <p:cNvSpPr txBox="1"/>
          <p:nvPr/>
        </p:nvSpPr>
        <p:spPr>
          <a:xfrm>
            <a:off x="712964" y="1149790"/>
            <a:ext cx="11038434" cy="954107"/>
          </a:xfrm>
          <a:prstGeom prst="rect">
            <a:avLst/>
          </a:prstGeom>
          <a:noFill/>
        </p:spPr>
        <p:txBody>
          <a:bodyPr wrap="square" rtlCol="0">
            <a:spAutoFit/>
          </a:bodyPr>
          <a:lstStyle/>
          <a:p>
            <a:r>
              <a:rPr lang="en-US" sz="2800" b="1" dirty="0" err="1">
                <a:solidFill>
                  <a:srgbClr val="FFC000"/>
                </a:solidFill>
                <a:latin typeface="Times New Roman" panose="02020603050405020304" pitchFamily="18" charset="0"/>
                <a:ea typeface="Tahoma" panose="020B0604030504040204" pitchFamily="34" charset="0"/>
                <a:cs typeface="Times New Roman" panose="02020603050405020304" pitchFamily="18" charset="0"/>
              </a:rPr>
              <a:t>Standart</a:t>
            </a:r>
            <a:r>
              <a:rPr lang="en-US" sz="2800" b="1" dirty="0">
                <a:solidFill>
                  <a:srgbClr val="FFC000"/>
                </a:solidFill>
                <a:latin typeface="Times New Roman" panose="02020603050405020304" pitchFamily="18" charset="0"/>
                <a:ea typeface="Tahoma" panose="020B0604030504040204" pitchFamily="34" charset="0"/>
                <a:cs typeface="Times New Roman" panose="02020603050405020304" pitchFamily="18" charset="0"/>
              </a:rPr>
              <a:t> </a:t>
            </a:r>
            <a:r>
              <a:rPr lang="en-US" sz="2800" b="1" dirty="0" err="1">
                <a:solidFill>
                  <a:srgbClr val="FFC000"/>
                </a:solidFill>
                <a:latin typeface="Times New Roman" panose="02020603050405020304" pitchFamily="18" charset="0"/>
                <a:ea typeface="Tahoma" panose="020B0604030504040204" pitchFamily="34" charset="0"/>
                <a:cs typeface="Times New Roman" panose="02020603050405020304" pitchFamily="18" charset="0"/>
              </a:rPr>
              <a:t>o’gish</a:t>
            </a:r>
            <a:r>
              <a:rPr lang="en-US" sz="2800" b="1" dirty="0">
                <a:solidFill>
                  <a:srgbClr val="FFC000"/>
                </a:solidFill>
                <a:latin typeface="Times New Roman" panose="02020603050405020304" pitchFamily="18" charset="0"/>
                <a:ea typeface="Tahoma" panose="020B0604030504040204" pitchFamily="34" charset="0"/>
                <a:cs typeface="Times New Roman" panose="02020603050405020304" pitchFamily="18" charset="0"/>
              </a:rPr>
              <a:t> </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bu</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dispersiyaning</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kvadrat</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ildizi</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bo’lib</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ma’lumotlarni</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o’z</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o’tachadan</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qanchaga</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chetga</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chiqishini</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ko’rsatadigan</a:t>
            </a:r>
            <a:r>
              <a:rPr lang="en-US" sz="2800"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err="1">
                <a:latin typeface="Times New Roman" panose="02020603050405020304" pitchFamily="18" charset="0"/>
                <a:ea typeface="Tahoma" panose="020B0604030504040204" pitchFamily="34" charset="0"/>
                <a:cs typeface="Times New Roman" panose="02020603050405020304" pitchFamily="18" charset="0"/>
              </a:rPr>
              <a:t>o’lchovdir</a:t>
            </a:r>
            <a:endParaRPr lang="ru-RU" sz="28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42AA799-C43A-0B82-9636-8B16D947A1B7}"/>
              </a:ext>
            </a:extLst>
          </p:cNvPr>
          <p:cNvSpPr txBox="1"/>
          <p:nvPr/>
        </p:nvSpPr>
        <p:spPr>
          <a:xfrm>
            <a:off x="712964" y="2366356"/>
            <a:ext cx="6097508"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Population(Barchasi)</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standart</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og’ish</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28D5B60-3B79-0EC0-523A-61A5D54A523A}"/>
              </a:ext>
            </a:extLst>
          </p:cNvPr>
          <p:cNvSpPr txBox="1"/>
          <p:nvPr/>
        </p:nvSpPr>
        <p:spPr>
          <a:xfrm>
            <a:off x="6507179" y="2366355"/>
            <a:ext cx="6097508"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Sample (Bir qismi)</a:t>
            </a:r>
            <a:r>
              <a:rPr lang="en-US" sz="2400" b="1" dirty="0" err="1">
                <a:solidFill>
                  <a:srgbClr val="FFC000"/>
                </a:solidFill>
                <a:latin typeface="Times New Roman" panose="02020603050405020304" pitchFamily="18" charset="0"/>
                <a:cs typeface="Times New Roman" panose="02020603050405020304" pitchFamily="18" charset="0"/>
              </a:rPr>
              <a:t>standart</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og’ish</a:t>
            </a:r>
            <a:endParaRPr lang="ru-RU" sz="2400" b="1" dirty="0">
              <a:solidFill>
                <a:srgbClr val="FFC000"/>
              </a:solidFill>
              <a:latin typeface="Times New Roman" panose="02020603050405020304" pitchFamily="18" charset="0"/>
              <a:cs typeface="Times New Roman" panose="02020603050405020304" pitchFamily="18" charset="0"/>
            </a:endParaRPr>
          </a:p>
        </p:txBody>
      </p:sp>
      <p:pic>
        <p:nvPicPr>
          <p:cNvPr id="7" name="Рисунок 6">
            <a:extLst>
              <a:ext uri="{FF2B5EF4-FFF2-40B4-BE49-F238E27FC236}">
                <a16:creationId xmlns:a16="http://schemas.microsoft.com/office/drawing/2014/main" id="{86403BB3-5FFF-0B52-84C6-4698F4BB599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297340" y="3090480"/>
            <a:ext cx="3319928" cy="1429680"/>
          </a:xfrm>
          <a:prstGeom prst="rect">
            <a:avLst/>
          </a:prstGeom>
          <a:ln>
            <a:solidFill>
              <a:schemeClr val="tx1"/>
            </a:solidFill>
          </a:ln>
        </p:spPr>
      </p:pic>
      <p:pic>
        <p:nvPicPr>
          <p:cNvPr id="9" name="Рисунок 8">
            <a:extLst>
              <a:ext uri="{FF2B5EF4-FFF2-40B4-BE49-F238E27FC236}">
                <a16:creationId xmlns:a16="http://schemas.microsoft.com/office/drawing/2014/main" id="{C7B306F2-26D6-2E21-C184-2C2EE9238191}"/>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6902784" y="3141511"/>
            <a:ext cx="3207513" cy="1327613"/>
          </a:xfrm>
          <a:prstGeom prst="rect">
            <a:avLst/>
          </a:prstGeom>
          <a:ln>
            <a:solidFill>
              <a:schemeClr val="tx1"/>
            </a:solidFill>
          </a:ln>
        </p:spPr>
      </p:pic>
      <p:sp>
        <p:nvSpPr>
          <p:cNvPr id="10" name="Rectangle 1">
            <a:extLst>
              <a:ext uri="{FF2B5EF4-FFF2-40B4-BE49-F238E27FC236}">
                <a16:creationId xmlns:a16="http://schemas.microsoft.com/office/drawing/2014/main" id="{1B4C2E1C-AA04-F21B-A1E1-6B7379E97BBA}"/>
              </a:ext>
            </a:extLst>
          </p:cNvPr>
          <p:cNvSpPr>
            <a:spLocks noChangeArrowheads="1"/>
          </p:cNvSpPr>
          <p:nvPr/>
        </p:nvSpPr>
        <p:spPr bwMode="auto">
          <a:xfrm>
            <a:off x="787681" y="5229394"/>
            <a:ext cx="5800979"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Font typeface="Wingdings" panose="05000000000000000000" pitchFamily="2" charset="2"/>
              <a:buChar char="§"/>
            </a:pPr>
            <a:r>
              <a:rPr lang="el-GR" sz="2000" b="1" dirty="0">
                <a:latin typeface="Times New Roman" panose="02020603050405020304" pitchFamily="18" charset="0"/>
                <a:cs typeface="Times New Roman" panose="02020603050405020304" pitchFamily="18" charset="0"/>
              </a:rPr>
              <a:t>σ</a:t>
            </a:r>
            <a:r>
              <a:rPr lang="en-US" sz="2000" b="1" baseline="30000" dirty="0">
                <a:latin typeface="Times New Roman" panose="02020603050405020304" pitchFamily="18" charset="0"/>
                <a:cs typeface="Times New Roman" panose="02020603050405020304" pitchFamily="18" charset="0"/>
              </a:rPr>
              <a:t> </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haqiqiy</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dispersiya</a:t>
            </a:r>
            <a:endParaRPr lang="en-US" altLang="ru-RU" sz="2000" dirty="0">
              <a:latin typeface="Times New Roman" panose="02020603050405020304" pitchFamily="18" charset="0"/>
              <a:cs typeface="Times New Roman" panose="02020603050405020304" pitchFamily="18" charset="0"/>
            </a:endParaRPr>
          </a:p>
          <a:p>
            <a:pPr marL="285750" indent="-285750" defTabSz="914400" eaLnBrk="0" fontAlgn="base" hangingPunct="0">
              <a:spcBef>
                <a:spcPct val="0"/>
              </a:spcBef>
              <a:spcAft>
                <a:spcPct val="0"/>
              </a:spcAft>
              <a:buFont typeface="Wingdings" panose="05000000000000000000" pitchFamily="2" charset="2"/>
              <a:buChar char="§"/>
            </a:pPr>
            <a:r>
              <a:rPr lang="ru-RU" altLang="ru-RU" sz="2000" b="1" dirty="0">
                <a:latin typeface="Times New Roman" panose="02020603050405020304" pitchFamily="18" charset="0"/>
                <a:cs typeface="Times New Roman" panose="02020603050405020304" pitchFamily="18" charset="0"/>
              </a:rPr>
              <a:t>µ</a:t>
            </a:r>
            <a:r>
              <a:rPr lang="en-US" altLang="ru-RU" sz="2000" b="1" dirty="0">
                <a:latin typeface="Times New Roman" panose="02020603050405020304" pitchFamily="18" charset="0"/>
                <a:cs typeface="Times New Roman" panose="02020603050405020304" pitchFamily="18" charset="0"/>
              </a:rPr>
              <a:t> </a:t>
            </a:r>
            <a:r>
              <a:rPr lang="en-US" altLang="ru-RU" sz="2000" dirty="0">
                <a:latin typeface="Times New Roman" panose="02020603050405020304" pitchFamily="18" charset="0"/>
                <a:cs typeface="Times New Roman" panose="02020603050405020304" pitchFamily="18" charset="0"/>
              </a:rPr>
              <a:t> </a:t>
            </a:r>
            <a:r>
              <a:rPr lang="ru-RU" altLang="ru-RU" sz="2000" dirty="0">
                <a:latin typeface="Times New Roman" panose="02020603050405020304" pitchFamily="18" charset="0"/>
                <a:cs typeface="Times New Roman" panose="02020603050405020304" pitchFamily="18" charset="0"/>
              </a:rPr>
              <a:t>— </a:t>
            </a:r>
            <a:r>
              <a:rPr lang="en-US" altLang="ru-RU" sz="2000" dirty="0" err="1">
                <a:latin typeface="Times New Roman" panose="02020603050405020304" pitchFamily="18" charset="0"/>
                <a:cs typeface="Times New Roman" panose="02020603050405020304" pitchFamily="18" charset="0"/>
              </a:rPr>
              <a:t>barcha</a:t>
            </a:r>
            <a:r>
              <a:rPr lang="ru-RU" altLang="ru-RU" sz="2000" dirty="0">
                <a:latin typeface="Times New Roman" panose="02020603050405020304" pitchFamily="18" charset="0"/>
                <a:cs typeface="Times New Roman" panose="02020603050405020304" pitchFamily="18" charset="0"/>
              </a:rPr>
              <a:t> </a:t>
            </a:r>
            <a:r>
              <a:rPr lang="en-US" altLang="ru-RU" sz="2000" dirty="0" err="1">
                <a:latin typeface="Times New Roman" panose="02020603050405020304" pitchFamily="18" charset="0"/>
                <a:cs typeface="Times New Roman" panose="02020603050405020304" pitchFamily="18" charset="0"/>
              </a:rPr>
              <a:t>ma’lumotlarning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o‘rtachasi</a:t>
            </a:r>
            <a:r>
              <a:rPr lang="ru-RU" altLang="ru-RU" sz="2000" dirty="0">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b="1" dirty="0">
                <a:latin typeface="Times New Roman" panose="02020603050405020304" pitchFamily="18" charset="0"/>
                <a:cs typeface="Times New Roman" panose="02020603050405020304" pitchFamily="18" charset="0"/>
              </a:rPr>
              <a:t>N</a:t>
            </a:r>
            <a:r>
              <a:rPr lang="en-US" altLang="ru-RU" sz="2000" b="1" dirty="0">
                <a:latin typeface="Times New Roman" panose="02020603050405020304" pitchFamily="18" charset="0"/>
                <a:cs typeface="Times New Roman" panose="02020603050405020304" pitchFamily="18" charset="0"/>
              </a:rPr>
              <a:t> </a:t>
            </a:r>
            <a:r>
              <a:rPr lang="en-US" altLang="ru-RU" sz="2000" dirty="0">
                <a:latin typeface="Times New Roman" panose="02020603050405020304" pitchFamily="18" charset="0"/>
                <a:cs typeface="Times New Roman" panose="02020603050405020304" pitchFamily="18" charset="0"/>
              </a:rPr>
              <a:t> –  </a:t>
            </a:r>
            <a:r>
              <a:rPr lang="en-US" altLang="ru-RU" sz="2000" dirty="0" err="1">
                <a:latin typeface="Times New Roman" panose="02020603050405020304" pitchFamily="18" charset="0"/>
                <a:cs typeface="Times New Roman" panose="02020603050405020304" pitchFamily="18" charset="0"/>
              </a:rPr>
              <a:t>ma’lumotlar</a:t>
            </a:r>
            <a:r>
              <a:rPr lang="en-US" altLang="ru-RU" sz="2000" dirty="0">
                <a:latin typeface="Times New Roman" panose="02020603050405020304" pitchFamily="18" charset="0"/>
                <a:cs typeface="Times New Roman" panose="02020603050405020304" pitchFamily="18" charset="0"/>
              </a:rPr>
              <a:t> </a:t>
            </a:r>
            <a:r>
              <a:rPr lang="en-US" altLang="ru-RU" sz="2000" dirty="0" err="1">
                <a:latin typeface="Times New Roman" panose="02020603050405020304" pitchFamily="18" charset="0"/>
                <a:cs typeface="Times New Roman" panose="02020603050405020304" pitchFamily="18" charset="0"/>
              </a:rPr>
              <a:t>soni</a:t>
            </a:r>
            <a:endParaRPr lang="en-US" altLang="ru-RU" sz="2000" dirty="0">
              <a:latin typeface="Times New Roman" panose="02020603050405020304" pitchFamily="18" charset="0"/>
              <a:cs typeface="Times New Roman" panose="02020603050405020304" pitchFamily="18" charset="0"/>
            </a:endParaRPr>
          </a:p>
          <a:p>
            <a:pPr marL="285750" indent="-285750" defTabSz="914400" eaLnBrk="0" fontAlgn="base" hangingPunct="0">
              <a:spcBef>
                <a:spcPct val="0"/>
              </a:spcBef>
              <a:spcAft>
                <a:spcPct val="0"/>
              </a:spcAft>
              <a:buFont typeface="Wingdings" panose="05000000000000000000" pitchFamily="2" charset="2"/>
              <a:buChar char="§"/>
            </a:pPr>
            <a:r>
              <a:rPr lang="tr-TR" b="1" dirty="0">
                <a:latin typeface="Times New Roman" panose="02020603050405020304" pitchFamily="18" charset="0"/>
                <a:cs typeface="Times New Roman" panose="02020603050405020304" pitchFamily="18" charset="0"/>
              </a:rPr>
              <a:t>x</a:t>
            </a:r>
            <a:r>
              <a:rPr lang="tr-TR" b="1" baseline="-2500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 har bir qiymat</a:t>
            </a:r>
            <a:endParaRPr lang="ru-RU" altLang="ru-RU" sz="2000" dirty="0">
              <a:latin typeface="Times New Roman" panose="02020603050405020304" pitchFamily="18" charset="0"/>
              <a:cs typeface="Times New Roman" panose="02020603050405020304" pitchFamily="18" charset="0"/>
            </a:endParaRPr>
          </a:p>
        </p:txBody>
      </p:sp>
      <p:pic>
        <p:nvPicPr>
          <p:cNvPr id="11" name="Рисунок 10">
            <a:extLst>
              <a:ext uri="{FF2B5EF4-FFF2-40B4-BE49-F238E27FC236}">
                <a16:creationId xmlns:a16="http://schemas.microsoft.com/office/drawing/2014/main" id="{965D1C7B-50EF-5A85-9C3D-A3D709041366}"/>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Lst>
          </a:blip>
          <a:stretch>
            <a:fillRect/>
          </a:stretch>
        </p:blipFill>
        <p:spPr>
          <a:xfrm>
            <a:off x="6810472" y="5229393"/>
            <a:ext cx="4133288" cy="1277273"/>
          </a:xfrm>
          <a:prstGeom prst="rect">
            <a:avLst/>
          </a:prstGeom>
        </p:spPr>
      </p:pic>
    </p:spTree>
    <p:extLst>
      <p:ext uri="{BB962C8B-B14F-4D97-AF65-F5344CB8AC3E}">
        <p14:creationId xmlns:p14="http://schemas.microsoft.com/office/powerpoint/2010/main" val="262484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86C5EF-747C-E1FD-54FF-63101A1EFB0D}"/>
              </a:ext>
            </a:extLst>
          </p:cNvPr>
          <p:cNvSpPr txBox="1"/>
          <p:nvPr/>
        </p:nvSpPr>
        <p:spPr>
          <a:xfrm>
            <a:off x="712964" y="351333"/>
            <a:ext cx="6097508"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STANDART OG’ISH</a:t>
            </a:r>
          </a:p>
        </p:txBody>
      </p:sp>
      <p:pic>
        <p:nvPicPr>
          <p:cNvPr id="4" name="Рисунок 3">
            <a:extLst>
              <a:ext uri="{FF2B5EF4-FFF2-40B4-BE49-F238E27FC236}">
                <a16:creationId xmlns:a16="http://schemas.microsoft.com/office/drawing/2014/main" id="{94CF1160-3162-30CD-61C5-C7372A1F6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509" y="1302678"/>
            <a:ext cx="10864981" cy="5432491"/>
          </a:xfrm>
          <a:prstGeom prst="rect">
            <a:avLst/>
          </a:prstGeom>
          <a:ln>
            <a:solidFill>
              <a:schemeClr val="tx1"/>
            </a:solidFill>
          </a:ln>
        </p:spPr>
      </p:pic>
      <p:sp>
        <p:nvSpPr>
          <p:cNvPr id="6" name="TextBox 5">
            <a:extLst>
              <a:ext uri="{FF2B5EF4-FFF2-40B4-BE49-F238E27FC236}">
                <a16:creationId xmlns:a16="http://schemas.microsoft.com/office/drawing/2014/main" id="{2CC3C5AE-113A-BF4A-E2B5-CB5A4DB9D207}"/>
              </a:ext>
            </a:extLst>
          </p:cNvPr>
          <p:cNvSpPr txBox="1"/>
          <p:nvPr/>
        </p:nvSpPr>
        <p:spPr>
          <a:xfrm>
            <a:off x="5131052" y="489832"/>
            <a:ext cx="6097508" cy="369332"/>
          </a:xfrm>
          <a:prstGeom prst="rect">
            <a:avLst/>
          </a:prstGeom>
          <a:noFill/>
        </p:spPr>
        <p:txBody>
          <a:bodyPr wrap="square">
            <a:spAutoFit/>
          </a:bodyPr>
          <a:lstStyle/>
          <a:p>
            <a:r>
              <a:rPr lang="tr-TR" dirty="0"/>
              <a:t>Odamlarning bo‘yi qanchalik darajada tarqoq (xilma-xil)?</a:t>
            </a:r>
            <a:endParaRPr lang="ru-RU" dirty="0"/>
          </a:p>
        </p:txBody>
      </p:sp>
      <p:sp>
        <p:nvSpPr>
          <p:cNvPr id="7" name="Прямоугольник 6">
            <a:extLst>
              <a:ext uri="{FF2B5EF4-FFF2-40B4-BE49-F238E27FC236}">
                <a16:creationId xmlns:a16="http://schemas.microsoft.com/office/drawing/2014/main" id="{A43A9474-C207-9144-A641-83F80C312CEA}"/>
              </a:ext>
            </a:extLst>
          </p:cNvPr>
          <p:cNvSpPr/>
          <p:nvPr/>
        </p:nvSpPr>
        <p:spPr>
          <a:xfrm>
            <a:off x="2510826" y="1302678"/>
            <a:ext cx="7170345" cy="760491"/>
          </a:xfrm>
          <a:prstGeom prst="rect">
            <a:avLst/>
          </a:prstGeom>
          <a:solidFill>
            <a:srgbClr val="F3F3F3"/>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ru-RU">
              <a:solidFill>
                <a:schemeClr val="tx1"/>
              </a:solidFill>
            </a:endParaRPr>
          </a:p>
        </p:txBody>
      </p:sp>
      <p:sp>
        <p:nvSpPr>
          <p:cNvPr id="9" name="TextBox 8">
            <a:extLst>
              <a:ext uri="{FF2B5EF4-FFF2-40B4-BE49-F238E27FC236}">
                <a16:creationId xmlns:a16="http://schemas.microsoft.com/office/drawing/2014/main" id="{ED2C0461-1C04-49C1-1908-1FFEF235157E}"/>
              </a:ext>
            </a:extLst>
          </p:cNvPr>
          <p:cNvSpPr txBox="1"/>
          <p:nvPr/>
        </p:nvSpPr>
        <p:spPr>
          <a:xfrm>
            <a:off x="2021939" y="1302678"/>
            <a:ext cx="8534402" cy="523220"/>
          </a:xfrm>
          <a:prstGeom prst="rect">
            <a:avLst/>
          </a:prstGeom>
          <a:noFill/>
        </p:spPr>
        <p:txBody>
          <a:bodyPr wrap="square">
            <a:spAutoFit/>
          </a:bodyPr>
          <a:lstStyle/>
          <a:p>
            <a:r>
              <a:rPr lang="tr-TR" sz="2800" b="1" dirty="0">
                <a:solidFill>
                  <a:schemeClr val="bg1"/>
                </a:solidFill>
                <a:latin typeface="Times New Roman" panose="02020603050405020304" pitchFamily="18" charset="0"/>
                <a:cs typeface="Times New Roman" panose="02020603050405020304" pitchFamily="18" charset="0"/>
              </a:rPr>
              <a:t>Odamlarning bo‘yi qanchalik darajada xilma-xil?</a:t>
            </a:r>
            <a:endParaRPr lang="ru-RU"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7917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C01D76-8469-F488-6CD5-D235ABA56FC0}"/>
              </a:ext>
            </a:extLst>
          </p:cNvPr>
          <p:cNvSpPr txBox="1"/>
          <p:nvPr/>
        </p:nvSpPr>
        <p:spPr>
          <a:xfrm>
            <a:off x="712964" y="351333"/>
            <a:ext cx="6097508"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STANDART OG’ISH</a:t>
            </a:r>
          </a:p>
        </p:txBody>
      </p:sp>
      <p:pic>
        <p:nvPicPr>
          <p:cNvPr id="4" name="Рисунок 3">
            <a:extLst>
              <a:ext uri="{FF2B5EF4-FFF2-40B4-BE49-F238E27FC236}">
                <a16:creationId xmlns:a16="http://schemas.microsoft.com/office/drawing/2014/main" id="{F68AE86D-7550-9E6D-CEC3-B3022D7C0D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666" y="1111983"/>
            <a:ext cx="10789367" cy="5394684"/>
          </a:xfrm>
          <a:prstGeom prst="rect">
            <a:avLst/>
          </a:prstGeom>
        </p:spPr>
      </p:pic>
      <p:sp>
        <p:nvSpPr>
          <p:cNvPr id="7" name="Прямоугольник 6">
            <a:extLst>
              <a:ext uri="{FF2B5EF4-FFF2-40B4-BE49-F238E27FC236}">
                <a16:creationId xmlns:a16="http://schemas.microsoft.com/office/drawing/2014/main" id="{866B214B-F3C8-7C24-EFD2-2ED619C4FAB3}"/>
              </a:ext>
            </a:extLst>
          </p:cNvPr>
          <p:cNvSpPr/>
          <p:nvPr/>
        </p:nvSpPr>
        <p:spPr>
          <a:xfrm>
            <a:off x="3684760" y="1111983"/>
            <a:ext cx="5459240" cy="870726"/>
          </a:xfrm>
          <a:prstGeom prst="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a:extLst>
              <a:ext uri="{FF2B5EF4-FFF2-40B4-BE49-F238E27FC236}">
                <a16:creationId xmlns:a16="http://schemas.microsoft.com/office/drawing/2014/main" id="{899C5A05-E8A3-528B-310A-988762F38C0A}"/>
              </a:ext>
            </a:extLst>
          </p:cNvPr>
          <p:cNvSpPr txBox="1"/>
          <p:nvPr/>
        </p:nvSpPr>
        <p:spPr>
          <a:xfrm>
            <a:off x="2862829" y="1254958"/>
            <a:ext cx="7440013" cy="584775"/>
          </a:xfrm>
          <a:prstGeom prst="rect">
            <a:avLst/>
          </a:prstGeom>
          <a:noFill/>
        </p:spPr>
        <p:txBody>
          <a:bodyPr wrap="square">
            <a:spAutoFit/>
          </a:bodyPr>
          <a:lstStyle/>
          <a:p>
            <a:r>
              <a:rPr lang="pl-PL" sz="3200" b="1" dirty="0">
                <a:solidFill>
                  <a:srgbClr val="C00000"/>
                </a:solidFill>
                <a:latin typeface="Times New Roman" panose="02020603050405020304" pitchFamily="18" charset="0"/>
                <a:cs typeface="Times New Roman" panose="02020603050405020304" pitchFamily="18" charset="0"/>
              </a:rPr>
              <a:t>1-qadam: </a:t>
            </a:r>
            <a:r>
              <a:rPr lang="pl-PL" sz="3200" b="1" dirty="0">
                <a:solidFill>
                  <a:schemeClr val="bg1"/>
                </a:solidFill>
                <a:latin typeface="Times New Roman" panose="02020603050405020304" pitchFamily="18" charset="0"/>
                <a:cs typeface="Times New Roman" panose="02020603050405020304" pitchFamily="18" charset="0"/>
              </a:rPr>
              <a:t>O‘rtacha qiymatni topi</a:t>
            </a:r>
            <a:r>
              <a:rPr lang="en-US" sz="3200" b="1" dirty="0" err="1">
                <a:solidFill>
                  <a:schemeClr val="bg1"/>
                </a:solidFill>
                <a:latin typeface="Times New Roman" panose="02020603050405020304" pitchFamily="18" charset="0"/>
                <a:cs typeface="Times New Roman" panose="02020603050405020304" pitchFamily="18" charset="0"/>
              </a:rPr>
              <a:t>sh</a:t>
            </a:r>
            <a:r>
              <a:rPr lang="en-US" sz="3200" b="1" dirty="0">
                <a:solidFill>
                  <a:schemeClr val="bg1"/>
                </a:solidFill>
                <a:latin typeface="Times New Roman" panose="02020603050405020304" pitchFamily="18" charset="0"/>
                <a:cs typeface="Times New Roman" panose="02020603050405020304" pitchFamily="18" charset="0"/>
              </a:rPr>
              <a:t>?</a:t>
            </a:r>
            <a:endParaRPr lang="ru-RU" sz="3200" b="1" dirty="0">
              <a:solidFill>
                <a:schemeClr val="bg1"/>
              </a:solidFill>
              <a:latin typeface="Times New Roman" panose="02020603050405020304" pitchFamily="18" charset="0"/>
              <a:cs typeface="Times New Roman" panose="02020603050405020304" pitchFamily="18" charset="0"/>
            </a:endParaRPr>
          </a:p>
        </p:txBody>
      </p:sp>
      <p:sp>
        <p:nvSpPr>
          <p:cNvPr id="10" name="Прямоугольник 9">
            <a:extLst>
              <a:ext uri="{FF2B5EF4-FFF2-40B4-BE49-F238E27FC236}">
                <a16:creationId xmlns:a16="http://schemas.microsoft.com/office/drawing/2014/main" id="{B73104B4-DCFC-6DA1-ADCE-8088AD635DE7}"/>
              </a:ext>
            </a:extLst>
          </p:cNvPr>
          <p:cNvSpPr/>
          <p:nvPr/>
        </p:nvSpPr>
        <p:spPr>
          <a:xfrm>
            <a:off x="2394641" y="5635941"/>
            <a:ext cx="8039477" cy="870726"/>
          </a:xfrm>
          <a:prstGeom prst="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a:extLst>
              <a:ext uri="{FF2B5EF4-FFF2-40B4-BE49-F238E27FC236}">
                <a16:creationId xmlns:a16="http://schemas.microsoft.com/office/drawing/2014/main" id="{B123F871-7D4E-72C8-50D2-5DD417944966}"/>
              </a:ext>
            </a:extLst>
          </p:cNvPr>
          <p:cNvSpPr txBox="1"/>
          <p:nvPr/>
        </p:nvSpPr>
        <p:spPr>
          <a:xfrm>
            <a:off x="2862829" y="5778917"/>
            <a:ext cx="7688655" cy="523220"/>
          </a:xfrm>
          <a:prstGeom prst="rect">
            <a:avLst/>
          </a:prstGeom>
          <a:noFill/>
        </p:spPr>
        <p:txBody>
          <a:bodyPr wrap="square">
            <a:spAutoFit/>
          </a:bodyPr>
          <a:lstStyle/>
          <a:p>
            <a:r>
              <a:rPr lang="tr-TR" sz="2800" b="1" dirty="0">
                <a:solidFill>
                  <a:schemeClr val="bg1"/>
                </a:solidFill>
                <a:latin typeface="Times New Roman" panose="02020603050405020304" pitchFamily="18" charset="0"/>
                <a:cs typeface="Times New Roman" panose="02020603050405020304" pitchFamily="18" charset="0"/>
              </a:rPr>
              <a:t>Demak, o‘rtacha bo‘y uzunligi </a:t>
            </a:r>
            <a:r>
              <a:rPr lang="en-US" sz="2800" b="1" dirty="0">
                <a:solidFill>
                  <a:schemeClr val="bg1"/>
                </a:solidFill>
                <a:latin typeface="Times New Roman" panose="02020603050405020304" pitchFamily="18" charset="0"/>
                <a:cs typeface="Times New Roman" panose="02020603050405020304" pitchFamily="18" charset="0"/>
              </a:rPr>
              <a:t>- </a:t>
            </a:r>
            <a:r>
              <a:rPr lang="tr-TR" sz="2800" b="1" dirty="0">
                <a:solidFill>
                  <a:srgbClr val="FF0000"/>
                </a:solidFill>
                <a:latin typeface="Times New Roman" panose="02020603050405020304" pitchFamily="18" charset="0"/>
                <a:cs typeface="Times New Roman" panose="02020603050405020304" pitchFamily="18" charset="0"/>
              </a:rPr>
              <a:t>162.5</a:t>
            </a:r>
            <a:r>
              <a:rPr lang="tr-TR" sz="2800" b="1" dirty="0">
                <a:solidFill>
                  <a:schemeClr val="bg1"/>
                </a:solidFill>
                <a:latin typeface="Times New Roman" panose="02020603050405020304" pitchFamily="18" charset="0"/>
                <a:cs typeface="Times New Roman" panose="02020603050405020304" pitchFamily="18" charset="0"/>
              </a:rPr>
              <a:t> ga teng.</a:t>
            </a:r>
            <a:endParaRPr lang="ru-RU"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96714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D77C5515-5B72-83BC-9A73-E1DD33B416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826" y="1277721"/>
            <a:ext cx="10162315" cy="5081158"/>
          </a:xfrm>
          <a:prstGeom prst="rect">
            <a:avLst/>
          </a:prstGeom>
        </p:spPr>
      </p:pic>
      <p:sp>
        <p:nvSpPr>
          <p:cNvPr id="4" name="TextBox 3">
            <a:extLst>
              <a:ext uri="{FF2B5EF4-FFF2-40B4-BE49-F238E27FC236}">
                <a16:creationId xmlns:a16="http://schemas.microsoft.com/office/drawing/2014/main" id="{2D026E50-632B-58B2-9396-1EC29E060978}"/>
              </a:ext>
            </a:extLst>
          </p:cNvPr>
          <p:cNvSpPr txBox="1"/>
          <p:nvPr/>
        </p:nvSpPr>
        <p:spPr>
          <a:xfrm>
            <a:off x="712964" y="351333"/>
            <a:ext cx="6097508"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STANDART OG’ISH</a:t>
            </a:r>
          </a:p>
        </p:txBody>
      </p:sp>
      <p:sp>
        <p:nvSpPr>
          <p:cNvPr id="6" name="TextBox 5">
            <a:extLst>
              <a:ext uri="{FF2B5EF4-FFF2-40B4-BE49-F238E27FC236}">
                <a16:creationId xmlns:a16="http://schemas.microsoft.com/office/drawing/2014/main" id="{5D953DF2-EE83-87E4-3093-5E176D0A29B5}"/>
              </a:ext>
            </a:extLst>
          </p:cNvPr>
          <p:cNvSpPr txBox="1"/>
          <p:nvPr/>
        </p:nvSpPr>
        <p:spPr>
          <a:xfrm>
            <a:off x="5098983" y="489832"/>
            <a:ext cx="6097604" cy="369332"/>
          </a:xfrm>
          <a:prstGeom prst="rect">
            <a:avLst/>
          </a:prstGeom>
          <a:noFill/>
        </p:spPr>
        <p:txBody>
          <a:bodyPr wrap="square">
            <a:spAutoFit/>
          </a:bodyPr>
          <a:lstStyle/>
          <a:p>
            <a:r>
              <a:rPr lang="tr-TR" dirty="0"/>
              <a:t>O‘rtachadan chetlanish (farqni topish).</a:t>
            </a:r>
            <a:endParaRPr lang="ru-RU" dirty="0"/>
          </a:p>
        </p:txBody>
      </p:sp>
      <p:sp>
        <p:nvSpPr>
          <p:cNvPr id="7" name="Прямоугольник: скругленные углы 6">
            <a:extLst>
              <a:ext uri="{FF2B5EF4-FFF2-40B4-BE49-F238E27FC236}">
                <a16:creationId xmlns:a16="http://schemas.microsoft.com/office/drawing/2014/main" id="{0B5DB6AD-D113-54F6-0D3A-DF604AB45302}"/>
              </a:ext>
            </a:extLst>
          </p:cNvPr>
          <p:cNvSpPr/>
          <p:nvPr/>
        </p:nvSpPr>
        <p:spPr>
          <a:xfrm>
            <a:off x="2406316" y="1277721"/>
            <a:ext cx="6949440" cy="887963"/>
          </a:xfrm>
          <a:prstGeom prst="round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a:extLst>
              <a:ext uri="{FF2B5EF4-FFF2-40B4-BE49-F238E27FC236}">
                <a16:creationId xmlns:a16="http://schemas.microsoft.com/office/drawing/2014/main" id="{6E73B781-8C1D-DB8A-8DD4-6B3F9752C8BD}"/>
              </a:ext>
            </a:extLst>
          </p:cNvPr>
          <p:cNvSpPr txBox="1"/>
          <p:nvPr/>
        </p:nvSpPr>
        <p:spPr>
          <a:xfrm>
            <a:off x="2406316" y="1460092"/>
            <a:ext cx="7510914" cy="461665"/>
          </a:xfrm>
          <a:prstGeom prst="rect">
            <a:avLst/>
          </a:prstGeom>
          <a:noFill/>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2-qadam: </a:t>
            </a:r>
            <a:r>
              <a:rPr lang="tr-TR" sz="2400" b="1" dirty="0">
                <a:solidFill>
                  <a:schemeClr val="bg1"/>
                </a:solidFill>
                <a:latin typeface="Times New Roman" panose="02020603050405020304" pitchFamily="18" charset="0"/>
                <a:cs typeface="Times New Roman" panose="02020603050405020304" pitchFamily="18" charset="0"/>
              </a:rPr>
              <a:t>O‘rtachadan chetlanish (farqni topish).</a:t>
            </a:r>
            <a:endParaRPr lang="ru-RU" sz="2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7245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0778B963-5D43-A7AD-FFDB-7C09CC4EF9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629" y="1223398"/>
            <a:ext cx="10499657" cy="5249829"/>
          </a:xfrm>
          <a:prstGeom prst="rect">
            <a:avLst/>
          </a:prstGeom>
        </p:spPr>
      </p:pic>
      <p:sp>
        <p:nvSpPr>
          <p:cNvPr id="4" name="TextBox 3">
            <a:extLst>
              <a:ext uri="{FF2B5EF4-FFF2-40B4-BE49-F238E27FC236}">
                <a16:creationId xmlns:a16="http://schemas.microsoft.com/office/drawing/2014/main" id="{D638E7EF-FD12-56BC-37DB-2089DE9CB281}"/>
              </a:ext>
            </a:extLst>
          </p:cNvPr>
          <p:cNvSpPr txBox="1"/>
          <p:nvPr/>
        </p:nvSpPr>
        <p:spPr>
          <a:xfrm>
            <a:off x="712964" y="351333"/>
            <a:ext cx="6097508"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STANDART OG’ISH</a:t>
            </a:r>
          </a:p>
        </p:txBody>
      </p:sp>
      <p:sp>
        <p:nvSpPr>
          <p:cNvPr id="5" name="Прямоугольник 4">
            <a:extLst>
              <a:ext uri="{FF2B5EF4-FFF2-40B4-BE49-F238E27FC236}">
                <a16:creationId xmlns:a16="http://schemas.microsoft.com/office/drawing/2014/main" id="{FCF57F76-ACE7-7D88-8E15-75AE28FF81C4}"/>
              </a:ext>
            </a:extLst>
          </p:cNvPr>
          <p:cNvSpPr/>
          <p:nvPr/>
        </p:nvSpPr>
        <p:spPr>
          <a:xfrm>
            <a:off x="1963554" y="1223398"/>
            <a:ext cx="8691612" cy="961537"/>
          </a:xfrm>
          <a:prstGeom prst="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0000"/>
                </a:solidFill>
                <a:latin typeface="Times New Roman" panose="02020603050405020304" pitchFamily="18" charset="0"/>
                <a:cs typeface="Times New Roman" panose="02020603050405020304" pitchFamily="18" charset="0"/>
              </a:rPr>
              <a:t>3-qadam: </a:t>
            </a:r>
            <a:r>
              <a:rPr lang="en-US" sz="3200" b="1" dirty="0" err="1">
                <a:solidFill>
                  <a:schemeClr val="bg1"/>
                </a:solidFill>
                <a:latin typeface="Times New Roman" panose="02020603050405020304" pitchFamily="18" charset="0"/>
                <a:cs typeface="Times New Roman" panose="02020603050405020304" pitchFamily="18" charset="0"/>
              </a:rPr>
              <a:t>Dispersiyani</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topish</a:t>
            </a:r>
            <a:r>
              <a:rPr lang="en-US" sz="3200" b="1" dirty="0">
                <a:solidFill>
                  <a:schemeClr val="bg1"/>
                </a:solidFill>
                <a:latin typeface="Times New Roman" panose="02020603050405020304" pitchFamily="18" charset="0"/>
                <a:cs typeface="Times New Roman" panose="02020603050405020304" pitchFamily="18" charset="0"/>
              </a:rPr>
              <a:t>?</a:t>
            </a:r>
            <a:endParaRPr lang="ru-RU" sz="3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89099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3C1E97-876C-4BB4-32C2-CA4261FD2C5B}"/>
              </a:ext>
            </a:extLst>
          </p:cNvPr>
          <p:cNvSpPr txBox="1"/>
          <p:nvPr/>
        </p:nvSpPr>
        <p:spPr>
          <a:xfrm>
            <a:off x="712964" y="351333"/>
            <a:ext cx="6097508"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STANDART OG’ISH</a:t>
            </a:r>
          </a:p>
        </p:txBody>
      </p:sp>
      <p:pic>
        <p:nvPicPr>
          <p:cNvPr id="4" name="Рисунок 3">
            <a:extLst>
              <a:ext uri="{FF2B5EF4-FFF2-40B4-BE49-F238E27FC236}">
                <a16:creationId xmlns:a16="http://schemas.microsoft.com/office/drawing/2014/main" id="{62174316-3353-1BB2-C274-EFD158652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826" y="1277719"/>
            <a:ext cx="10698833" cy="5349417"/>
          </a:xfrm>
          <a:prstGeom prst="rect">
            <a:avLst/>
          </a:prstGeom>
        </p:spPr>
      </p:pic>
      <p:sp>
        <p:nvSpPr>
          <p:cNvPr id="7" name="Прямоугольник 6">
            <a:extLst>
              <a:ext uri="{FF2B5EF4-FFF2-40B4-BE49-F238E27FC236}">
                <a16:creationId xmlns:a16="http://schemas.microsoft.com/office/drawing/2014/main" id="{1627F5F7-A3C6-304D-7406-718B89BB1D15}"/>
              </a:ext>
            </a:extLst>
          </p:cNvPr>
          <p:cNvSpPr/>
          <p:nvPr/>
        </p:nvSpPr>
        <p:spPr>
          <a:xfrm>
            <a:off x="1876926" y="1277719"/>
            <a:ext cx="8845617" cy="820588"/>
          </a:xfrm>
          <a:prstGeom prst="rect">
            <a:avLst/>
          </a:prstGeom>
          <a:solidFill>
            <a:srgbClr val="F3F3F3"/>
          </a:solidFill>
          <a:ln>
            <a:solidFill>
              <a:srgbClr val="F3F3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Times New Roman" panose="02020603050405020304" pitchFamily="18" charset="0"/>
                <a:cs typeface="Times New Roman" panose="02020603050405020304" pitchFamily="18" charset="0"/>
              </a:rPr>
              <a:t>4-qadam: </a:t>
            </a:r>
            <a:r>
              <a:rPr lang="en-US" sz="2800" b="1" dirty="0" err="1">
                <a:solidFill>
                  <a:schemeClr val="bg1"/>
                </a:solidFill>
                <a:latin typeface="Times New Roman" panose="02020603050405020304" pitchFamily="18" charset="0"/>
                <a:cs typeface="Times New Roman" panose="02020603050405020304" pitchFamily="18" charset="0"/>
              </a:rPr>
              <a:t>Standart</a:t>
            </a:r>
            <a:r>
              <a:rPr lang="en-US" sz="2800" b="1" dirty="0">
                <a:solidFill>
                  <a:schemeClr val="bg1"/>
                </a:solidFill>
                <a:latin typeface="Times New Roman" panose="02020603050405020304" pitchFamily="18" charset="0"/>
                <a:cs typeface="Times New Roman" panose="02020603050405020304" pitchFamily="18" charset="0"/>
              </a:rPr>
              <a:t> </a:t>
            </a:r>
            <a:r>
              <a:rPr lang="en-US" sz="2800" b="1" dirty="0" err="1">
                <a:solidFill>
                  <a:schemeClr val="bg1"/>
                </a:solidFill>
                <a:latin typeface="Times New Roman" panose="02020603050405020304" pitchFamily="18" charset="0"/>
                <a:cs typeface="Times New Roman" panose="02020603050405020304" pitchFamily="18" charset="0"/>
              </a:rPr>
              <a:t>og’ishni</a:t>
            </a:r>
            <a:r>
              <a:rPr lang="en-US" sz="2800" b="1" dirty="0">
                <a:solidFill>
                  <a:schemeClr val="bg1"/>
                </a:solidFill>
                <a:latin typeface="Times New Roman" panose="02020603050405020304" pitchFamily="18" charset="0"/>
                <a:cs typeface="Times New Roman" panose="02020603050405020304" pitchFamily="18" charset="0"/>
              </a:rPr>
              <a:t> </a:t>
            </a:r>
            <a:r>
              <a:rPr lang="en-US" sz="2800" b="1" dirty="0" err="1">
                <a:solidFill>
                  <a:schemeClr val="bg1"/>
                </a:solidFill>
                <a:latin typeface="Times New Roman" panose="02020603050405020304" pitchFamily="18" charset="0"/>
                <a:cs typeface="Times New Roman" panose="02020603050405020304" pitchFamily="18" charset="0"/>
              </a:rPr>
              <a:t>hisoblash</a:t>
            </a:r>
            <a:r>
              <a:rPr lang="en-US" sz="2800" b="1" dirty="0">
                <a:solidFill>
                  <a:schemeClr val="bg1"/>
                </a:solidFill>
                <a:latin typeface="Times New Roman" panose="02020603050405020304" pitchFamily="18" charset="0"/>
                <a:cs typeface="Times New Roman" panose="02020603050405020304" pitchFamily="18" charset="0"/>
              </a:rPr>
              <a:t>?</a:t>
            </a:r>
            <a:endParaRPr lang="ru-RU" sz="2800" b="1" dirty="0">
              <a:solidFill>
                <a:schemeClr val="bg1"/>
              </a:solidFill>
              <a:latin typeface="Times New Roman" panose="02020603050405020304" pitchFamily="18" charset="0"/>
              <a:cs typeface="Times New Roman" panose="02020603050405020304" pitchFamily="18" charset="0"/>
            </a:endParaRPr>
          </a:p>
        </p:txBody>
      </p:sp>
      <p:sp>
        <p:nvSpPr>
          <p:cNvPr id="8" name="Прямоугольник 7">
            <a:extLst>
              <a:ext uri="{FF2B5EF4-FFF2-40B4-BE49-F238E27FC236}">
                <a16:creationId xmlns:a16="http://schemas.microsoft.com/office/drawing/2014/main" id="{6BA29622-3E5B-C181-92EA-FB06DEC1BC95}"/>
              </a:ext>
            </a:extLst>
          </p:cNvPr>
          <p:cNvSpPr/>
          <p:nvPr/>
        </p:nvSpPr>
        <p:spPr>
          <a:xfrm>
            <a:off x="3070459" y="2136807"/>
            <a:ext cx="3551722" cy="462013"/>
          </a:xfrm>
          <a:prstGeom prst="rect">
            <a:avLst/>
          </a:prstGeom>
          <a:solidFill>
            <a:srgbClr val="F3F3F3"/>
          </a:solidFill>
          <a:ln>
            <a:solidFill>
              <a:srgbClr val="F3F3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bg1"/>
                </a:solidFill>
                <a:latin typeface="Times New Roman" panose="02020603050405020304" pitchFamily="18" charset="0"/>
                <a:cs typeface="Times New Roman" panose="02020603050405020304" pitchFamily="18" charset="0"/>
              </a:rPr>
              <a:t>Dispersiyadan</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ildiz</a:t>
            </a:r>
            <a:endParaRPr lang="ru-RU" sz="2400" b="1" dirty="0">
              <a:solidFill>
                <a:schemeClr val="bg1"/>
              </a:solidFill>
              <a:latin typeface="Times New Roman" panose="02020603050405020304" pitchFamily="18" charset="0"/>
              <a:cs typeface="Times New Roman" panose="02020603050405020304" pitchFamily="18" charset="0"/>
            </a:endParaRPr>
          </a:p>
        </p:txBody>
      </p:sp>
      <p:sp>
        <p:nvSpPr>
          <p:cNvPr id="9" name="Прямоугольник 8">
            <a:extLst>
              <a:ext uri="{FF2B5EF4-FFF2-40B4-BE49-F238E27FC236}">
                <a16:creationId xmlns:a16="http://schemas.microsoft.com/office/drawing/2014/main" id="{3127816D-3718-E862-DEF1-A808A3133933}"/>
              </a:ext>
            </a:extLst>
          </p:cNvPr>
          <p:cNvSpPr/>
          <p:nvPr/>
        </p:nvSpPr>
        <p:spPr>
          <a:xfrm>
            <a:off x="1751797" y="5806548"/>
            <a:ext cx="9490509" cy="820588"/>
          </a:xfrm>
          <a:prstGeom prst="rect">
            <a:avLst/>
          </a:prstGeom>
          <a:solidFill>
            <a:srgbClr val="F3F3F3"/>
          </a:solidFill>
          <a:ln>
            <a:solidFill>
              <a:srgbClr val="F3F3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2000" b="1" dirty="0">
                <a:solidFill>
                  <a:schemeClr val="bg1"/>
                </a:solidFill>
                <a:latin typeface="Times New Roman" panose="02020603050405020304" pitchFamily="18" charset="0"/>
                <a:cs typeface="Times New Roman" panose="02020603050405020304" pitchFamily="18" charset="0"/>
              </a:rPr>
              <a:t>Standart chetlanish o‘rtacha qiymatdan bo‘lgan odatiy masofani ko‘rsatadi.</a:t>
            </a:r>
            <a:endParaRPr lang="ru-RU" sz="2000" b="1" dirty="0">
              <a:solidFill>
                <a:schemeClr val="bg1"/>
              </a:solidFill>
              <a:latin typeface="Times New Roman" panose="02020603050405020304" pitchFamily="18" charset="0"/>
              <a:cs typeface="Times New Roman" panose="02020603050405020304" pitchFamily="18" charset="0"/>
            </a:endParaRPr>
          </a:p>
          <a:p>
            <a:pPr algn="ctr"/>
            <a:endParaRPr lang="ru-RU" sz="1600" b="1" dirty="0"/>
          </a:p>
        </p:txBody>
      </p:sp>
    </p:spTree>
    <p:extLst>
      <p:ext uri="{BB962C8B-B14F-4D97-AF65-F5344CB8AC3E}">
        <p14:creationId xmlns:p14="http://schemas.microsoft.com/office/powerpoint/2010/main" val="17017091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E89B94-2AB8-7BF3-33E8-F7487C60A057}"/>
              </a:ext>
            </a:extLst>
          </p:cNvPr>
          <p:cNvSpPr txBox="1"/>
          <p:nvPr/>
        </p:nvSpPr>
        <p:spPr>
          <a:xfrm>
            <a:off x="757990" y="282159"/>
            <a:ext cx="6097604" cy="769441"/>
          </a:xfrm>
          <a:prstGeom prst="rect">
            <a:avLst/>
          </a:prstGeom>
          <a:noFill/>
        </p:spPr>
        <p:txBody>
          <a:bodyPr wrap="square">
            <a:spAutoFit/>
          </a:bodyPr>
          <a:lstStyle/>
          <a:p>
            <a:r>
              <a:rPr lang="tr-TR" sz="4400" dirty="0">
                <a:latin typeface="Times New Roman" panose="02020603050405020304" pitchFamily="18" charset="0"/>
                <a:cs typeface="Times New Roman" panose="02020603050405020304" pitchFamily="18" charset="0"/>
              </a:rPr>
              <a:t>VAR</a:t>
            </a:r>
            <a:r>
              <a:rPr lang="en-US" sz="4400" dirty="0">
                <a:latin typeface="Times New Roman" panose="02020603050405020304" pitchFamily="18" charset="0"/>
                <a:cs typeface="Times New Roman" panose="02020603050405020304" pitchFamily="18" charset="0"/>
              </a:rPr>
              <a:t>I</a:t>
            </a:r>
            <a:r>
              <a:rPr lang="tr-TR" sz="4400" dirty="0">
                <a:latin typeface="Times New Roman" panose="02020603050405020304" pitchFamily="18" charset="0"/>
                <a:cs typeface="Times New Roman" panose="02020603050405020304" pitchFamily="18" charset="0"/>
              </a:rPr>
              <a:t>ATS</a:t>
            </a:r>
            <a:r>
              <a:rPr lang="en-US" sz="4400" dirty="0">
                <a:latin typeface="Times New Roman" panose="02020603050405020304" pitchFamily="18" charset="0"/>
                <a:cs typeface="Times New Roman" panose="02020603050405020304" pitchFamily="18" charset="0"/>
              </a:rPr>
              <a:t>I</a:t>
            </a:r>
            <a:r>
              <a:rPr lang="tr-TR" sz="4400" dirty="0">
                <a:latin typeface="Times New Roman" panose="02020603050405020304" pitchFamily="18" charset="0"/>
                <a:cs typeface="Times New Roman" panose="02020603050405020304" pitchFamily="18" charset="0"/>
              </a:rPr>
              <a:t>YA</a:t>
            </a:r>
            <a:endParaRPr lang="ru-RU" sz="4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7FE5E62-C67F-884D-DAF1-AFCF5D9E0C49}"/>
              </a:ext>
            </a:extLst>
          </p:cNvPr>
          <p:cNvSpPr txBox="1"/>
          <p:nvPr/>
        </p:nvSpPr>
        <p:spPr>
          <a:xfrm>
            <a:off x="770022" y="1051600"/>
            <a:ext cx="10840453" cy="830997"/>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Variatsiya</a:t>
            </a:r>
            <a:r>
              <a:rPr lang="tr-TR" sz="2400" dirty="0">
                <a:latin typeface="Times New Roman" panose="02020603050405020304" pitchFamily="18" charset="0"/>
                <a:cs typeface="Times New Roman" panose="02020603050405020304" pitchFamily="18" charset="0"/>
              </a:rPr>
              <a:t> (yoki aniqrog‘i statistikada </a:t>
            </a:r>
            <a:r>
              <a:rPr lang="tr-TR" sz="2400" b="1" dirty="0">
                <a:solidFill>
                  <a:srgbClr val="FFC000"/>
                </a:solidFill>
                <a:latin typeface="Times New Roman" panose="02020603050405020304" pitchFamily="18" charset="0"/>
                <a:cs typeface="Times New Roman" panose="02020603050405020304" pitchFamily="18" charset="0"/>
              </a:rPr>
              <a:t>Variatsiya koeffitsiyenti</a:t>
            </a:r>
            <a:r>
              <a:rPr lang="tr-TR" sz="2400" dirty="0">
                <a:latin typeface="Times New Roman" panose="02020603050405020304" pitchFamily="18" charset="0"/>
                <a:cs typeface="Times New Roman" panose="02020603050405020304" pitchFamily="18" charset="0"/>
              </a:rPr>
              <a:t>) — bu ma’lumotlarning naqadar o‘zgaruvchan ekanligini </a:t>
            </a:r>
            <a:r>
              <a:rPr lang="tr-TR" sz="2400" b="1" dirty="0">
                <a:latin typeface="Times New Roman" panose="02020603050405020304" pitchFamily="18" charset="0"/>
                <a:cs typeface="Times New Roman" panose="02020603050405020304" pitchFamily="18" charset="0"/>
              </a:rPr>
              <a:t>foizda (%)</a:t>
            </a:r>
            <a:r>
              <a:rPr lang="tr-TR" sz="2400" dirty="0">
                <a:latin typeface="Times New Roman" panose="02020603050405020304" pitchFamily="18" charset="0"/>
                <a:cs typeface="Times New Roman" panose="02020603050405020304" pitchFamily="18" charset="0"/>
              </a:rPr>
              <a:t> o‘lchaydigan kattalikdir.</a:t>
            </a:r>
            <a:endParaRPr lang="ru-RU" sz="2400"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EC6AE65F-680D-4401-EB92-7C50C641E2BE}"/>
              </a:ext>
            </a:extLst>
          </p:cNvPr>
          <p:cNvSpPr>
            <a:spLocks noChangeArrowheads="1"/>
          </p:cNvSpPr>
          <p:nvPr/>
        </p:nvSpPr>
        <p:spPr bwMode="auto">
          <a:xfrm>
            <a:off x="757990" y="1916842"/>
            <a:ext cx="50966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sz="2400" dirty="0" err="1">
                <a:latin typeface="Times New Roman" panose="02020603050405020304" pitchFamily="18" charset="0"/>
                <a:cs typeface="Times New Roman" panose="02020603050405020304" pitchFamily="18" charset="0"/>
              </a:rPr>
              <a:t>Variatsiya</a:t>
            </a:r>
            <a:r>
              <a:rPr lang="ru-RU"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koeffitsiyenti</a:t>
            </a:r>
            <a:r>
              <a:rPr lang="en-US" altLang="ru-RU" sz="2400" dirty="0">
                <a:latin typeface="Times New Roman" panose="02020603050405020304" pitchFamily="18" charset="0"/>
                <a:cs typeface="Times New Roman" panose="02020603050405020304" pitchFamily="18" charset="0"/>
              </a:rPr>
              <a:t>(CV)</a:t>
            </a:r>
            <a:r>
              <a:rPr lang="ru-RU" altLang="ru-RU" sz="2400" dirty="0">
                <a:latin typeface="Times New Roman" panose="02020603050405020304" pitchFamily="18" charset="0"/>
                <a:cs typeface="Times New Roman" panose="02020603050405020304" pitchFamily="18" charset="0"/>
              </a:rPr>
              <a:t> </a:t>
            </a:r>
            <a:r>
              <a:rPr lang="en-US" altLang="ru-RU" sz="2400" dirty="0" err="1">
                <a:latin typeface="Times New Roman" panose="02020603050405020304" pitchFamily="18" charset="0"/>
                <a:cs typeface="Times New Roman" panose="02020603050405020304" pitchFamily="18" charset="0"/>
              </a:rPr>
              <a:t>formulasi</a:t>
            </a:r>
            <a:r>
              <a:rPr lang="en-US" altLang="ru-RU" sz="2400" dirty="0">
                <a:latin typeface="Times New Roman" panose="02020603050405020304" pitchFamily="18" charset="0"/>
                <a:cs typeface="Times New Roman" panose="02020603050405020304" pitchFamily="18" charset="0"/>
              </a:rPr>
              <a:t>:</a:t>
            </a:r>
            <a:endParaRPr lang="ru-RU" altLang="ru-RU" sz="2400" dirty="0">
              <a:latin typeface="Times New Roman" panose="02020603050405020304" pitchFamily="18" charset="0"/>
              <a:cs typeface="Times New Roman" panose="02020603050405020304" pitchFamily="18" charset="0"/>
            </a:endParaRPr>
          </a:p>
        </p:txBody>
      </p:sp>
      <p:pic>
        <p:nvPicPr>
          <p:cNvPr id="8" name="Рисунок 7">
            <a:extLst>
              <a:ext uri="{FF2B5EF4-FFF2-40B4-BE49-F238E27FC236}">
                <a16:creationId xmlns:a16="http://schemas.microsoft.com/office/drawing/2014/main" id="{4FD3DE16-673B-8B1C-02C5-94B1E037B8D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2988960" y="2441356"/>
            <a:ext cx="5731363" cy="1074631"/>
          </a:xfrm>
          <a:prstGeom prst="rect">
            <a:avLst/>
          </a:prstGeom>
          <a:ln>
            <a:solidFill>
              <a:srgbClr val="F3F3F3"/>
            </a:solidFill>
          </a:ln>
        </p:spPr>
      </p:pic>
      <p:sp>
        <p:nvSpPr>
          <p:cNvPr id="10" name="TextBox 9">
            <a:extLst>
              <a:ext uri="{FF2B5EF4-FFF2-40B4-BE49-F238E27FC236}">
                <a16:creationId xmlns:a16="http://schemas.microsoft.com/office/drawing/2014/main" id="{4A6289B0-9177-4C39-BC50-50B94AA8016D}"/>
              </a:ext>
            </a:extLst>
          </p:cNvPr>
          <p:cNvSpPr txBox="1"/>
          <p:nvPr/>
        </p:nvSpPr>
        <p:spPr>
          <a:xfrm>
            <a:off x="757990" y="3578836"/>
            <a:ext cx="6097604" cy="523220"/>
          </a:xfrm>
          <a:prstGeom prst="rect">
            <a:avLst/>
          </a:prstGeom>
          <a:noFill/>
        </p:spPr>
        <p:txBody>
          <a:bodyPr wrap="square">
            <a:spAutoFit/>
          </a:bodyPr>
          <a:lstStyle/>
          <a:p>
            <a:r>
              <a:rPr lang="tr-TR" sz="2800" b="1" dirty="0">
                <a:solidFill>
                  <a:srgbClr val="FFC000"/>
                </a:solidFill>
                <a:latin typeface="Times New Roman" panose="02020603050405020304" pitchFamily="18" charset="0"/>
                <a:cs typeface="Times New Roman" panose="02020603050405020304" pitchFamily="18" charset="0"/>
              </a:rPr>
              <a:t>Variatsiya qoidalari</a:t>
            </a:r>
            <a:endParaRPr lang="ru-RU" sz="2800" b="1" dirty="0">
              <a:solidFill>
                <a:srgbClr val="FFC0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E06A0F1-FC5F-35FE-C126-B8636C48D85D}"/>
              </a:ext>
            </a:extLst>
          </p:cNvPr>
          <p:cNvSpPr txBox="1"/>
          <p:nvPr/>
        </p:nvSpPr>
        <p:spPr>
          <a:xfrm>
            <a:off x="873967" y="4181405"/>
            <a:ext cx="10840452" cy="2241960"/>
          </a:xfrm>
          <a:prstGeom prst="rect">
            <a:avLst/>
          </a:prstGeom>
          <a:noFill/>
        </p:spPr>
        <p:txBody>
          <a:bodyPr wrap="square">
            <a:spAutoFit/>
          </a:bodyPr>
          <a:lstStyle/>
          <a:p>
            <a:pPr>
              <a:lnSpc>
                <a:spcPct val="150000"/>
              </a:lnSpc>
              <a:buNone/>
            </a:pPr>
            <a:r>
              <a:rPr lang="tr-TR" sz="2400" dirty="0">
                <a:latin typeface="Times New Roman" panose="02020603050405020304" pitchFamily="18" charset="0"/>
                <a:cs typeface="Times New Roman" panose="02020603050405020304" pitchFamily="18" charset="0"/>
              </a:rPr>
              <a:t>Statistikada variatsiya foiziga qarab ma'lumotlarga baho beriladi:</a:t>
            </a:r>
          </a:p>
          <a:p>
            <a:pPr marL="800100" lvl="1" indent="-342900">
              <a:lnSpc>
                <a:spcPct val="150000"/>
              </a:lnSpc>
              <a:buFont typeface="Wingdings" panose="05000000000000000000" pitchFamily="2" charset="2"/>
              <a:buChar char="§"/>
            </a:pPr>
            <a:r>
              <a:rPr lang="tr-TR" sz="2400" dirty="0">
                <a:latin typeface="Times New Roman" panose="02020603050405020304" pitchFamily="18" charset="0"/>
                <a:cs typeface="Times New Roman" panose="02020603050405020304" pitchFamily="18" charset="0"/>
              </a:rPr>
              <a:t>0% - 10%: Variatsiya juda past (Ma'lumotlar bir xil, barqaror).</a:t>
            </a:r>
          </a:p>
          <a:p>
            <a:pPr marL="800100" lvl="1" indent="-342900">
              <a:lnSpc>
                <a:spcPct val="150000"/>
              </a:lnSpc>
              <a:buFont typeface="Wingdings" panose="05000000000000000000" pitchFamily="2" charset="2"/>
              <a:buChar char="§"/>
            </a:pPr>
            <a:r>
              <a:rPr lang="tr-TR" sz="2400" dirty="0">
                <a:latin typeface="Times New Roman" panose="02020603050405020304" pitchFamily="18" charset="0"/>
                <a:cs typeface="Times New Roman" panose="02020603050405020304" pitchFamily="18" charset="0"/>
              </a:rPr>
              <a:t>10% - 30%: Variatsiya o‘rtacha.</a:t>
            </a:r>
          </a:p>
          <a:p>
            <a:pPr marL="800100" lvl="1" indent="-342900">
              <a:lnSpc>
                <a:spcPct val="150000"/>
              </a:lnSpc>
              <a:buFont typeface="Wingdings" panose="05000000000000000000" pitchFamily="2" charset="2"/>
              <a:buChar char="§"/>
            </a:pPr>
            <a:r>
              <a:rPr lang="tr-TR" sz="2400" dirty="0">
                <a:latin typeface="Times New Roman" panose="02020603050405020304" pitchFamily="18" charset="0"/>
                <a:cs typeface="Times New Roman" panose="02020603050405020304" pitchFamily="18" charset="0"/>
              </a:rPr>
              <a:t>30% dan yuqori: Variatsiya kuchli (Ma'lumotlar juda tarqoq, ishonchsiz).</a:t>
            </a:r>
          </a:p>
        </p:txBody>
      </p:sp>
    </p:spTree>
    <p:extLst>
      <p:ext uri="{BB962C8B-B14F-4D97-AF65-F5344CB8AC3E}">
        <p14:creationId xmlns:p14="http://schemas.microsoft.com/office/powerpoint/2010/main" val="2504854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7FBB79-FF36-2963-6154-329C40124161}"/>
              </a:ext>
            </a:extLst>
          </p:cNvPr>
          <p:cNvSpPr txBox="1"/>
          <p:nvPr/>
        </p:nvSpPr>
        <p:spPr>
          <a:xfrm>
            <a:off x="659331" y="185994"/>
            <a:ext cx="6097604" cy="646331"/>
          </a:xfrm>
          <a:prstGeom prst="rect">
            <a:avLst/>
          </a:prstGeom>
          <a:noFill/>
        </p:spPr>
        <p:txBody>
          <a:bodyPr wrap="square">
            <a:spAutoFit/>
          </a:bodyPr>
          <a:lstStyle/>
          <a:p>
            <a:r>
              <a:rPr lang="tr-TR" sz="3600" b="1" dirty="0">
                <a:latin typeface="Times New Roman" panose="02020603050405020304" pitchFamily="18" charset="0"/>
                <a:cs typeface="Times New Roman" panose="02020603050405020304" pitchFamily="18" charset="0"/>
              </a:rPr>
              <a:t>VAR</a:t>
            </a:r>
            <a:r>
              <a:rPr lang="en-US" sz="3600" b="1" dirty="0">
                <a:latin typeface="Times New Roman" panose="02020603050405020304" pitchFamily="18" charset="0"/>
                <a:cs typeface="Times New Roman" panose="02020603050405020304" pitchFamily="18" charset="0"/>
              </a:rPr>
              <a:t>I</a:t>
            </a:r>
            <a:r>
              <a:rPr lang="tr-TR" sz="3600" b="1" dirty="0">
                <a:latin typeface="Times New Roman" panose="02020603050405020304" pitchFamily="18" charset="0"/>
                <a:cs typeface="Times New Roman" panose="02020603050405020304" pitchFamily="18" charset="0"/>
              </a:rPr>
              <a:t>ATS</a:t>
            </a:r>
            <a:r>
              <a:rPr lang="en-US" sz="3600" b="1" dirty="0">
                <a:latin typeface="Times New Roman" panose="02020603050405020304" pitchFamily="18" charset="0"/>
                <a:cs typeface="Times New Roman" panose="02020603050405020304" pitchFamily="18" charset="0"/>
              </a:rPr>
              <a:t>I</a:t>
            </a:r>
            <a:r>
              <a:rPr lang="tr-TR" sz="3600" b="1" dirty="0">
                <a:latin typeface="Times New Roman" panose="02020603050405020304" pitchFamily="18" charset="0"/>
                <a:cs typeface="Times New Roman" panose="02020603050405020304" pitchFamily="18" charset="0"/>
              </a:rPr>
              <a:t>YA</a:t>
            </a:r>
            <a:endParaRPr lang="ru-RU"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8173E50-4161-060E-33A5-2273707642DE}"/>
              </a:ext>
            </a:extLst>
          </p:cNvPr>
          <p:cNvSpPr txBox="1"/>
          <p:nvPr/>
        </p:nvSpPr>
        <p:spPr>
          <a:xfrm>
            <a:off x="659331" y="860742"/>
            <a:ext cx="11232684" cy="830997"/>
          </a:xfrm>
          <a:prstGeom prst="rect">
            <a:avLst/>
          </a:prstGeom>
          <a:noFill/>
        </p:spPr>
        <p:txBody>
          <a:bodyPr wrap="square" rtlCol="0">
            <a:spAutoFit/>
          </a:bodyPr>
          <a:lstStyle/>
          <a:p>
            <a:r>
              <a:rPr lang="en-US" sz="2400" dirty="0" err="1">
                <a:solidFill>
                  <a:srgbClr val="00B0F0"/>
                </a:solidFill>
                <a:latin typeface="Times New Roman" panose="02020603050405020304" pitchFamily="18" charset="0"/>
                <a:cs typeface="Times New Roman" panose="02020603050405020304" pitchFamily="18" charset="0"/>
              </a:rPr>
              <a:t>Misol</a:t>
            </a:r>
            <a:r>
              <a:rPr lang="en-US" sz="2400" dirty="0">
                <a:solidFill>
                  <a:srgbClr val="00B0F0"/>
                </a:solidFill>
                <a:latin typeface="Times New Roman" panose="02020603050405020304" pitchFamily="18" charset="0"/>
                <a:cs typeface="Times New Roman" panose="02020603050405020304" pitchFamily="18" charset="0"/>
              </a:rPr>
              <a:t>: </a:t>
            </a:r>
            <a:r>
              <a:rPr lang="tr-TR" sz="2400" dirty="0">
                <a:latin typeface="Times New Roman" panose="02020603050405020304" pitchFamily="18" charset="0"/>
                <a:cs typeface="Times New Roman" panose="02020603050405020304" pitchFamily="18" charset="0"/>
              </a:rPr>
              <a:t>Sizda ikki nafar sotuvchi bor. Ikkalasi ham oyiga o‘rtacha </a:t>
            </a:r>
            <a:r>
              <a:rPr lang="tr-TR" sz="2400" b="1" dirty="0">
                <a:latin typeface="Times New Roman" panose="02020603050405020304" pitchFamily="18" charset="0"/>
                <a:cs typeface="Times New Roman" panose="02020603050405020304" pitchFamily="18" charset="0"/>
              </a:rPr>
              <a:t>100 ta</a:t>
            </a:r>
            <a:r>
              <a:rPr lang="tr-TR" sz="2400" dirty="0">
                <a:latin typeface="Times New Roman" panose="02020603050405020304" pitchFamily="18" charset="0"/>
                <a:cs typeface="Times New Roman" panose="02020603050405020304" pitchFamily="18" charset="0"/>
              </a:rPr>
              <a:t> mahsulot sotadi. Lekin ularning barqarorligi har xil.</a:t>
            </a:r>
            <a:endParaRPr lang="ru-RU" sz="2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2F3FB8D-922E-17D4-9FDA-6172B69B248F}"/>
              </a:ext>
            </a:extLst>
          </p:cNvPr>
          <p:cNvSpPr>
            <a:spLocks noChangeArrowheads="1"/>
          </p:cNvSpPr>
          <p:nvPr/>
        </p:nvSpPr>
        <p:spPr bwMode="auto">
          <a:xfrm>
            <a:off x="1155343" y="1631603"/>
            <a:ext cx="819006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dirty="0" err="1">
                <a:latin typeface="Times New Roman" panose="02020603050405020304" pitchFamily="18" charset="0"/>
                <a:cs typeface="Times New Roman" panose="02020603050405020304" pitchFamily="18" charset="0"/>
              </a:rPr>
              <a:t>Aziz</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Oylik</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sotuvi</a:t>
            </a:r>
            <a:r>
              <a:rPr lang="ru-RU" altLang="ru-RU" sz="2000" dirty="0">
                <a:latin typeface="Times New Roman" panose="02020603050405020304" pitchFamily="18" charset="0"/>
                <a:cs typeface="Times New Roman" panose="02020603050405020304" pitchFamily="18" charset="0"/>
              </a:rPr>
              <a:t>: 90, 100, 110. (</a:t>
            </a:r>
            <a:r>
              <a:rPr lang="ru-RU" altLang="ru-RU" sz="2000" dirty="0" err="1">
                <a:latin typeface="Times New Roman" panose="02020603050405020304" pitchFamily="18" charset="0"/>
                <a:cs typeface="Times New Roman" panose="02020603050405020304" pitchFamily="18" charset="0"/>
              </a:rPr>
              <a:t>O‘rtacha</a:t>
            </a:r>
            <a:r>
              <a:rPr lang="ru-RU" altLang="ru-RU" sz="2000" dirty="0">
                <a:latin typeface="Times New Roman" panose="02020603050405020304" pitchFamily="18" charset="0"/>
                <a:cs typeface="Times New Roman" panose="02020603050405020304" pitchFamily="18" charset="0"/>
              </a:rPr>
              <a:t>: 100, Standart </a:t>
            </a:r>
            <a:r>
              <a:rPr lang="ru-RU" altLang="ru-RU" sz="2000" dirty="0" err="1">
                <a:latin typeface="Times New Roman" panose="02020603050405020304" pitchFamily="18" charset="0"/>
                <a:cs typeface="Times New Roman" panose="02020603050405020304" pitchFamily="18" charset="0"/>
              </a:rPr>
              <a:t>chetlanish</a:t>
            </a:r>
            <a:r>
              <a:rPr lang="ru-RU" altLang="ru-RU" sz="2000" dirty="0">
                <a:latin typeface="Times New Roman" panose="02020603050405020304" pitchFamily="18" charset="0"/>
                <a:cs typeface="Times New Roman" panose="02020603050405020304" pitchFamily="18" charset="0"/>
              </a:rPr>
              <a:t>: 10).</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dirty="0" err="1">
                <a:latin typeface="Times New Roman" panose="02020603050405020304" pitchFamily="18" charset="0"/>
                <a:cs typeface="Times New Roman" panose="02020603050405020304" pitchFamily="18" charset="0"/>
              </a:rPr>
              <a:t>Bobur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Oylik</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sotuvi</a:t>
            </a:r>
            <a:r>
              <a:rPr lang="ru-RU" altLang="ru-RU" sz="2000" dirty="0">
                <a:latin typeface="Times New Roman" panose="02020603050405020304" pitchFamily="18" charset="0"/>
                <a:cs typeface="Times New Roman" panose="02020603050405020304" pitchFamily="18" charset="0"/>
              </a:rPr>
              <a:t>: 50, 100, 150. (</a:t>
            </a:r>
            <a:r>
              <a:rPr lang="ru-RU" altLang="ru-RU" sz="2000" dirty="0" err="1">
                <a:latin typeface="Times New Roman" panose="02020603050405020304" pitchFamily="18" charset="0"/>
                <a:cs typeface="Times New Roman" panose="02020603050405020304" pitchFamily="18" charset="0"/>
              </a:rPr>
              <a:t>O‘rtacha</a:t>
            </a:r>
            <a:r>
              <a:rPr lang="ru-RU" altLang="ru-RU" sz="2000" dirty="0">
                <a:latin typeface="Times New Roman" panose="02020603050405020304" pitchFamily="18" charset="0"/>
                <a:cs typeface="Times New Roman" panose="02020603050405020304" pitchFamily="18" charset="0"/>
              </a:rPr>
              <a:t>: 100, Standart </a:t>
            </a:r>
            <a:r>
              <a:rPr lang="ru-RU" altLang="ru-RU" sz="2000" dirty="0" err="1">
                <a:latin typeface="Times New Roman" panose="02020603050405020304" pitchFamily="18" charset="0"/>
                <a:cs typeface="Times New Roman" panose="02020603050405020304" pitchFamily="18" charset="0"/>
              </a:rPr>
              <a:t>chetlanish</a:t>
            </a:r>
            <a:r>
              <a:rPr lang="ru-RU" altLang="ru-RU" sz="2000" dirty="0">
                <a:latin typeface="Times New Roman" panose="02020603050405020304" pitchFamily="18" charset="0"/>
                <a:cs typeface="Times New Roman" panose="02020603050405020304" pitchFamily="18" charset="0"/>
              </a:rPr>
              <a:t>: 50).</a:t>
            </a:r>
          </a:p>
        </p:txBody>
      </p:sp>
      <p:sp>
        <p:nvSpPr>
          <p:cNvPr id="6" name="TextBox 5">
            <a:extLst>
              <a:ext uri="{FF2B5EF4-FFF2-40B4-BE49-F238E27FC236}">
                <a16:creationId xmlns:a16="http://schemas.microsoft.com/office/drawing/2014/main" id="{7EB954E7-CB77-1AE8-46B3-94A7ED3F8C9F}"/>
              </a:ext>
            </a:extLst>
          </p:cNvPr>
          <p:cNvSpPr txBox="1"/>
          <p:nvPr/>
        </p:nvSpPr>
        <p:spPr>
          <a:xfrm>
            <a:off x="567889" y="2522370"/>
            <a:ext cx="6097604" cy="400110"/>
          </a:xfrm>
          <a:prstGeom prst="rect">
            <a:avLst/>
          </a:prstGeom>
          <a:noFill/>
        </p:spPr>
        <p:txBody>
          <a:bodyPr wrap="square">
            <a:spAutoFit/>
          </a:bodyPr>
          <a:lstStyle/>
          <a:p>
            <a:r>
              <a:rPr lang="tr-TR" sz="2000" dirty="0">
                <a:solidFill>
                  <a:srgbClr val="FFC000"/>
                </a:solidFill>
                <a:latin typeface="Times New Roman" panose="02020603050405020304" pitchFamily="18" charset="0"/>
                <a:cs typeface="Times New Roman" panose="02020603050405020304" pitchFamily="18" charset="0"/>
              </a:rPr>
              <a:t>Variatsiyani hisoblaymiz:</a:t>
            </a:r>
            <a:endParaRPr lang="ru-RU" sz="2000" dirty="0">
              <a:solidFill>
                <a:srgbClr val="FFC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9D8E231-C895-5245-534C-BA91271178D7}"/>
              </a:ext>
            </a:extLst>
          </p:cNvPr>
          <p:cNvSpPr txBox="1"/>
          <p:nvPr/>
        </p:nvSpPr>
        <p:spPr>
          <a:xfrm>
            <a:off x="954897" y="2968191"/>
            <a:ext cx="609760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1 . </a:t>
            </a:r>
            <a:r>
              <a:rPr lang="tr-TR" dirty="0">
                <a:latin typeface="Times New Roman" panose="02020603050405020304" pitchFamily="18" charset="0"/>
                <a:cs typeface="Times New Roman" panose="02020603050405020304" pitchFamily="18" charset="0"/>
              </a:rPr>
              <a:t>Aziz:</a:t>
            </a:r>
            <a:endParaRPr lang="ru-RU" dirty="0">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40769697-0260-F520-2CAE-2AE470D52997}"/>
              </a:ext>
            </a:extLst>
          </p:cNvPr>
          <p:cNvPicPr>
            <a:picLocks noChangeAspect="1"/>
          </p:cNvPicPr>
          <p:nvPr/>
        </p:nvPicPr>
        <p:blipFill>
          <a:blip r:embed="rId2"/>
          <a:stretch>
            <a:fillRect/>
          </a:stretch>
        </p:blipFill>
        <p:spPr>
          <a:xfrm>
            <a:off x="4003699" y="3258949"/>
            <a:ext cx="2493353" cy="741694"/>
          </a:xfrm>
          <a:prstGeom prst="rect">
            <a:avLst/>
          </a:prstGeom>
          <a:ln>
            <a:solidFill>
              <a:srgbClr val="F3F3F3"/>
            </a:solidFill>
          </a:ln>
        </p:spPr>
      </p:pic>
      <p:sp>
        <p:nvSpPr>
          <p:cNvPr id="12" name="TextBox 11">
            <a:extLst>
              <a:ext uri="{FF2B5EF4-FFF2-40B4-BE49-F238E27FC236}">
                <a16:creationId xmlns:a16="http://schemas.microsoft.com/office/drawing/2014/main" id="{18CFBA8C-AD4B-06EC-1069-D1C57C7E629C}"/>
              </a:ext>
            </a:extLst>
          </p:cNvPr>
          <p:cNvSpPr txBox="1"/>
          <p:nvPr/>
        </p:nvSpPr>
        <p:spPr>
          <a:xfrm>
            <a:off x="954897" y="4106792"/>
            <a:ext cx="609760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2. </a:t>
            </a:r>
            <a:r>
              <a:rPr lang="tr-TR" dirty="0">
                <a:latin typeface="Times New Roman" panose="02020603050405020304" pitchFamily="18" charset="0"/>
                <a:cs typeface="Times New Roman" panose="02020603050405020304" pitchFamily="18" charset="0"/>
              </a:rPr>
              <a:t>Bobur:</a:t>
            </a:r>
            <a:endParaRPr lang="ru-RU" dirty="0">
              <a:latin typeface="Times New Roman" panose="02020603050405020304" pitchFamily="18" charset="0"/>
              <a:cs typeface="Times New Roman" panose="02020603050405020304" pitchFamily="18" charset="0"/>
            </a:endParaRPr>
          </a:p>
        </p:txBody>
      </p:sp>
      <p:pic>
        <p:nvPicPr>
          <p:cNvPr id="14" name="Рисунок 13">
            <a:extLst>
              <a:ext uri="{FF2B5EF4-FFF2-40B4-BE49-F238E27FC236}">
                <a16:creationId xmlns:a16="http://schemas.microsoft.com/office/drawing/2014/main" id="{58E1198B-9755-B8D4-1EE4-E3D05AEF0979}"/>
              </a:ext>
            </a:extLst>
          </p:cNvPr>
          <p:cNvPicPr>
            <a:picLocks noChangeAspect="1"/>
          </p:cNvPicPr>
          <p:nvPr/>
        </p:nvPicPr>
        <p:blipFill>
          <a:blip r:embed="rId3"/>
          <a:stretch>
            <a:fillRect/>
          </a:stretch>
        </p:blipFill>
        <p:spPr>
          <a:xfrm>
            <a:off x="3822826" y="4476124"/>
            <a:ext cx="2934109" cy="847843"/>
          </a:xfrm>
          <a:prstGeom prst="rect">
            <a:avLst/>
          </a:prstGeom>
          <a:ln>
            <a:solidFill>
              <a:srgbClr val="F3F3F3"/>
            </a:solidFill>
          </a:ln>
        </p:spPr>
      </p:pic>
      <p:sp>
        <p:nvSpPr>
          <p:cNvPr id="15" name="Rectangle 2">
            <a:extLst>
              <a:ext uri="{FF2B5EF4-FFF2-40B4-BE49-F238E27FC236}">
                <a16:creationId xmlns:a16="http://schemas.microsoft.com/office/drawing/2014/main" id="{7CEB4DB2-B049-5291-900E-A18D710FB3B6}"/>
              </a:ext>
            </a:extLst>
          </p:cNvPr>
          <p:cNvSpPr>
            <a:spLocks noChangeArrowheads="1"/>
          </p:cNvSpPr>
          <p:nvPr/>
        </p:nvSpPr>
        <p:spPr bwMode="auto">
          <a:xfrm>
            <a:off x="801158" y="5335538"/>
            <a:ext cx="1123268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ru-RU" sz="2000" dirty="0" err="1">
                <a:latin typeface="Times New Roman" panose="02020603050405020304" pitchFamily="18" charset="0"/>
                <a:cs typeface="Times New Roman" panose="02020603050405020304" pitchFamily="18" charset="0"/>
              </a:rPr>
              <a:t>Xulosa</a:t>
            </a:r>
            <a:r>
              <a:rPr lang="en-US" altLang="ru-RU" sz="2000" dirty="0">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dirty="0" err="1">
                <a:latin typeface="Times New Roman" panose="02020603050405020304" pitchFamily="18" charset="0"/>
                <a:cs typeface="Times New Roman" panose="02020603050405020304" pitchFamily="18" charset="0"/>
              </a:rPr>
              <a:t>Aziz</a:t>
            </a:r>
            <a:r>
              <a:rPr lang="ru-RU" altLang="ru-RU" sz="2000" dirty="0">
                <a:latin typeface="Times New Roman" panose="02020603050405020304" pitchFamily="18" charset="0"/>
                <a:cs typeface="Times New Roman" panose="02020603050405020304" pitchFamily="18" charset="0"/>
              </a:rPr>
              <a:t> — </a:t>
            </a:r>
            <a:r>
              <a:rPr lang="ru-RU" altLang="ru-RU" sz="2000" dirty="0" err="1">
                <a:latin typeface="Times New Roman" panose="02020603050405020304" pitchFamily="18" charset="0"/>
                <a:cs typeface="Times New Roman" panose="02020603050405020304" pitchFamily="18" charset="0"/>
              </a:rPr>
              <a:t>ishonchli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xodim</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Variatsiya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past</a:t>
            </a:r>
            <a:r>
              <a:rPr lang="ru-RU" altLang="ru-RU" sz="2000" dirty="0">
                <a:latin typeface="Times New Roman" panose="02020603050405020304" pitchFamily="18" charset="0"/>
                <a:cs typeface="Times New Roman" panose="02020603050405020304" pitchFamily="18" charset="0"/>
              </a:rPr>
              <a:t>). U </a:t>
            </a:r>
            <a:r>
              <a:rPr lang="ru-RU" altLang="ru-RU" sz="2000" dirty="0" err="1">
                <a:latin typeface="Times New Roman" panose="02020603050405020304" pitchFamily="18" charset="0"/>
                <a:cs typeface="Times New Roman" panose="02020603050405020304" pitchFamily="18" charset="0"/>
              </a:rPr>
              <a:t>keyingi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oyda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ham</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aniq</a:t>
            </a:r>
            <a:r>
              <a:rPr lang="ru-RU" altLang="ru-RU" sz="2000" dirty="0">
                <a:latin typeface="Times New Roman" panose="02020603050405020304" pitchFamily="18" charset="0"/>
                <a:cs typeface="Times New Roman" panose="02020603050405020304" pitchFamily="18" charset="0"/>
              </a:rPr>
              <a:t> 90-110 </a:t>
            </a:r>
            <a:r>
              <a:rPr lang="ru-RU" altLang="ru-RU" sz="2000" dirty="0" err="1">
                <a:latin typeface="Times New Roman" panose="02020603050405020304" pitchFamily="18" charset="0"/>
                <a:cs typeface="Times New Roman" panose="02020603050405020304" pitchFamily="18" charset="0"/>
              </a:rPr>
              <a:t>atrofida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sotadi</a:t>
            </a:r>
            <a:r>
              <a:rPr lang="ru-RU" altLang="ru-RU" sz="2000" dirty="0">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dirty="0" err="1">
                <a:latin typeface="Times New Roman" panose="02020603050405020304" pitchFamily="18" charset="0"/>
                <a:cs typeface="Times New Roman" panose="02020603050405020304" pitchFamily="18" charset="0"/>
              </a:rPr>
              <a:t>Bobur</a:t>
            </a:r>
            <a:r>
              <a:rPr lang="ru-RU" altLang="ru-RU" sz="2000" dirty="0">
                <a:latin typeface="Times New Roman" panose="02020603050405020304" pitchFamily="18" charset="0"/>
                <a:cs typeface="Times New Roman" panose="02020603050405020304" pitchFamily="18" charset="0"/>
              </a:rPr>
              <a:t> — </a:t>
            </a:r>
            <a:r>
              <a:rPr lang="ru-RU" altLang="ru-RU" sz="2000" dirty="0" err="1">
                <a:latin typeface="Times New Roman" panose="02020603050405020304" pitchFamily="18" charset="0"/>
                <a:cs typeface="Times New Roman" panose="02020603050405020304" pitchFamily="18" charset="0"/>
              </a:rPr>
              <a:t>xavfli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riskli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xodim</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Variatsiya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yuqori</a:t>
            </a:r>
            <a:r>
              <a:rPr lang="ru-RU" altLang="ru-RU" sz="2000" dirty="0">
                <a:latin typeface="Times New Roman" panose="02020603050405020304" pitchFamily="18" charset="0"/>
                <a:cs typeface="Times New Roman" panose="02020603050405020304" pitchFamily="18" charset="0"/>
              </a:rPr>
              <a:t>). U </a:t>
            </a:r>
            <a:r>
              <a:rPr lang="ru-RU" altLang="ru-RU" sz="2000" dirty="0" err="1">
                <a:latin typeface="Times New Roman" panose="02020603050405020304" pitchFamily="18" charset="0"/>
                <a:cs typeface="Times New Roman" panose="02020603050405020304" pitchFamily="18" charset="0"/>
              </a:rPr>
              <a:t>keyingi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oy</a:t>
            </a:r>
            <a:r>
              <a:rPr lang="ru-RU" altLang="ru-RU" sz="2000" dirty="0">
                <a:latin typeface="Times New Roman" panose="02020603050405020304" pitchFamily="18" charset="0"/>
                <a:cs typeface="Times New Roman" panose="02020603050405020304" pitchFamily="18" charset="0"/>
              </a:rPr>
              <a:t> 150 </a:t>
            </a:r>
            <a:r>
              <a:rPr lang="ru-RU" altLang="ru-RU" sz="2000" dirty="0" err="1">
                <a:latin typeface="Times New Roman" panose="02020603050405020304" pitchFamily="18" charset="0"/>
                <a:cs typeface="Times New Roman" panose="02020603050405020304" pitchFamily="18" charset="0"/>
              </a:rPr>
              <a:t>ta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sotishi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ham</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mumkin</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lekin</a:t>
            </a:r>
            <a:r>
              <a:rPr lang="ru-RU" altLang="ru-RU" sz="2000" dirty="0">
                <a:latin typeface="Times New Roman" panose="02020603050405020304" pitchFamily="18" charset="0"/>
                <a:cs typeface="Times New Roman" panose="02020603050405020304" pitchFamily="18" charset="0"/>
              </a:rPr>
              <a:t> 50 </a:t>
            </a:r>
            <a:r>
              <a:rPr lang="ru-RU" altLang="ru-RU" sz="2000" dirty="0" err="1">
                <a:latin typeface="Times New Roman" panose="02020603050405020304" pitchFamily="18" charset="0"/>
                <a:cs typeface="Times New Roman" panose="02020603050405020304" pitchFamily="18" charset="0"/>
              </a:rPr>
              <a:t>taga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tushib</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ketishi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ham</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mumkin</a:t>
            </a:r>
            <a:r>
              <a:rPr lang="ru-RU" altLang="ru-RU"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77605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A5F622-ED37-4FD1-4C72-6DBA3582CD94}"/>
              </a:ext>
            </a:extLst>
          </p:cNvPr>
          <p:cNvSpPr txBox="1"/>
          <p:nvPr/>
        </p:nvSpPr>
        <p:spPr>
          <a:xfrm>
            <a:off x="659331" y="964019"/>
            <a:ext cx="5198859" cy="523220"/>
          </a:xfrm>
          <a:prstGeom prst="rect">
            <a:avLst/>
          </a:prstGeom>
          <a:noFill/>
        </p:spPr>
        <p:txBody>
          <a:bodyPr wrap="none" rtlCol="0">
            <a:spAutoFit/>
          </a:bodyPr>
          <a:lstStyle/>
          <a:p>
            <a:r>
              <a:rPr lang="en-US" sz="2800" i="1" dirty="0" err="1">
                <a:latin typeface="Times New Roman" panose="02020603050405020304" pitchFamily="18" charset="0"/>
                <a:cs typeface="Times New Roman" panose="02020603050405020304" pitchFamily="18" charset="0"/>
              </a:rPr>
              <a:t>Mustaqil</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ishlash</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uchun</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masalalar</a:t>
            </a:r>
            <a:r>
              <a:rPr lang="en-US" sz="2800" i="1" dirty="0">
                <a:latin typeface="Times New Roman" panose="02020603050405020304" pitchFamily="18" charset="0"/>
                <a:cs typeface="Times New Roman" panose="02020603050405020304" pitchFamily="18" charset="0"/>
              </a:rPr>
              <a:t>:</a:t>
            </a:r>
            <a:endParaRPr lang="ru-RU" sz="2800"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70A4C1F-A83D-A9C6-F9DF-A1188739C549}"/>
              </a:ext>
            </a:extLst>
          </p:cNvPr>
          <p:cNvSpPr txBox="1"/>
          <p:nvPr/>
        </p:nvSpPr>
        <p:spPr>
          <a:xfrm>
            <a:off x="659331" y="185994"/>
            <a:ext cx="6097604" cy="646331"/>
          </a:xfrm>
          <a:prstGeom prst="rect">
            <a:avLst/>
          </a:prstGeom>
          <a:noFill/>
        </p:spPr>
        <p:txBody>
          <a:bodyPr wrap="square">
            <a:spAutoFit/>
          </a:bodyPr>
          <a:lstStyle/>
          <a:p>
            <a:r>
              <a:rPr lang="tr-TR" sz="3600" b="1" dirty="0">
                <a:latin typeface="Times New Roman" panose="02020603050405020304" pitchFamily="18" charset="0"/>
                <a:cs typeface="Times New Roman" panose="02020603050405020304" pitchFamily="18" charset="0"/>
              </a:rPr>
              <a:t>VAR</a:t>
            </a:r>
            <a:r>
              <a:rPr lang="en-US" sz="3600" b="1" dirty="0">
                <a:latin typeface="Times New Roman" panose="02020603050405020304" pitchFamily="18" charset="0"/>
                <a:cs typeface="Times New Roman" panose="02020603050405020304" pitchFamily="18" charset="0"/>
              </a:rPr>
              <a:t>I</a:t>
            </a:r>
            <a:r>
              <a:rPr lang="tr-TR" sz="3600" b="1" dirty="0">
                <a:latin typeface="Times New Roman" panose="02020603050405020304" pitchFamily="18" charset="0"/>
                <a:cs typeface="Times New Roman" panose="02020603050405020304" pitchFamily="18" charset="0"/>
              </a:rPr>
              <a:t>ATS</a:t>
            </a:r>
            <a:r>
              <a:rPr lang="en-US" sz="3600" b="1" dirty="0">
                <a:latin typeface="Times New Roman" panose="02020603050405020304" pitchFamily="18" charset="0"/>
                <a:cs typeface="Times New Roman" panose="02020603050405020304" pitchFamily="18" charset="0"/>
              </a:rPr>
              <a:t>I</a:t>
            </a:r>
            <a:r>
              <a:rPr lang="tr-TR" sz="3600" b="1" dirty="0">
                <a:latin typeface="Times New Roman" panose="02020603050405020304" pitchFamily="18" charset="0"/>
                <a:cs typeface="Times New Roman" panose="02020603050405020304" pitchFamily="18" charset="0"/>
              </a:rPr>
              <a:t>YA</a:t>
            </a:r>
            <a:endParaRPr lang="ru-RU"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C16A167-1FDD-6E52-483E-30951E1B4026}"/>
              </a:ext>
            </a:extLst>
          </p:cNvPr>
          <p:cNvSpPr txBox="1"/>
          <p:nvPr/>
        </p:nvSpPr>
        <p:spPr>
          <a:xfrm>
            <a:off x="659331" y="1497950"/>
            <a:ext cx="10640728" cy="400110"/>
          </a:xfrm>
          <a:prstGeom prst="rect">
            <a:avLst/>
          </a:prstGeom>
          <a:noFill/>
        </p:spPr>
        <p:txBody>
          <a:bodyPr wrap="square">
            <a:spAutoFit/>
          </a:bodyPr>
          <a:lstStyle/>
          <a:p>
            <a:r>
              <a:rPr lang="nn-NO" sz="2000" dirty="0">
                <a:solidFill>
                  <a:srgbClr val="00B0F0"/>
                </a:solidFill>
                <a:latin typeface="Times New Roman" panose="02020603050405020304" pitchFamily="18" charset="0"/>
                <a:cs typeface="Times New Roman" panose="02020603050405020304" pitchFamily="18" charset="0"/>
              </a:rPr>
              <a:t>1-masala: </a:t>
            </a:r>
            <a:r>
              <a:rPr lang="nn-NO" sz="2000" dirty="0">
                <a:latin typeface="Times New Roman" panose="02020603050405020304" pitchFamily="18" charset="0"/>
                <a:cs typeface="Times New Roman" panose="02020603050405020304" pitchFamily="18" charset="0"/>
              </a:rPr>
              <a:t>Ikki xil investitsiya loyihasining 4 oylik daromadlari (million so‘mda) keltirilgan. </a:t>
            </a:r>
            <a:endParaRPr lang="ru-RU" sz="2000"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CC93A7C3-292C-526B-A5B4-EF4E695E0D63}"/>
              </a:ext>
            </a:extLst>
          </p:cNvPr>
          <p:cNvSpPr>
            <a:spLocks noChangeArrowheads="1"/>
          </p:cNvSpPr>
          <p:nvPr/>
        </p:nvSpPr>
        <p:spPr bwMode="auto">
          <a:xfrm>
            <a:off x="1132573" y="1908771"/>
            <a:ext cx="5223738"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dirty="0" err="1">
                <a:latin typeface="Times New Roman" panose="02020603050405020304" pitchFamily="18" charset="0"/>
                <a:cs typeface="Times New Roman" panose="02020603050405020304" pitchFamily="18" charset="0"/>
              </a:rPr>
              <a:t>Loyiha</a:t>
            </a:r>
            <a:r>
              <a:rPr lang="ru-RU" altLang="ru-RU" sz="2000" dirty="0">
                <a:latin typeface="Times New Roman" panose="02020603050405020304" pitchFamily="18" charset="0"/>
                <a:cs typeface="Times New Roman" panose="02020603050405020304" pitchFamily="18" charset="0"/>
              </a:rPr>
              <a:t> A (</a:t>
            </a:r>
            <a:r>
              <a:rPr lang="ru-RU" altLang="ru-RU" sz="2000" dirty="0" err="1">
                <a:latin typeface="Times New Roman" panose="02020603050405020304" pitchFamily="18" charset="0"/>
                <a:cs typeface="Times New Roman" panose="02020603050405020304" pitchFamily="18" charset="0"/>
              </a:rPr>
              <a:t>Kichik</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sarmoya</a:t>
            </a:r>
            <a:r>
              <a:rPr lang="ru-RU" altLang="ru-RU" sz="2000" dirty="0">
                <a:latin typeface="Times New Roman" panose="02020603050405020304" pitchFamily="18" charset="0"/>
                <a:cs typeface="Times New Roman" panose="02020603050405020304" pitchFamily="18" charset="0"/>
              </a:rPr>
              <a:t>): 5, 7, 8, 10</a:t>
            </a:r>
            <a:endParaRPr lang="en-US" altLang="ru-RU" sz="2000"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ru-RU" altLang="ru-RU" sz="2000" dirty="0" err="1">
                <a:latin typeface="Times New Roman" panose="02020603050405020304" pitchFamily="18" charset="0"/>
                <a:cs typeface="Times New Roman" panose="02020603050405020304" pitchFamily="18" charset="0"/>
              </a:rPr>
              <a:t>Loyiha</a:t>
            </a:r>
            <a:r>
              <a:rPr lang="ru-RU" altLang="ru-RU" sz="2000" dirty="0">
                <a:latin typeface="Times New Roman" panose="02020603050405020304" pitchFamily="18" charset="0"/>
                <a:cs typeface="Times New Roman" panose="02020603050405020304" pitchFamily="18" charset="0"/>
              </a:rPr>
              <a:t> B (</a:t>
            </a:r>
            <a:r>
              <a:rPr lang="ru-RU" altLang="ru-RU" sz="2000" dirty="0" err="1">
                <a:latin typeface="Times New Roman" panose="02020603050405020304" pitchFamily="18" charset="0"/>
                <a:cs typeface="Times New Roman" panose="02020603050405020304" pitchFamily="18" charset="0"/>
              </a:rPr>
              <a:t>Katta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sarmoya</a:t>
            </a:r>
            <a:r>
              <a:rPr lang="ru-RU" altLang="ru-RU" sz="2000" dirty="0">
                <a:latin typeface="Times New Roman" panose="02020603050405020304" pitchFamily="18" charset="0"/>
                <a:cs typeface="Times New Roman" panose="02020603050405020304" pitchFamily="18" charset="0"/>
              </a:rPr>
              <a:t>): 100, 102, 103, 105</a:t>
            </a:r>
          </a:p>
        </p:txBody>
      </p:sp>
      <p:sp>
        <p:nvSpPr>
          <p:cNvPr id="8" name="TextBox 7">
            <a:extLst>
              <a:ext uri="{FF2B5EF4-FFF2-40B4-BE49-F238E27FC236}">
                <a16:creationId xmlns:a16="http://schemas.microsoft.com/office/drawing/2014/main" id="{C8E59BAA-69FF-F416-E6E7-94CEAF839D63}"/>
              </a:ext>
            </a:extLst>
          </p:cNvPr>
          <p:cNvSpPr txBox="1"/>
          <p:nvPr/>
        </p:nvSpPr>
        <p:spPr>
          <a:xfrm>
            <a:off x="659331" y="2467432"/>
            <a:ext cx="10400096" cy="369332"/>
          </a:xfrm>
          <a:prstGeom prst="rect">
            <a:avLst/>
          </a:prstGeom>
          <a:noFill/>
        </p:spPr>
        <p:txBody>
          <a:bodyPr wrap="square">
            <a:spAutoFit/>
          </a:bodyPr>
          <a:lstStyle/>
          <a:p>
            <a:r>
              <a:rPr lang="tr-TR" b="1" dirty="0">
                <a:solidFill>
                  <a:srgbClr val="FFC000"/>
                </a:solidFill>
                <a:latin typeface="Times New Roman" panose="02020603050405020304" pitchFamily="18" charset="0"/>
                <a:cs typeface="Times New Roman" panose="02020603050405020304" pitchFamily="18" charset="0"/>
              </a:rPr>
              <a:t>Savol:</a:t>
            </a:r>
            <a:r>
              <a:rPr lang="tr-TR" dirty="0">
                <a:solidFill>
                  <a:srgbClr val="FFC000"/>
                </a:solidFill>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Variatsiya qoidasiga ko‘ra, qaysi loyiha </a:t>
            </a:r>
            <a:r>
              <a:rPr lang="tr-TR" b="1" dirty="0">
                <a:latin typeface="Times New Roman" panose="02020603050405020304" pitchFamily="18" charset="0"/>
                <a:cs typeface="Times New Roman" panose="02020603050405020304" pitchFamily="18" charset="0"/>
              </a:rPr>
              <a:t>nisbatan barqaror (kam riskli)</a:t>
            </a:r>
            <a:r>
              <a:rPr lang="tr-TR" dirty="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C59D7D7-5509-BB45-B9AE-2FE9729B5B60}"/>
              </a:ext>
            </a:extLst>
          </p:cNvPr>
          <p:cNvSpPr txBox="1"/>
          <p:nvPr/>
        </p:nvSpPr>
        <p:spPr>
          <a:xfrm>
            <a:off x="659331" y="2847504"/>
            <a:ext cx="10640728" cy="400110"/>
          </a:xfrm>
          <a:prstGeom prst="rect">
            <a:avLst/>
          </a:prstGeom>
          <a:noFill/>
        </p:spPr>
        <p:txBody>
          <a:bodyPr wrap="square">
            <a:spAutoFit/>
          </a:bodyPr>
          <a:lstStyle/>
          <a:p>
            <a:r>
              <a:rPr lang="nn-NO" sz="2000" dirty="0">
                <a:solidFill>
                  <a:srgbClr val="00B0F0"/>
                </a:solidFill>
                <a:latin typeface="Times New Roman" panose="02020603050405020304" pitchFamily="18" charset="0"/>
                <a:cs typeface="Times New Roman" panose="02020603050405020304" pitchFamily="18" charset="0"/>
              </a:rPr>
              <a:t>2-masala: </a:t>
            </a:r>
            <a:r>
              <a:rPr lang="nn-NO" sz="2000" dirty="0">
                <a:latin typeface="Times New Roman" panose="02020603050405020304" pitchFamily="18" charset="0"/>
                <a:cs typeface="Times New Roman" panose="02020603050405020304" pitchFamily="18" charset="0"/>
              </a:rPr>
              <a:t>I</a:t>
            </a:r>
            <a:r>
              <a:rPr lang="tr-TR" sz="2000" dirty="0">
                <a:latin typeface="Times New Roman" panose="02020603050405020304" pitchFamily="18" charset="0"/>
                <a:cs typeface="Times New Roman" panose="02020603050405020304" pitchFamily="18" charset="0"/>
              </a:rPr>
              <a:t>kki hududning so‘nggi 5 yildagi inflyatsiya ko‘rsatkichlari (% da). </a:t>
            </a:r>
            <a:endParaRPr lang="ru-RU" sz="2000"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id="{3304199F-DC1E-1A38-5641-FA95C462C500}"/>
              </a:ext>
            </a:extLst>
          </p:cNvPr>
          <p:cNvSpPr>
            <a:spLocks noChangeArrowheads="1"/>
          </p:cNvSpPr>
          <p:nvPr/>
        </p:nvSpPr>
        <p:spPr bwMode="auto">
          <a:xfrm>
            <a:off x="659331" y="3194393"/>
            <a:ext cx="4785541"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800100" lvl="1" indent="-342900" defTabSz="914400" eaLnBrk="0" fontAlgn="base" hangingPunct="0">
              <a:spcBef>
                <a:spcPct val="0"/>
              </a:spcBef>
              <a:spcAft>
                <a:spcPct val="0"/>
              </a:spcAft>
              <a:buFont typeface="Wingdings" panose="05000000000000000000" pitchFamily="2" charset="2"/>
              <a:buChar char="§"/>
            </a:pPr>
            <a:r>
              <a:rPr lang="ru-RU" altLang="ru-RU" sz="2000" dirty="0" err="1">
                <a:latin typeface="Times New Roman" panose="02020603050405020304" pitchFamily="18" charset="0"/>
                <a:cs typeface="Times New Roman" panose="02020603050405020304" pitchFamily="18" charset="0"/>
              </a:rPr>
              <a:t>Hudud</a:t>
            </a:r>
            <a:r>
              <a:rPr lang="ru-RU" altLang="ru-RU" sz="2000" dirty="0">
                <a:latin typeface="Times New Roman" panose="02020603050405020304" pitchFamily="18" charset="0"/>
                <a:cs typeface="Times New Roman" panose="02020603050405020304" pitchFamily="18" charset="0"/>
              </a:rPr>
              <a:t> E: 11.5, 12.0, 11.2, 12.5, 10.8</a:t>
            </a:r>
            <a:endParaRPr lang="en-US" altLang="ru-RU" sz="2000" dirty="0">
              <a:latin typeface="Times New Roman" panose="02020603050405020304" pitchFamily="18" charset="0"/>
              <a:cs typeface="Times New Roman" panose="02020603050405020304" pitchFamily="18" charset="0"/>
            </a:endParaRPr>
          </a:p>
          <a:p>
            <a:pPr marL="800100" lvl="1" indent="-342900" defTabSz="914400" eaLnBrk="0" fontAlgn="base" hangingPunct="0">
              <a:spcBef>
                <a:spcPct val="0"/>
              </a:spcBef>
              <a:spcAft>
                <a:spcPct val="0"/>
              </a:spcAft>
              <a:buFont typeface="Wingdings" panose="05000000000000000000" pitchFamily="2" charset="2"/>
              <a:buChar char="§"/>
            </a:pPr>
            <a:r>
              <a:rPr lang="ru-RU" altLang="ru-RU" sz="2000" dirty="0" err="1">
                <a:latin typeface="Times New Roman" panose="02020603050405020304" pitchFamily="18" charset="0"/>
                <a:cs typeface="Times New Roman" panose="02020603050405020304" pitchFamily="18" charset="0"/>
              </a:rPr>
              <a:t>Hudud</a:t>
            </a:r>
            <a:r>
              <a:rPr lang="ru-RU" altLang="ru-RU" sz="2000" dirty="0">
                <a:latin typeface="Times New Roman" panose="02020603050405020304" pitchFamily="18" charset="0"/>
                <a:cs typeface="Times New Roman" panose="02020603050405020304" pitchFamily="18" charset="0"/>
              </a:rPr>
              <a:t> F: 10.0, 15.0, 12.0, 9.0, 14.0</a:t>
            </a:r>
            <a:endParaRPr lang="en-US" altLang="ru-RU"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D4A49C-F097-1047-CFD9-5BBDDD800409}"/>
              </a:ext>
            </a:extLst>
          </p:cNvPr>
          <p:cNvSpPr txBox="1"/>
          <p:nvPr/>
        </p:nvSpPr>
        <p:spPr>
          <a:xfrm>
            <a:off x="659331" y="3782590"/>
            <a:ext cx="11192148" cy="400110"/>
          </a:xfrm>
          <a:prstGeom prst="rect">
            <a:avLst/>
          </a:prstGeom>
          <a:noFill/>
        </p:spPr>
        <p:txBody>
          <a:bodyPr wrap="square">
            <a:spAutoFit/>
          </a:bodyPr>
          <a:lstStyle/>
          <a:p>
            <a:pPr lvl="1" defTabSz="914400" eaLnBrk="0" fontAlgn="base" hangingPunct="0">
              <a:spcBef>
                <a:spcPct val="0"/>
              </a:spcBef>
              <a:spcAft>
                <a:spcPct val="0"/>
              </a:spcAft>
            </a:pPr>
            <a:r>
              <a:rPr lang="ru-RU" altLang="ru-RU" sz="2000" b="1" dirty="0" err="1">
                <a:solidFill>
                  <a:srgbClr val="FFC000"/>
                </a:solidFill>
                <a:latin typeface="Times New Roman" panose="02020603050405020304" pitchFamily="18" charset="0"/>
                <a:cs typeface="Times New Roman" panose="02020603050405020304" pitchFamily="18" charset="0"/>
              </a:rPr>
              <a:t>Savol</a:t>
            </a:r>
            <a:r>
              <a:rPr lang="ru-RU" altLang="ru-RU" sz="2000" b="1" dirty="0">
                <a:solidFill>
                  <a:srgbClr val="FFC000"/>
                </a:solidFill>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Qaysi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hududning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iqtisodiyoti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kamroq</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o‘zgaruvchanlikka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ega</a:t>
            </a:r>
            <a:r>
              <a:rPr lang="ru-RU" altLang="ru-RU" sz="2000" dirty="0">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62E548A0-5D3B-CA85-D2D5-F0191CCCFCB8}"/>
              </a:ext>
            </a:extLst>
          </p:cNvPr>
          <p:cNvSpPr txBox="1"/>
          <p:nvPr/>
        </p:nvSpPr>
        <p:spPr>
          <a:xfrm>
            <a:off x="659331" y="4363733"/>
            <a:ext cx="10640728" cy="707886"/>
          </a:xfrm>
          <a:prstGeom prst="rect">
            <a:avLst/>
          </a:prstGeom>
          <a:noFill/>
        </p:spPr>
        <p:txBody>
          <a:bodyPr wrap="square">
            <a:spAutoFit/>
          </a:bodyPr>
          <a:lstStyle/>
          <a:p>
            <a:r>
              <a:rPr lang="nn-NO" sz="2000" dirty="0">
                <a:solidFill>
                  <a:srgbClr val="00B0F0"/>
                </a:solidFill>
                <a:latin typeface="Times New Roman" panose="02020603050405020304" pitchFamily="18" charset="0"/>
                <a:cs typeface="Times New Roman" panose="02020603050405020304" pitchFamily="18" charset="0"/>
              </a:rPr>
              <a:t>3-masala: </a:t>
            </a:r>
            <a:r>
              <a:rPr lang="tr-TR" sz="2000" dirty="0">
                <a:latin typeface="Times New Roman" panose="02020603050405020304" pitchFamily="18" charset="0"/>
                <a:cs typeface="Times New Roman" panose="02020603050405020304" pitchFamily="18" charset="0"/>
              </a:rPr>
              <a:t>Ikki basketbolchining so‘nggi 5 o‘yindagi to‘plagan ochkolari. Ikkalasi ham o‘rtacha bir xil ochko to‘plashi ma'lum (lekin CV buni o‘zgartiradi).</a:t>
            </a:r>
            <a:endParaRPr lang="ru-RU" sz="2000" dirty="0">
              <a:latin typeface="Times New Roman" panose="02020603050405020304" pitchFamily="18" charset="0"/>
              <a:cs typeface="Times New Roman" panose="02020603050405020304" pitchFamily="18" charset="0"/>
            </a:endParaRPr>
          </a:p>
        </p:txBody>
      </p:sp>
      <p:sp>
        <p:nvSpPr>
          <p:cNvPr id="14" name="Rectangle 3">
            <a:extLst>
              <a:ext uri="{FF2B5EF4-FFF2-40B4-BE49-F238E27FC236}">
                <a16:creationId xmlns:a16="http://schemas.microsoft.com/office/drawing/2014/main" id="{71709CC0-65E1-8FB6-6B21-FA9A976716E7}"/>
              </a:ext>
            </a:extLst>
          </p:cNvPr>
          <p:cNvSpPr>
            <a:spLocks noChangeArrowheads="1"/>
          </p:cNvSpPr>
          <p:nvPr/>
        </p:nvSpPr>
        <p:spPr bwMode="auto">
          <a:xfrm>
            <a:off x="659331" y="5071619"/>
            <a:ext cx="4237057"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ru-RU" altLang="ru-RU"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Sportchi</a:t>
            </a:r>
            <a:r>
              <a:rPr kumimoji="0" lang="ru-RU" altLang="ru-RU"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 (</a:t>
            </a:r>
            <a:r>
              <a:rPr kumimoji="0" lang="ru-RU" altLang="ru-RU"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Barqaror</a:t>
            </a:r>
            <a:r>
              <a:rPr kumimoji="0" lang="ru-RU" altLang="ru-RU"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18, 20, 22, 19, 21</a:t>
            </a:r>
            <a:endParaRPr kumimoji="0" lang="en-US" altLang="ru-RU"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ru-RU" altLang="ru-RU"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Sportchi</a:t>
            </a:r>
            <a:r>
              <a:rPr kumimoji="0" lang="ru-RU" altLang="ru-RU"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 (</a:t>
            </a:r>
            <a:r>
              <a:rPr kumimoji="0" lang="ru-RU" altLang="ru-RU"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Xavfli</a:t>
            </a:r>
            <a:r>
              <a:rPr kumimoji="0" lang="ru-RU" altLang="ru-RU"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10, 15, 20, 25, 30</a:t>
            </a:r>
          </a:p>
        </p:txBody>
      </p:sp>
      <p:sp>
        <p:nvSpPr>
          <p:cNvPr id="16" name="TextBox 15">
            <a:extLst>
              <a:ext uri="{FF2B5EF4-FFF2-40B4-BE49-F238E27FC236}">
                <a16:creationId xmlns:a16="http://schemas.microsoft.com/office/drawing/2014/main" id="{A8888BAE-79EB-AE5D-163C-E0659814EEDE}"/>
              </a:ext>
            </a:extLst>
          </p:cNvPr>
          <p:cNvSpPr txBox="1"/>
          <p:nvPr/>
        </p:nvSpPr>
        <p:spPr>
          <a:xfrm>
            <a:off x="659331" y="5867175"/>
            <a:ext cx="9276636" cy="400110"/>
          </a:xfrm>
          <a:prstGeom prst="rect">
            <a:avLst/>
          </a:prstGeom>
          <a:noFill/>
        </p:spPr>
        <p:txBody>
          <a:bodyPr wrap="square">
            <a:spAutoFit/>
          </a:bodyPr>
          <a:lstStyle/>
          <a:p>
            <a:r>
              <a:rPr lang="tr-TR" sz="2000" b="1" dirty="0">
                <a:solidFill>
                  <a:srgbClr val="FFC000"/>
                </a:solidFill>
                <a:latin typeface="Times New Roman" panose="02020603050405020304" pitchFamily="18" charset="0"/>
                <a:cs typeface="Times New Roman" panose="02020603050405020304" pitchFamily="18" charset="0"/>
              </a:rPr>
              <a:t>Savol:</a:t>
            </a:r>
            <a:r>
              <a:rPr lang="tr-TR" sz="2000" dirty="0">
                <a:solidFill>
                  <a:srgbClr val="FFC00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Qaysi sportchi jamoa uchun </a:t>
            </a:r>
            <a:r>
              <a:rPr lang="tr-TR" sz="2000" b="1" dirty="0">
                <a:latin typeface="Times New Roman" panose="02020603050405020304" pitchFamily="18" charset="0"/>
                <a:cs typeface="Times New Roman" panose="02020603050405020304" pitchFamily="18" charset="0"/>
              </a:rPr>
              <a:t>ko‘proq ishonchli</a:t>
            </a:r>
            <a:r>
              <a:rPr lang="tr-TR" sz="2000" dirty="0">
                <a:latin typeface="Times New Roman" panose="02020603050405020304" pitchFamily="18" charset="0"/>
                <a:cs typeface="Times New Roman" panose="02020603050405020304" pitchFamily="18" charset="0"/>
              </a:rPr>
              <a:t> (natijalari kamroq o‘zgaradi)?</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23540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105AC7-B258-CE1C-873F-E89133832A05}"/>
              </a:ext>
            </a:extLst>
          </p:cNvPr>
          <p:cNvSpPr txBox="1"/>
          <p:nvPr/>
        </p:nvSpPr>
        <p:spPr>
          <a:xfrm>
            <a:off x="684087" y="351333"/>
            <a:ext cx="8267407"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STATISTIKA: SHAKL O’LCHOVI</a:t>
            </a:r>
          </a:p>
        </p:txBody>
      </p:sp>
      <p:sp>
        <p:nvSpPr>
          <p:cNvPr id="4" name="TextBox 3">
            <a:extLst>
              <a:ext uri="{FF2B5EF4-FFF2-40B4-BE49-F238E27FC236}">
                <a16:creationId xmlns:a16="http://schemas.microsoft.com/office/drawing/2014/main" id="{063F5CE7-786C-B736-E396-1670C7F067B1}"/>
              </a:ext>
            </a:extLst>
          </p:cNvPr>
          <p:cNvSpPr txBox="1"/>
          <p:nvPr/>
        </p:nvSpPr>
        <p:spPr>
          <a:xfrm>
            <a:off x="684087" y="1313085"/>
            <a:ext cx="11020233" cy="1200329"/>
          </a:xfrm>
          <a:prstGeom prst="rect">
            <a:avLst/>
          </a:prstGeom>
          <a:noFill/>
        </p:spPr>
        <p:txBody>
          <a:bodyPr wrap="square">
            <a:spAutoFit/>
          </a:bodyPr>
          <a:lstStyle/>
          <a:p>
            <a:r>
              <a:rPr lang="en-US" sz="2400" b="1" dirty="0" err="1">
                <a:solidFill>
                  <a:srgbClr val="FFC000"/>
                </a:solidFill>
                <a:latin typeface="Times New Roman" panose="02020603050405020304" pitchFamily="18" charset="0"/>
                <a:cs typeface="Times New Roman" panose="02020603050405020304" pitchFamily="18" charset="0"/>
              </a:rPr>
              <a:t>Shakl</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O‘lchovi</a:t>
            </a:r>
            <a:r>
              <a:rPr lang="en-US" sz="2400" dirty="0">
                <a:solidFill>
                  <a:srgbClr val="FFC000"/>
                </a:solidFill>
                <a:latin typeface="Times New Roman" panose="02020603050405020304" pitchFamily="18" charset="0"/>
                <a:cs typeface="Times New Roman" panose="02020603050405020304" pitchFamily="18" charset="0"/>
              </a:rPr>
              <a:t> (Measure of Shape) - </a:t>
            </a:r>
            <a:r>
              <a:rPr lang="tr-TR" sz="2400" dirty="0">
                <a:latin typeface="Times New Roman" panose="02020603050405020304" pitchFamily="18" charset="0"/>
                <a:cs typeface="Times New Roman" panose="02020603050405020304" pitchFamily="18" charset="0"/>
              </a:rPr>
              <a:t>bu statistikada ma’lumotlar </a:t>
            </a:r>
            <a:r>
              <a:rPr lang="tr-TR" sz="2400" b="1" dirty="0">
                <a:latin typeface="Times New Roman" panose="02020603050405020304" pitchFamily="18" charset="0"/>
                <a:cs typeface="Times New Roman" panose="02020603050405020304" pitchFamily="18" charset="0"/>
              </a:rPr>
              <a:t>taqsimoti (distribution)</a:t>
            </a:r>
            <a:r>
              <a:rPr lang="tr-TR" sz="2400" dirty="0">
                <a:latin typeface="Times New Roman" panose="02020603050405020304" pitchFamily="18" charset="0"/>
                <a:cs typeface="Times New Roman" panose="02020603050405020304" pitchFamily="18" charset="0"/>
              </a:rPr>
              <a:t> ning ko‘rinishini, ya’ni uning qanday shaklga egaligini aniqlaydigan metrikalar to‘plamidir.</a:t>
            </a:r>
            <a:endParaRPr lang="ru-RU" sz="2400" dirty="0">
              <a:solidFill>
                <a:srgbClr val="FFC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A0886B1-C4ED-C266-ACA1-0B269C2BE930}"/>
              </a:ext>
            </a:extLst>
          </p:cNvPr>
          <p:cNvSpPr txBox="1"/>
          <p:nvPr/>
        </p:nvSpPr>
        <p:spPr>
          <a:xfrm>
            <a:off x="684087" y="2597828"/>
            <a:ext cx="11087610" cy="1200329"/>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Bu o‘lchovlar ma’lumotlarning faqatgina o‘rtacha qiymat atrofida qanchalik tarqoq (dispersion) ekanligini emas, balki tarqalishning </a:t>
            </a:r>
            <a:r>
              <a:rPr lang="tr-TR" sz="2400" b="1" dirty="0">
                <a:latin typeface="Times New Roman" panose="02020603050405020304" pitchFamily="18" charset="0"/>
                <a:cs typeface="Times New Roman" panose="02020603050405020304" pitchFamily="18" charset="0"/>
              </a:rPr>
              <a:t>simmetrik yoki qiyshayganligini</a:t>
            </a:r>
            <a:r>
              <a:rPr lang="tr-TR" sz="2400" dirty="0">
                <a:latin typeface="Times New Roman" panose="02020603050405020304" pitchFamily="18" charset="0"/>
                <a:cs typeface="Times New Roman" panose="02020603050405020304" pitchFamily="18" charset="0"/>
              </a:rPr>
              <a:t> ko‘rsatadi.</a:t>
            </a:r>
            <a:endParaRPr lang="ru-RU"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A3928F0-E151-8975-6BA6-0C9FCED5537F}"/>
              </a:ext>
            </a:extLst>
          </p:cNvPr>
          <p:cNvSpPr txBox="1"/>
          <p:nvPr/>
        </p:nvSpPr>
        <p:spPr>
          <a:xfrm>
            <a:off x="684087" y="3973155"/>
            <a:ext cx="9685421" cy="461665"/>
          </a:xfrm>
          <a:prstGeom prst="rect">
            <a:avLst/>
          </a:prstGeom>
          <a:noFill/>
        </p:spPr>
        <p:txBody>
          <a:bodyPr wrap="square">
            <a:spAutoFit/>
          </a:bodyPr>
          <a:lstStyle/>
          <a:p>
            <a:r>
              <a:rPr lang="tr-TR" sz="2400" dirty="0">
                <a:latin typeface="Times New Roman" panose="02020603050405020304" pitchFamily="18" charset="0"/>
                <a:cs typeface="Times New Roman" panose="02020603050405020304" pitchFamily="18" charset="0"/>
              </a:rPr>
              <a:t>Shakl O‘lchovining asosiy komponentlari ikkita asosiy tushunchadan iborat:</a:t>
            </a:r>
            <a:endParaRPr lang="ru-RU"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6770637-E831-B669-5240-BBD3EAC972AE}"/>
              </a:ext>
            </a:extLst>
          </p:cNvPr>
          <p:cNvSpPr txBox="1"/>
          <p:nvPr/>
        </p:nvSpPr>
        <p:spPr>
          <a:xfrm>
            <a:off x="1496728" y="4609819"/>
            <a:ext cx="6097604" cy="461665"/>
          </a:xfrm>
          <a:prstGeom prst="rect">
            <a:avLst/>
          </a:prstGeom>
          <a:noFill/>
        </p:spPr>
        <p:txBody>
          <a:bodyPr wrap="square">
            <a:spAutoFit/>
          </a:bodyPr>
          <a:lstStyle/>
          <a:p>
            <a:pPr marL="285750" indent="-285750">
              <a:buFont typeface="Wingdings" panose="05000000000000000000" pitchFamily="2" charset="2"/>
              <a:buChar char="§"/>
            </a:pPr>
            <a:r>
              <a:rPr lang="tr-TR" sz="2400" dirty="0">
                <a:solidFill>
                  <a:srgbClr val="FFC000"/>
                </a:solidFill>
                <a:latin typeface="Times New Roman" panose="02020603050405020304" pitchFamily="18" charset="0"/>
                <a:cs typeface="Times New Roman" panose="02020603050405020304" pitchFamily="18" charset="0"/>
              </a:rPr>
              <a:t>Assimetriya (Skewness)</a:t>
            </a:r>
            <a:endParaRPr lang="ru-RU" sz="2400" dirty="0">
              <a:solidFill>
                <a:srgbClr val="FFC0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E9DEFDE-311F-4E1F-C6EE-47094614713C}"/>
              </a:ext>
            </a:extLst>
          </p:cNvPr>
          <p:cNvSpPr txBox="1"/>
          <p:nvPr/>
        </p:nvSpPr>
        <p:spPr>
          <a:xfrm>
            <a:off x="1496728" y="5360249"/>
            <a:ext cx="6097604" cy="461665"/>
          </a:xfrm>
          <a:prstGeom prst="rect">
            <a:avLst/>
          </a:prstGeom>
          <a:noFill/>
        </p:spPr>
        <p:txBody>
          <a:bodyPr wrap="square">
            <a:spAutoFit/>
          </a:bodyPr>
          <a:lstStyle/>
          <a:p>
            <a:pPr marL="285750" indent="-285750">
              <a:buFont typeface="Wingdings" panose="05000000000000000000" pitchFamily="2" charset="2"/>
              <a:buChar char="§"/>
            </a:pPr>
            <a:r>
              <a:rPr lang="tr-TR" sz="2400" dirty="0">
                <a:solidFill>
                  <a:srgbClr val="FFC000"/>
                </a:solidFill>
                <a:latin typeface="Times New Roman" panose="02020603050405020304" pitchFamily="18" charset="0"/>
                <a:cs typeface="Times New Roman" panose="02020603050405020304" pitchFamily="18" charset="0"/>
              </a:rPr>
              <a:t>Kurtosis (Cho‘qqilik)</a:t>
            </a:r>
            <a:endParaRPr lang="ru-RU" sz="2400" dirty="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6439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AD162B-380D-A7F7-EE50-AB9E03BD6F52}"/>
              </a:ext>
            </a:extLst>
          </p:cNvPr>
          <p:cNvSpPr txBox="1"/>
          <p:nvPr/>
        </p:nvSpPr>
        <p:spPr>
          <a:xfrm>
            <a:off x="684087" y="351333"/>
            <a:ext cx="8267407"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STATISTIKA: SHAKL O’LCHOVI</a:t>
            </a:r>
          </a:p>
        </p:txBody>
      </p:sp>
      <p:sp>
        <p:nvSpPr>
          <p:cNvPr id="4" name="TextBox 3">
            <a:extLst>
              <a:ext uri="{FF2B5EF4-FFF2-40B4-BE49-F238E27FC236}">
                <a16:creationId xmlns:a16="http://schemas.microsoft.com/office/drawing/2014/main" id="{6D38A27A-525A-CA69-DD90-62729E6563EC}"/>
              </a:ext>
            </a:extLst>
          </p:cNvPr>
          <p:cNvSpPr txBox="1"/>
          <p:nvPr/>
        </p:nvSpPr>
        <p:spPr>
          <a:xfrm>
            <a:off x="780339" y="1010649"/>
            <a:ext cx="6097604"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Assimetriya (Skewness)</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89C86D0-E5B6-3935-C82D-70BBFA7D121B}"/>
              </a:ext>
            </a:extLst>
          </p:cNvPr>
          <p:cNvSpPr txBox="1"/>
          <p:nvPr/>
        </p:nvSpPr>
        <p:spPr>
          <a:xfrm>
            <a:off x="640773" y="1468900"/>
            <a:ext cx="5312452" cy="1015663"/>
          </a:xfrm>
          <a:prstGeom prst="rect">
            <a:avLst/>
          </a:prstGeom>
          <a:noFill/>
        </p:spPr>
        <p:txBody>
          <a:bodyPr wrap="square">
            <a:spAutoFit/>
          </a:bodyPr>
          <a:lstStyle/>
          <a:p>
            <a:r>
              <a:rPr lang="tr-TR" sz="2000" b="1" dirty="0">
                <a:solidFill>
                  <a:srgbClr val="FFC000"/>
                </a:solidFill>
                <a:latin typeface="Times New Roman" panose="02020603050405020304" pitchFamily="18" charset="0"/>
                <a:cs typeface="Times New Roman" panose="02020603050405020304" pitchFamily="18" charset="0"/>
              </a:rPr>
              <a:t>Assimetriya</a:t>
            </a:r>
            <a:r>
              <a:rPr lang="en-US" sz="2000" b="1" dirty="0">
                <a:latin typeface="Times New Roman" panose="02020603050405020304" pitchFamily="18" charset="0"/>
                <a:cs typeface="Times New Roman" panose="02020603050405020304" pitchFamily="18" charset="0"/>
              </a:rPr>
              <a:t> - </a:t>
            </a:r>
            <a:r>
              <a:rPr lang="tr-TR" sz="2000" dirty="0">
                <a:latin typeface="Times New Roman" panose="02020603050405020304" pitchFamily="18" charset="0"/>
                <a:cs typeface="Times New Roman" panose="02020603050405020304" pitchFamily="18" charset="0"/>
              </a:rPr>
              <a:t> ma’lumotlar taqsimotining markaziy qiymatga nisbatan qanchalik </a:t>
            </a:r>
            <a:r>
              <a:rPr lang="tr-TR" sz="2000" b="1" dirty="0">
                <a:latin typeface="Times New Roman" panose="02020603050405020304" pitchFamily="18" charset="0"/>
                <a:cs typeface="Times New Roman" panose="02020603050405020304" pitchFamily="18" charset="0"/>
              </a:rPr>
              <a:t>simmetrik</a:t>
            </a:r>
            <a:r>
              <a:rPr lang="tr-TR" sz="2000" dirty="0">
                <a:latin typeface="Times New Roman" panose="02020603050405020304" pitchFamily="18" charset="0"/>
                <a:cs typeface="Times New Roman" panose="02020603050405020304" pitchFamily="18" charset="0"/>
              </a:rPr>
              <a:t> yoki </a:t>
            </a:r>
            <a:r>
              <a:rPr lang="tr-TR" sz="2000" b="1" dirty="0">
                <a:latin typeface="Times New Roman" panose="02020603050405020304" pitchFamily="18" charset="0"/>
                <a:cs typeface="Times New Roman" panose="02020603050405020304" pitchFamily="18" charset="0"/>
              </a:rPr>
              <a:t>bir tomonga qiyshayganligini</a:t>
            </a:r>
            <a:r>
              <a:rPr lang="tr-TR" sz="2000" dirty="0">
                <a:latin typeface="Times New Roman" panose="02020603050405020304" pitchFamily="18" charset="0"/>
                <a:cs typeface="Times New Roman" panose="02020603050405020304" pitchFamily="18" charset="0"/>
              </a:rPr>
              <a:t> o‘lchaydi.</a:t>
            </a:r>
            <a:endParaRPr lang="ru-RU"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BB5BB10-0A77-ED2A-3BB7-C9821641996B}"/>
              </a:ext>
            </a:extLst>
          </p:cNvPr>
          <p:cNvSpPr txBox="1"/>
          <p:nvPr/>
        </p:nvSpPr>
        <p:spPr>
          <a:xfrm>
            <a:off x="640773" y="2618322"/>
            <a:ext cx="5216199" cy="1323439"/>
          </a:xfrm>
          <a:prstGeom prst="rect">
            <a:avLst/>
          </a:prstGeom>
          <a:noFill/>
        </p:spPr>
        <p:txBody>
          <a:bodyPr wrap="square">
            <a:spAutoFit/>
          </a:bodyPr>
          <a:lstStyle/>
          <a:p>
            <a:pPr marL="285750" indent="-285750">
              <a:buFont typeface="Wingdings" panose="05000000000000000000" pitchFamily="2" charset="2"/>
              <a:buChar char="§"/>
            </a:pPr>
            <a:r>
              <a:rPr lang="tr-TR" sz="2000" b="1" dirty="0">
                <a:solidFill>
                  <a:srgbClr val="00B0F0"/>
                </a:solidFill>
                <a:latin typeface="Times New Roman" panose="02020603050405020304" pitchFamily="18" charset="0"/>
                <a:cs typeface="Times New Roman" panose="02020603050405020304" pitchFamily="18" charset="0"/>
              </a:rPr>
              <a:t>Nolga yaqin (Simmetrik):</a:t>
            </a:r>
            <a:r>
              <a:rPr lang="tr-TR" sz="2000" dirty="0">
                <a:solidFill>
                  <a:srgbClr val="00B0F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Agar taqsimot assimetriya koeffitsiyenti nolga yaqin bo‘lsa, taqsimot simmetrik (masalan, normal taqsimot) hisoblanadi.</a:t>
            </a:r>
            <a:endParaRPr lang="ru-RU"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594B99F-2B15-1E28-048C-A8F123FA42DD}"/>
              </a:ext>
            </a:extLst>
          </p:cNvPr>
          <p:cNvSpPr txBox="1"/>
          <p:nvPr/>
        </p:nvSpPr>
        <p:spPr>
          <a:xfrm>
            <a:off x="517507" y="4167623"/>
            <a:ext cx="11156985" cy="707886"/>
          </a:xfrm>
          <a:prstGeom prst="rect">
            <a:avLst/>
          </a:prstGeom>
          <a:noFill/>
        </p:spPr>
        <p:txBody>
          <a:bodyPr wrap="square">
            <a:spAutoFit/>
          </a:bodyPr>
          <a:lstStyle/>
          <a:p>
            <a:pPr marL="285750" indent="-285750">
              <a:buFont typeface="Wingdings" panose="05000000000000000000" pitchFamily="2" charset="2"/>
              <a:buChar char="§"/>
            </a:pPr>
            <a:r>
              <a:rPr lang="tr-TR" sz="2000" b="1" dirty="0">
                <a:solidFill>
                  <a:srgbClr val="00B0F0"/>
                </a:solidFill>
                <a:latin typeface="Times New Roman" panose="02020603050405020304" pitchFamily="18" charset="0"/>
                <a:cs typeface="Times New Roman" panose="02020603050405020304" pitchFamily="18" charset="0"/>
              </a:rPr>
              <a:t>Musbat Assimetriya (O‘ng tomonga qiyshayish):</a:t>
            </a:r>
            <a:r>
              <a:rPr lang="tr-TR" sz="2000" dirty="0">
                <a:solidFill>
                  <a:srgbClr val="00B0F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Agar koeffitsiyent musbat bo‘lsa, taqsimotning "dumi" o‘ng tomonga cho‘zilgan bo‘ladi. Bu holatda o‘rtacha qiymat (Mean) medianadan katta bo‘ladi.</a:t>
            </a:r>
            <a:endParaRPr lang="ru-RU"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28EA732-17DD-0276-C7AF-03A494C0FD55}"/>
              </a:ext>
            </a:extLst>
          </p:cNvPr>
          <p:cNvSpPr txBox="1"/>
          <p:nvPr/>
        </p:nvSpPr>
        <p:spPr>
          <a:xfrm>
            <a:off x="517507" y="5179872"/>
            <a:ext cx="11156986" cy="707886"/>
          </a:xfrm>
          <a:prstGeom prst="rect">
            <a:avLst/>
          </a:prstGeom>
          <a:noFill/>
        </p:spPr>
        <p:txBody>
          <a:bodyPr wrap="square">
            <a:spAutoFit/>
          </a:bodyPr>
          <a:lstStyle/>
          <a:p>
            <a:pPr marL="285750" indent="-285750">
              <a:buFont typeface="Wingdings" panose="05000000000000000000" pitchFamily="2" charset="2"/>
              <a:buChar char="§"/>
            </a:pPr>
            <a:r>
              <a:rPr lang="tr-TR" sz="2000" b="1" dirty="0">
                <a:solidFill>
                  <a:srgbClr val="00B0F0"/>
                </a:solidFill>
                <a:latin typeface="Times New Roman" panose="02020603050405020304" pitchFamily="18" charset="0"/>
                <a:cs typeface="Times New Roman" panose="02020603050405020304" pitchFamily="18" charset="0"/>
              </a:rPr>
              <a:t>Manfiy Assimetriya (Chap tomonga qiyshayish):</a:t>
            </a:r>
            <a:r>
              <a:rPr lang="tr-TR" sz="2000" dirty="0">
                <a:solidFill>
                  <a:srgbClr val="00B0F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Agar koeffitsiyent manfiy bo‘lsa, taqsimotning "dumi" chap tomonga cho‘zilgan bo‘ladi. Bu holatda o‘rtacha qiymat (Mean) medianadan kichik bo‘ladi.</a:t>
            </a:r>
            <a:endParaRPr lang="ru-RU" sz="2000" dirty="0">
              <a:latin typeface="Times New Roman" panose="02020603050405020304" pitchFamily="18" charset="0"/>
              <a:cs typeface="Times New Roman" panose="02020603050405020304" pitchFamily="18" charset="0"/>
            </a:endParaRPr>
          </a:p>
        </p:txBody>
      </p:sp>
      <p:pic>
        <p:nvPicPr>
          <p:cNvPr id="4098" name="Picture 2" descr="Skewness">
            <a:extLst>
              <a:ext uri="{FF2B5EF4-FFF2-40B4-BE49-F238E27FC236}">
                <a16:creationId xmlns:a16="http://schemas.microsoft.com/office/drawing/2014/main" id="{B687C4E5-2DE7-901B-4995-F17143131A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6539" y="1168017"/>
            <a:ext cx="5801220" cy="2900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3046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B7016B-FC3D-D6B7-A0E1-B9415188F354}"/>
              </a:ext>
            </a:extLst>
          </p:cNvPr>
          <p:cNvSpPr txBox="1"/>
          <p:nvPr/>
        </p:nvSpPr>
        <p:spPr>
          <a:xfrm>
            <a:off x="693712" y="1109931"/>
            <a:ext cx="6097604" cy="461665"/>
          </a:xfrm>
          <a:prstGeom prst="rect">
            <a:avLst/>
          </a:prstGeom>
          <a:noFill/>
        </p:spPr>
        <p:txBody>
          <a:bodyPr wrap="square">
            <a:spAutoFit/>
          </a:bodyPr>
          <a:lstStyle/>
          <a:p>
            <a:r>
              <a:rPr lang="tr-TR" sz="2400" b="1" dirty="0">
                <a:solidFill>
                  <a:srgbClr val="FFC000"/>
                </a:solidFill>
                <a:latin typeface="Times New Roman" panose="02020603050405020304" pitchFamily="18" charset="0"/>
                <a:cs typeface="Times New Roman" panose="02020603050405020304" pitchFamily="18" charset="0"/>
              </a:rPr>
              <a:t>Kurtosis (Cho‘qqilik)</a:t>
            </a:r>
            <a:endParaRPr lang="ru-RU" sz="2400" b="1" dirty="0">
              <a:solidFill>
                <a:srgbClr val="FFC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6A9A683-3304-AFDF-5349-D844B5CA9885}"/>
              </a:ext>
            </a:extLst>
          </p:cNvPr>
          <p:cNvSpPr txBox="1"/>
          <p:nvPr/>
        </p:nvSpPr>
        <p:spPr>
          <a:xfrm>
            <a:off x="693712" y="226205"/>
            <a:ext cx="8267407"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STATISTIKA: SHAKL O’LCHOVI</a:t>
            </a:r>
          </a:p>
        </p:txBody>
      </p:sp>
      <p:sp>
        <p:nvSpPr>
          <p:cNvPr id="6" name="TextBox 5">
            <a:extLst>
              <a:ext uri="{FF2B5EF4-FFF2-40B4-BE49-F238E27FC236}">
                <a16:creationId xmlns:a16="http://schemas.microsoft.com/office/drawing/2014/main" id="{C2ADA40D-8CF5-BE53-7D28-E8D14F82FB31}"/>
              </a:ext>
            </a:extLst>
          </p:cNvPr>
          <p:cNvSpPr txBox="1"/>
          <p:nvPr/>
        </p:nvSpPr>
        <p:spPr>
          <a:xfrm>
            <a:off x="693712" y="1645362"/>
            <a:ext cx="5081446" cy="1631216"/>
          </a:xfrm>
          <a:prstGeom prst="rect">
            <a:avLst/>
          </a:prstGeom>
          <a:noFill/>
        </p:spPr>
        <p:txBody>
          <a:bodyPr wrap="square">
            <a:spAutoFit/>
          </a:bodyPr>
          <a:lstStyle/>
          <a:p>
            <a:r>
              <a:rPr lang="tr-TR" sz="2000" b="1" dirty="0">
                <a:solidFill>
                  <a:srgbClr val="FFC000"/>
                </a:solidFill>
                <a:latin typeface="Times New Roman" panose="02020603050405020304" pitchFamily="18" charset="0"/>
                <a:cs typeface="Times New Roman" panose="02020603050405020304" pitchFamily="18" charset="0"/>
              </a:rPr>
              <a:t>Kurtosis</a:t>
            </a:r>
            <a:r>
              <a:rPr lang="tr-TR" sz="2000" dirty="0">
                <a:latin typeface="Times New Roman" panose="02020603050405020304" pitchFamily="18" charset="0"/>
                <a:cs typeface="Times New Roman" panose="02020603050405020304" pitchFamily="18" charset="0"/>
              </a:rPr>
              <a:t> (ba’zan </a:t>
            </a:r>
            <a:r>
              <a:rPr lang="tr-TR" sz="2000" b="1" dirty="0">
                <a:latin typeface="Times New Roman" panose="02020603050405020304" pitchFamily="18" charset="0"/>
                <a:cs typeface="Times New Roman" panose="02020603050405020304" pitchFamily="18" charset="0"/>
              </a:rPr>
              <a:t>Cho‘qqilik</a:t>
            </a:r>
            <a:r>
              <a:rPr lang="tr-TR" sz="2000" dirty="0">
                <a:latin typeface="Times New Roman" panose="02020603050405020304" pitchFamily="18" charset="0"/>
                <a:cs typeface="Times New Roman" panose="02020603050405020304" pitchFamily="18" charset="0"/>
              </a:rPr>
              <a:t> deb ham ataladi) taqsimotning markaziy cho‘qqisi qanchalik o‘tkir ekanligini va taqsimotning </a:t>
            </a:r>
            <a:r>
              <a:rPr lang="tr-TR" sz="2000" b="1" dirty="0">
                <a:latin typeface="Times New Roman" panose="02020603050405020304" pitchFamily="18" charset="0"/>
                <a:cs typeface="Times New Roman" panose="02020603050405020304" pitchFamily="18" charset="0"/>
              </a:rPr>
              <a:t>"dumlari"</a:t>
            </a:r>
            <a:r>
              <a:rPr lang="tr-TR" sz="2000" dirty="0">
                <a:latin typeface="Times New Roman" panose="02020603050405020304" pitchFamily="18" charset="0"/>
                <a:cs typeface="Times New Roman" panose="02020603050405020304" pitchFamily="18" charset="0"/>
              </a:rPr>
              <a:t> qanchalik qalin (ya’ni, ekstremal, outlier qiymatlar qanchalik ko‘p) ekanligini o‘lchaydi.</a:t>
            </a:r>
            <a:endParaRPr lang="ru-RU"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21FC4FA-3021-4B4B-8DD4-4F802CC6E3C1}"/>
              </a:ext>
            </a:extLst>
          </p:cNvPr>
          <p:cNvSpPr txBox="1"/>
          <p:nvPr/>
        </p:nvSpPr>
        <p:spPr>
          <a:xfrm>
            <a:off x="693712" y="3402531"/>
            <a:ext cx="5402288" cy="1015663"/>
          </a:xfrm>
          <a:prstGeom prst="rect">
            <a:avLst/>
          </a:prstGeom>
          <a:noFill/>
        </p:spPr>
        <p:txBody>
          <a:bodyPr wrap="square">
            <a:spAutoFit/>
          </a:bodyPr>
          <a:lstStyle/>
          <a:p>
            <a:pPr marL="285750" indent="-285750">
              <a:buFont typeface="Wingdings" panose="05000000000000000000" pitchFamily="2" charset="2"/>
              <a:buChar char="§"/>
            </a:pPr>
            <a:r>
              <a:rPr lang="tr-TR" sz="2000" b="1" dirty="0">
                <a:solidFill>
                  <a:srgbClr val="00B0F0"/>
                </a:solidFill>
                <a:latin typeface="Times New Roman" panose="02020603050405020304" pitchFamily="18" charset="0"/>
                <a:cs typeface="Times New Roman" panose="02020603050405020304" pitchFamily="18" charset="0"/>
              </a:rPr>
              <a:t>Mesokurtik (O‘rtacha cho‘qqilik):</a:t>
            </a:r>
            <a:r>
              <a:rPr lang="tr-TR" sz="2000" dirty="0">
                <a:solidFill>
                  <a:srgbClr val="00B0F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Normal taqsimotga o‘xshash cho‘qqi (Kurtosis koeffitsiyenti nolga yaqin).</a:t>
            </a:r>
            <a:endParaRPr lang="ru-RU" sz="2000" dirty="0">
              <a:latin typeface="Times New Roman" panose="02020603050405020304" pitchFamily="18" charset="0"/>
              <a:cs typeface="Times New Roman" panose="02020603050405020304" pitchFamily="18" charset="0"/>
            </a:endParaRPr>
          </a:p>
        </p:txBody>
      </p:sp>
      <p:pic>
        <p:nvPicPr>
          <p:cNvPr id="5122" name="Picture 2" descr="Kurtosis">
            <a:extLst>
              <a:ext uri="{FF2B5EF4-FFF2-40B4-BE49-F238E27FC236}">
                <a16:creationId xmlns:a16="http://schemas.microsoft.com/office/drawing/2014/main" id="{DCD76487-0418-B801-0D21-CD1BE296E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5158" y="1226905"/>
            <a:ext cx="6382578" cy="31912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15ADCF6-676D-F2E8-4804-BE07D60C6ED8}"/>
              </a:ext>
            </a:extLst>
          </p:cNvPr>
          <p:cNvSpPr txBox="1"/>
          <p:nvPr/>
        </p:nvSpPr>
        <p:spPr>
          <a:xfrm>
            <a:off x="693712" y="4561107"/>
            <a:ext cx="11161351" cy="707886"/>
          </a:xfrm>
          <a:prstGeom prst="rect">
            <a:avLst/>
          </a:prstGeom>
          <a:noFill/>
        </p:spPr>
        <p:txBody>
          <a:bodyPr wrap="square">
            <a:spAutoFit/>
          </a:bodyPr>
          <a:lstStyle/>
          <a:p>
            <a:pPr marL="285750" indent="-285750">
              <a:buFont typeface="Wingdings" panose="05000000000000000000" pitchFamily="2" charset="2"/>
              <a:buChar char="§"/>
            </a:pPr>
            <a:r>
              <a:rPr lang="tr-TR" sz="2000" b="1" dirty="0">
                <a:solidFill>
                  <a:srgbClr val="00B0F0"/>
                </a:solidFill>
                <a:latin typeface="Times New Roman" panose="02020603050405020304" pitchFamily="18" charset="0"/>
                <a:cs typeface="Times New Roman" panose="02020603050405020304" pitchFamily="18" charset="0"/>
              </a:rPr>
              <a:t>Leptokurtik (Yuqori cho‘qqilik):</a:t>
            </a:r>
            <a:r>
              <a:rPr lang="tr-TR" sz="2000" dirty="0">
                <a:solidFill>
                  <a:srgbClr val="00B0F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Cho‘qqi juda o‘tkir va dumlari qalin, bu ekstremal qiymatlar normal taqsimotdagidan ko‘proq uchrashini anglatadi.</a:t>
            </a:r>
            <a:endParaRPr lang="ru-RU"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B570982-667B-C4A2-0267-C53E97C7CCED}"/>
              </a:ext>
            </a:extLst>
          </p:cNvPr>
          <p:cNvSpPr txBox="1"/>
          <p:nvPr/>
        </p:nvSpPr>
        <p:spPr>
          <a:xfrm>
            <a:off x="693712" y="5623362"/>
            <a:ext cx="11039484" cy="707886"/>
          </a:xfrm>
          <a:prstGeom prst="rect">
            <a:avLst/>
          </a:prstGeom>
          <a:noFill/>
        </p:spPr>
        <p:txBody>
          <a:bodyPr wrap="square">
            <a:spAutoFit/>
          </a:bodyPr>
          <a:lstStyle/>
          <a:p>
            <a:pPr marL="285750" indent="-285750">
              <a:buFont typeface="Wingdings" panose="05000000000000000000" pitchFamily="2" charset="2"/>
              <a:buChar char="§"/>
            </a:pPr>
            <a:r>
              <a:rPr lang="tr-TR" sz="2000" b="1" dirty="0">
                <a:solidFill>
                  <a:srgbClr val="00B0F0"/>
                </a:solidFill>
                <a:latin typeface="Times New Roman" panose="02020603050405020304" pitchFamily="18" charset="0"/>
                <a:cs typeface="Times New Roman" panose="02020603050405020304" pitchFamily="18" charset="0"/>
              </a:rPr>
              <a:t>Platikurtik (Past cho‘qqilik):</a:t>
            </a:r>
            <a:r>
              <a:rPr lang="tr-TR" sz="2000" dirty="0">
                <a:solidFill>
                  <a:srgbClr val="00B0F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Cho‘qqi yassi va dumlari ingichka, bu ekstremal qiymatlar normal taqsimotdagidan kamroq uchrashini anglatadi.</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25263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957986-8C3A-AAE6-CB2C-A2EE0BFDF42F}"/>
              </a:ext>
            </a:extLst>
          </p:cNvPr>
          <p:cNvSpPr txBox="1"/>
          <p:nvPr/>
        </p:nvSpPr>
        <p:spPr>
          <a:xfrm>
            <a:off x="455139" y="216580"/>
            <a:ext cx="9326187"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KOVARIATSIYA VA KORRELYATSIYA</a:t>
            </a:r>
          </a:p>
        </p:txBody>
      </p:sp>
      <p:pic>
        <p:nvPicPr>
          <p:cNvPr id="5" name="Рисунок 4">
            <a:extLst>
              <a:ext uri="{FF2B5EF4-FFF2-40B4-BE49-F238E27FC236}">
                <a16:creationId xmlns:a16="http://schemas.microsoft.com/office/drawing/2014/main" id="{8D27885A-22B2-0E7C-36DF-9A8634304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8204" y="1062645"/>
            <a:ext cx="5744474" cy="3044935"/>
          </a:xfrm>
          <a:prstGeom prst="rect">
            <a:avLst/>
          </a:prstGeom>
        </p:spPr>
      </p:pic>
      <p:sp>
        <p:nvSpPr>
          <p:cNvPr id="7" name="TextBox 6">
            <a:extLst>
              <a:ext uri="{FF2B5EF4-FFF2-40B4-BE49-F238E27FC236}">
                <a16:creationId xmlns:a16="http://schemas.microsoft.com/office/drawing/2014/main" id="{12307A64-1CCB-478B-F9EF-E08A0E19977D}"/>
              </a:ext>
            </a:extLst>
          </p:cNvPr>
          <p:cNvSpPr txBox="1"/>
          <p:nvPr/>
        </p:nvSpPr>
        <p:spPr>
          <a:xfrm>
            <a:off x="455139" y="1060592"/>
            <a:ext cx="5744474" cy="3046988"/>
          </a:xfrm>
          <a:prstGeom prst="rect">
            <a:avLst/>
          </a:prstGeom>
          <a:noFill/>
        </p:spPr>
        <p:txBody>
          <a:bodyPr wrap="square">
            <a:spAutoFit/>
          </a:bodyPr>
          <a:lstStyle/>
          <a:p>
            <a:r>
              <a:rPr lang="tr-TR" sz="2400" b="1" i="0" dirty="0">
                <a:solidFill>
                  <a:srgbClr val="FFC000"/>
                </a:solidFill>
                <a:effectLst/>
                <a:latin typeface="Times New Roman" panose="02020603050405020304" pitchFamily="18" charset="0"/>
                <a:cs typeface="Times New Roman" panose="02020603050405020304" pitchFamily="18" charset="0"/>
              </a:rPr>
              <a:t>Kovariatsiya va korrelyatsiya</a:t>
            </a:r>
            <a:r>
              <a:rPr lang="tr-TR" sz="2400" b="0" i="0" dirty="0">
                <a:solidFill>
                  <a:srgbClr val="FFC000"/>
                </a:solidFill>
                <a:effectLst/>
                <a:latin typeface="Times New Roman" panose="02020603050405020304" pitchFamily="18" charset="0"/>
                <a:cs typeface="Times New Roman" panose="02020603050405020304" pitchFamily="18" charset="0"/>
              </a:rPr>
              <a:t> </a:t>
            </a:r>
            <a:r>
              <a:rPr lang="tr-TR" sz="2400" b="0" i="0" dirty="0">
                <a:solidFill>
                  <a:srgbClr val="FFFFFF"/>
                </a:solidFill>
                <a:effectLst/>
                <a:latin typeface="Times New Roman" panose="02020603050405020304" pitchFamily="18" charset="0"/>
                <a:cs typeface="Times New Roman" panose="02020603050405020304" pitchFamily="18" charset="0"/>
              </a:rPr>
              <a:t>statistikaning ikkita asosiy tushunchasi bo'lib, bizga ikkita o'zgaruvchi o'rtasidagi munosabatni tahlil qilishga yordam beradi. Kovariatsiya ikki o'zgaruvchining birgalikda qanday o'zgarishini o'lchaydi, bu ularning bir xil yoki qarama-qarshi yo'nalishda harakatlanishini ko'rsatadi.</a:t>
            </a:r>
            <a:endParaRPr lang="ru-RU"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6BE835E-2A7C-217B-0E17-292D43F7E634}"/>
              </a:ext>
            </a:extLst>
          </p:cNvPr>
          <p:cNvSpPr txBox="1"/>
          <p:nvPr/>
        </p:nvSpPr>
        <p:spPr>
          <a:xfrm>
            <a:off x="6927783" y="4117653"/>
            <a:ext cx="6097604" cy="584775"/>
          </a:xfrm>
          <a:prstGeom prst="rect">
            <a:avLst/>
          </a:prstGeom>
          <a:noFill/>
        </p:spPr>
        <p:txBody>
          <a:bodyPr wrap="square">
            <a:spAutoFit/>
          </a:bodyPr>
          <a:lstStyle/>
          <a:p>
            <a:r>
              <a:rPr lang="tr-TR" sz="1600" i="1" dirty="0">
                <a:effectLst/>
                <a:latin typeface="Times New Roman" panose="02020603050405020304" pitchFamily="18" charset="0"/>
                <a:cs typeface="Times New Roman" panose="02020603050405020304" pitchFamily="18" charset="0"/>
              </a:rPr>
              <a:t>Mustaqil va qaram o'zgaruvchilar o'rtasidagi munosabat</a:t>
            </a:r>
            <a:br>
              <a:rPr lang="tr-TR" sz="1600" i="1" dirty="0">
                <a:latin typeface="Times New Roman" panose="02020603050405020304" pitchFamily="18" charset="0"/>
                <a:cs typeface="Times New Roman" panose="02020603050405020304" pitchFamily="18" charset="0"/>
              </a:rPr>
            </a:br>
            <a:endParaRPr lang="ru-RU" sz="1600" i="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AA8DA38-4BA1-1832-761A-1A9D00DF9058}"/>
              </a:ext>
            </a:extLst>
          </p:cNvPr>
          <p:cNvSpPr txBox="1"/>
          <p:nvPr/>
        </p:nvSpPr>
        <p:spPr>
          <a:xfrm>
            <a:off x="423854" y="4554419"/>
            <a:ext cx="11848699" cy="1938992"/>
          </a:xfrm>
          <a:prstGeom prst="rect">
            <a:avLst/>
          </a:prstGeom>
          <a:noFill/>
        </p:spPr>
        <p:txBody>
          <a:bodyPr wrap="square">
            <a:spAutoFit/>
          </a:bodyPr>
          <a:lstStyle/>
          <a:p>
            <a:r>
              <a:rPr lang="tr-TR" sz="2400" b="0" i="0" dirty="0">
                <a:solidFill>
                  <a:srgbClr val="FFFFFF"/>
                </a:solidFill>
                <a:effectLst/>
                <a:latin typeface="Times New Roman" panose="02020603050405020304" pitchFamily="18" charset="0"/>
                <a:cs typeface="Times New Roman" panose="02020603050405020304" pitchFamily="18" charset="0"/>
              </a:rPr>
              <a:t>Bu munosabatlarni yaxshiroq tushunish uchun quyosh nuri, suv va tuproq ozuqa moddalari (rasmda ko'rsatilganidek) kabi omillarni ko'rib chiqing, ular bizning bog'liq o'zgaruvchimiz o'simliklar o'sishiga ta'sir qiluvchi mustaqil o'zgaruvchilardir. Kovariatsiya bu o'zgaruvchilarning birgalikda qanday o'zgarishini o'lchaydi, bu ularning bir xil yoki qarama-qarshi yo'nalishda harakatlanishini ko'rsatadi.</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0933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12D12F-FE8A-7529-0EC0-CA999516C262}"/>
              </a:ext>
            </a:extLst>
          </p:cNvPr>
          <p:cNvSpPr txBox="1"/>
          <p:nvPr/>
        </p:nvSpPr>
        <p:spPr>
          <a:xfrm>
            <a:off x="455139" y="216580"/>
            <a:ext cx="9326187"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KOVARIATSIYA VA </a:t>
            </a:r>
            <a:r>
              <a:rPr lang="en-US" sz="3600" b="1" i="0" dirty="0" err="1">
                <a:effectLst/>
                <a:latin typeface="Times New Roman" panose="02020603050405020304" pitchFamily="18" charset="0"/>
                <a:cs typeface="Times New Roman" panose="02020603050405020304" pitchFamily="18" charset="0"/>
              </a:rPr>
              <a:t>KORRELYATSIYAc</a:t>
            </a:r>
            <a:endParaRPr lang="en-US" sz="3600" b="1" i="0" dirty="0">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7A0F3E4-C9C9-5B34-D889-7721F077DB52}"/>
              </a:ext>
            </a:extLst>
          </p:cNvPr>
          <p:cNvSpPr txBox="1"/>
          <p:nvPr/>
        </p:nvSpPr>
        <p:spPr>
          <a:xfrm>
            <a:off x="455139" y="862911"/>
            <a:ext cx="6097604" cy="461665"/>
          </a:xfrm>
          <a:prstGeom prst="rect">
            <a:avLst/>
          </a:prstGeom>
          <a:noFill/>
        </p:spPr>
        <p:txBody>
          <a:bodyPr wrap="square">
            <a:spAutoFit/>
          </a:bodyPr>
          <a:lstStyle/>
          <a:p>
            <a:pPr algn="l" fontAlgn="base">
              <a:buNone/>
            </a:pPr>
            <a:r>
              <a:rPr lang="tr-TR" sz="2400" b="1" i="0" dirty="0">
                <a:solidFill>
                  <a:srgbClr val="FFC000"/>
                </a:solidFill>
                <a:effectLst/>
                <a:latin typeface="Times New Roman" panose="02020603050405020304" pitchFamily="18" charset="0"/>
                <a:cs typeface="Times New Roman" panose="02020603050405020304" pitchFamily="18" charset="0"/>
              </a:rPr>
              <a:t>Kovariatsiya nima ?</a:t>
            </a:r>
          </a:p>
        </p:txBody>
      </p:sp>
      <p:sp>
        <p:nvSpPr>
          <p:cNvPr id="6" name="TextBox 5">
            <a:extLst>
              <a:ext uri="{FF2B5EF4-FFF2-40B4-BE49-F238E27FC236}">
                <a16:creationId xmlns:a16="http://schemas.microsoft.com/office/drawing/2014/main" id="{D7060947-B194-4F99-CBB6-5A8490B55E26}"/>
              </a:ext>
            </a:extLst>
          </p:cNvPr>
          <p:cNvSpPr txBox="1"/>
          <p:nvPr/>
        </p:nvSpPr>
        <p:spPr>
          <a:xfrm>
            <a:off x="455139" y="1324576"/>
            <a:ext cx="11432061" cy="2308324"/>
          </a:xfrm>
          <a:prstGeom prst="rect">
            <a:avLst/>
          </a:prstGeom>
          <a:noFill/>
        </p:spPr>
        <p:txBody>
          <a:bodyPr wrap="square">
            <a:spAutoFit/>
          </a:bodyPr>
          <a:lstStyle/>
          <a:p>
            <a:r>
              <a:rPr lang="tr-TR" sz="2400" b="1" i="0" dirty="0">
                <a:solidFill>
                  <a:srgbClr val="FFC000"/>
                </a:solidFill>
                <a:effectLst/>
                <a:latin typeface="Times New Roman" panose="02020603050405020304" pitchFamily="18" charset="0"/>
                <a:cs typeface="Times New Roman" panose="02020603050405020304" pitchFamily="18" charset="0"/>
              </a:rPr>
              <a:t>Kovariatsiya</a:t>
            </a:r>
            <a:r>
              <a:rPr lang="tr-TR" sz="2400" b="0" i="0" dirty="0">
                <a:solidFill>
                  <a:srgbClr val="FFFFFF"/>
                </a:solidFill>
                <a:effectLst/>
                <a:latin typeface="Times New Roman" panose="02020603050405020304" pitchFamily="18" charset="0"/>
                <a:cs typeface="Times New Roman" panose="02020603050405020304" pitchFamily="18" charset="0"/>
              </a:rPr>
              <a:t> - bu bir o'zgaruvchining o'zgarishi boshqa o'zgaruvchining o'zgarishiga olib keladigan tasodifiy o'zgaruvchilar juftligi o'rtasidagi munosabatni o'lchaydigan statistik ko'rsatkich. </a:t>
            </a:r>
            <a:endParaRPr lang="en-US" sz="2400" b="0" i="0" dirty="0">
              <a:solidFill>
                <a:srgbClr val="FFFFFF"/>
              </a:solidFill>
              <a:effectLst/>
              <a:latin typeface="Times New Roman" panose="02020603050405020304" pitchFamily="18" charset="0"/>
              <a:cs typeface="Times New Roman" panose="02020603050405020304" pitchFamily="18" charset="0"/>
            </a:endParaRPr>
          </a:p>
          <a:p>
            <a:r>
              <a:rPr lang="tr-TR" sz="2400" b="0" i="0" dirty="0">
                <a:solidFill>
                  <a:srgbClr val="FFFFFF"/>
                </a:solidFill>
                <a:effectLst/>
                <a:latin typeface="Times New Roman" panose="02020603050405020304" pitchFamily="18" charset="0"/>
                <a:cs typeface="Times New Roman" panose="02020603050405020304" pitchFamily="18" charset="0"/>
              </a:rPr>
              <a:t>U ikkita o'zgaruvchining o'rtacha qiymatlaridan birgalikda qanchalik o'zgarishini baholaydi. Kovariatsiya har bir o'zgaruvchining tegishli o'rtacha qiymatidan chetlanishlari mahsulotining o'rtacha qiymatini olish yo'li bilan hisoblanadi. </a:t>
            </a:r>
            <a:endParaRPr lang="ru-RU"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4F845FA-C586-91B4-1B43-5CEA8C787A17}"/>
              </a:ext>
            </a:extLst>
          </p:cNvPr>
          <p:cNvSpPr txBox="1"/>
          <p:nvPr/>
        </p:nvSpPr>
        <p:spPr>
          <a:xfrm>
            <a:off x="455139" y="3554410"/>
            <a:ext cx="6097604" cy="461665"/>
          </a:xfrm>
          <a:prstGeom prst="rect">
            <a:avLst/>
          </a:prstGeom>
          <a:noFill/>
        </p:spPr>
        <p:txBody>
          <a:bodyPr wrap="square">
            <a:spAutoFit/>
          </a:bodyPr>
          <a:lstStyle/>
          <a:p>
            <a:pPr algn="l" fontAlgn="base">
              <a:buNone/>
            </a:pPr>
            <a:r>
              <a:rPr lang="tr-TR" sz="2400" b="1" i="0" dirty="0">
                <a:solidFill>
                  <a:srgbClr val="FFC000"/>
                </a:solidFill>
                <a:effectLst/>
                <a:latin typeface="Times New Roman" panose="02020603050405020304" pitchFamily="18" charset="0"/>
                <a:cs typeface="Times New Roman" panose="02020603050405020304" pitchFamily="18" charset="0"/>
              </a:rPr>
              <a:t>Kovariatsiya </a:t>
            </a:r>
            <a:r>
              <a:rPr lang="en-US" sz="2400" b="1" i="0" dirty="0" err="1">
                <a:solidFill>
                  <a:srgbClr val="FFC000"/>
                </a:solidFill>
                <a:effectLst/>
                <a:latin typeface="Times New Roman" panose="02020603050405020304" pitchFamily="18" charset="0"/>
                <a:cs typeface="Times New Roman" panose="02020603050405020304" pitchFamily="18" charset="0"/>
              </a:rPr>
              <a:t>formulasi</a:t>
            </a:r>
            <a:r>
              <a:rPr lang="en-US" sz="2400" b="1" i="0" dirty="0">
                <a:solidFill>
                  <a:srgbClr val="FFC000"/>
                </a:solidFill>
                <a:effectLst/>
                <a:latin typeface="Times New Roman" panose="02020603050405020304" pitchFamily="18" charset="0"/>
                <a:cs typeface="Times New Roman" panose="02020603050405020304" pitchFamily="18" charset="0"/>
              </a:rPr>
              <a:t>:</a:t>
            </a:r>
            <a:endParaRPr lang="tr-TR" sz="2400" b="1" i="0" dirty="0">
              <a:solidFill>
                <a:srgbClr val="FFC000"/>
              </a:solidFill>
              <a:effectLst/>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D32A56DF-7FC1-219F-E678-9F953D02518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4065472" y="3967295"/>
            <a:ext cx="3891008" cy="883236"/>
          </a:xfrm>
          <a:prstGeom prst="rect">
            <a:avLst/>
          </a:prstGeom>
          <a:ln>
            <a:solidFill>
              <a:srgbClr val="F3F3F3"/>
            </a:solidFill>
          </a:ln>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7E4E256-24FA-3E7B-93F6-8718AFFC9352}"/>
                  </a:ext>
                </a:extLst>
              </p:cNvPr>
              <p:cNvSpPr txBox="1"/>
              <p:nvPr/>
            </p:nvSpPr>
            <p:spPr>
              <a:xfrm>
                <a:off x="623235" y="5072391"/>
                <a:ext cx="4863164" cy="400110"/>
              </a:xfrm>
              <a:prstGeom prst="rect">
                <a:avLst/>
              </a:prstGeom>
              <a:noFill/>
            </p:spPr>
            <p:txBody>
              <a:bodyPr wrap="square">
                <a:spAutoFit/>
              </a:bodyPr>
              <a:lstStyle/>
              <a:p>
                <a14:m>
                  <m:oMath xmlns:m="http://schemas.openxmlformats.org/officeDocument/2006/math">
                    <m:sSub>
                      <m:sSubPr>
                        <m:ctrlPr>
                          <a:rPr lang="ru-RU" sz="2000" i="1" smtClean="0">
                            <a:latin typeface="Cambria Math" panose="02040503050406030204" pitchFamily="18" charset="0"/>
                          </a:rPr>
                        </m:ctrlPr>
                      </m:sSubPr>
                      <m:e>
                        <m:r>
                          <a:rPr lang="ru-RU" sz="2000" i="1">
                            <a:latin typeface="Cambria Math" panose="02040503050406030204" pitchFamily="18" charset="0"/>
                          </a:rPr>
                          <m:t>𝑥</m:t>
                        </m:r>
                      </m:e>
                      <m:sub>
                        <m:r>
                          <a:rPr lang="ru-RU" sz="2000" i="1">
                            <a:latin typeface="Cambria Math" panose="02040503050406030204" pitchFamily="18" charset="0"/>
                          </a:rPr>
                          <m:t>𝑖</m:t>
                        </m:r>
                      </m:sub>
                    </m:sSub>
                  </m:oMath>
                </a14:m>
                <a:r>
                  <a:rPr lang="en-US" sz="2000" dirty="0">
                    <a:latin typeface="Times New Roman" panose="02020603050405020304" pitchFamily="18" charset="0"/>
                    <a:cs typeface="Times New Roman" panose="02020603050405020304" pitchFamily="18" charset="0"/>
                  </a:rPr>
                  <a:t> - X </a:t>
                </a:r>
                <a:r>
                  <a:rPr lang="en-US" sz="2000" dirty="0" err="1">
                    <a:latin typeface="Times New Roman" panose="02020603050405020304" pitchFamily="18" charset="0"/>
                    <a:cs typeface="Times New Roman" panose="02020603050405020304" pitchFamily="18" charset="0"/>
                  </a:rPr>
                  <a:t>o’zgaruvchining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i-elementi</a:t>
                </a:r>
                <a:endParaRPr lang="ru-RU" sz="2000"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B7E4E256-24FA-3E7B-93F6-8718AFFC9352}"/>
                  </a:ext>
                </a:extLst>
              </p:cNvPr>
              <p:cNvSpPr txBox="1">
                <a:spLocks noRot="1" noChangeAspect="1" noMove="1" noResize="1" noEditPoints="1" noAdjustHandles="1" noChangeArrowheads="1" noChangeShapeType="1" noTextEdit="1"/>
              </p:cNvSpPr>
              <p:nvPr/>
            </p:nvSpPr>
            <p:spPr>
              <a:xfrm>
                <a:off x="623235" y="5072391"/>
                <a:ext cx="4863164" cy="400110"/>
              </a:xfrm>
              <a:prstGeom prst="rect">
                <a:avLst/>
              </a:prstGeom>
              <a:blipFill>
                <a:blip r:embed="rId4"/>
                <a:stretch>
                  <a:fillRect t="-7576" b="-2575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9F488E-65C6-CA5A-4049-A771C3A3E83E}"/>
                  </a:ext>
                </a:extLst>
              </p:cNvPr>
              <p:cNvSpPr txBox="1"/>
              <p:nvPr/>
            </p:nvSpPr>
            <p:spPr>
              <a:xfrm>
                <a:off x="623235" y="5441723"/>
                <a:ext cx="6097604" cy="400110"/>
              </a:xfrm>
              <a:prstGeom prst="rect">
                <a:avLst/>
              </a:prstGeom>
              <a:noFill/>
            </p:spPr>
            <p:txBody>
              <a:bodyPr wrap="square">
                <a:spAutoFit/>
              </a:bodyPr>
              <a:lstStyle/>
              <a:p>
                <a14:m>
                  <m:oMath xmlns:m="http://schemas.openxmlformats.org/officeDocument/2006/math">
                    <m:sSub>
                      <m:sSubPr>
                        <m:ctrlPr>
                          <a:rPr lang="ru-RU" sz="2000" i="1" smtClean="0">
                            <a:latin typeface="Cambria Math" panose="02040503050406030204" pitchFamily="18" charset="0"/>
                          </a:rPr>
                        </m:ctrlPr>
                      </m:sSubPr>
                      <m:e>
                        <m:r>
                          <a:rPr lang="ru-RU" sz="2000" i="1">
                            <a:latin typeface="Cambria Math" panose="02040503050406030204" pitchFamily="18" charset="0"/>
                          </a:rPr>
                          <m:t>𝑦</m:t>
                        </m:r>
                      </m:e>
                      <m:sub>
                        <m:r>
                          <a:rPr lang="ru-RU" sz="2000" i="1">
                            <a:latin typeface="Cambria Math" panose="02040503050406030204" pitchFamily="18" charset="0"/>
                          </a:rPr>
                          <m:t>𝑖</m:t>
                        </m:r>
                      </m:sub>
                    </m:sSub>
                  </m:oMath>
                </a14:m>
                <a:r>
                  <a:rPr lang="en-US" sz="2000" dirty="0">
                    <a:latin typeface="Times New Roman" panose="02020603050405020304" pitchFamily="18" charset="0"/>
                    <a:cs typeface="Times New Roman" panose="02020603050405020304" pitchFamily="18" charset="0"/>
                  </a:rPr>
                  <a:t> - Y </a:t>
                </a:r>
                <a:r>
                  <a:rPr lang="en-US" sz="2000" dirty="0" err="1">
                    <a:latin typeface="Times New Roman" panose="02020603050405020304" pitchFamily="18" charset="0"/>
                    <a:cs typeface="Times New Roman" panose="02020603050405020304" pitchFamily="18" charset="0"/>
                  </a:rPr>
                  <a:t>o’zgaruvchining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i-elementi</a:t>
                </a:r>
                <a:endParaRPr lang="ru-RU" sz="2000" dirty="0">
                  <a:latin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459F488E-65C6-CA5A-4049-A771C3A3E83E}"/>
                  </a:ext>
                </a:extLst>
              </p:cNvPr>
              <p:cNvSpPr txBox="1">
                <a:spLocks noRot="1" noChangeAspect="1" noMove="1" noResize="1" noEditPoints="1" noAdjustHandles="1" noChangeArrowheads="1" noChangeShapeType="1" noTextEdit="1"/>
              </p:cNvSpPr>
              <p:nvPr/>
            </p:nvSpPr>
            <p:spPr>
              <a:xfrm>
                <a:off x="623235" y="5441723"/>
                <a:ext cx="6097604" cy="400110"/>
              </a:xfrm>
              <a:prstGeom prst="rect">
                <a:avLst/>
              </a:prstGeom>
              <a:blipFill>
                <a:blip r:embed="rId5"/>
                <a:stretch>
                  <a:fillRect t="-9231" b="-27692"/>
                </a:stretch>
              </a:blipFill>
            </p:spPr>
            <p:txBody>
              <a:bodyPr/>
              <a:lstStyle/>
              <a:p>
                <a:r>
                  <a:rPr lang="ru-RU">
                    <a:noFill/>
                  </a:rPr>
                  <a:t> </a:t>
                </a:r>
              </a:p>
            </p:txBody>
          </p:sp>
        </mc:Fallback>
      </mc:AlternateContent>
      <p:pic>
        <p:nvPicPr>
          <p:cNvPr id="19" name="Рисунок 18">
            <a:extLst>
              <a:ext uri="{FF2B5EF4-FFF2-40B4-BE49-F238E27FC236}">
                <a16:creationId xmlns:a16="http://schemas.microsoft.com/office/drawing/2014/main" id="{03BCC366-6071-03F6-5818-E162226F3097}"/>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Lst>
          </a:blip>
          <a:stretch>
            <a:fillRect/>
          </a:stretch>
        </p:blipFill>
        <p:spPr>
          <a:xfrm>
            <a:off x="623236" y="5868344"/>
            <a:ext cx="375870" cy="312043"/>
          </a:xfrm>
          <a:prstGeom prst="rect">
            <a:avLst/>
          </a:prstGeom>
        </p:spPr>
      </p:pic>
      <p:sp>
        <p:nvSpPr>
          <p:cNvPr id="21" name="TextBox 20">
            <a:extLst>
              <a:ext uri="{FF2B5EF4-FFF2-40B4-BE49-F238E27FC236}">
                <a16:creationId xmlns:a16="http://schemas.microsoft.com/office/drawing/2014/main" id="{D70847B2-9E0A-D3E0-156F-EA7AAD5590BE}"/>
              </a:ext>
            </a:extLst>
          </p:cNvPr>
          <p:cNvSpPr txBox="1"/>
          <p:nvPr/>
        </p:nvSpPr>
        <p:spPr>
          <a:xfrm>
            <a:off x="883117" y="5862734"/>
            <a:ext cx="609760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X ning o‘rtacha qiymati (mean).</a:t>
            </a:r>
            <a:endParaRPr lang="ru-RU" sz="2000" dirty="0">
              <a:latin typeface="Times New Roman" panose="02020603050405020304" pitchFamily="18" charset="0"/>
              <a:cs typeface="Times New Roman" panose="02020603050405020304" pitchFamily="18" charset="0"/>
            </a:endParaRPr>
          </a:p>
        </p:txBody>
      </p:sp>
      <p:pic>
        <p:nvPicPr>
          <p:cNvPr id="23" name="Рисунок 22">
            <a:extLst>
              <a:ext uri="{FF2B5EF4-FFF2-40B4-BE49-F238E27FC236}">
                <a16:creationId xmlns:a16="http://schemas.microsoft.com/office/drawing/2014/main" id="{06C2BF07-FDC0-73A0-3B8C-6C86AFC393CF}"/>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contrast="40000"/>
                    </a14:imgEffect>
                  </a14:imgLayer>
                </a14:imgProps>
              </a:ext>
            </a:extLst>
          </a:blip>
          <a:stretch>
            <a:fillRect/>
          </a:stretch>
        </p:blipFill>
        <p:spPr>
          <a:xfrm>
            <a:off x="623235" y="6283745"/>
            <a:ext cx="284148" cy="330226"/>
          </a:xfrm>
          <a:prstGeom prst="rect">
            <a:avLst/>
          </a:prstGeom>
        </p:spPr>
      </p:pic>
      <p:sp>
        <p:nvSpPr>
          <p:cNvPr id="25" name="TextBox 24">
            <a:extLst>
              <a:ext uri="{FF2B5EF4-FFF2-40B4-BE49-F238E27FC236}">
                <a16:creationId xmlns:a16="http://schemas.microsoft.com/office/drawing/2014/main" id="{CB82436B-7114-2DF5-36C8-4264F58C9275}"/>
              </a:ext>
            </a:extLst>
          </p:cNvPr>
          <p:cNvSpPr txBox="1"/>
          <p:nvPr/>
        </p:nvSpPr>
        <p:spPr>
          <a:xfrm>
            <a:off x="883117" y="6313373"/>
            <a:ext cx="6097604" cy="400110"/>
          </a:xfrm>
          <a:prstGeom prst="rect">
            <a:avLst/>
          </a:prstGeom>
          <a:noFill/>
        </p:spPr>
        <p:txBody>
          <a:bodyPr wrap="square">
            <a:spAutoFit/>
          </a:bodyPr>
          <a:lstStyle/>
          <a:p>
            <a:r>
              <a:rPr lang="es-ES" sz="2000" dirty="0">
                <a:latin typeface="Times New Roman" panose="02020603050405020304" pitchFamily="18" charset="0"/>
                <a:cs typeface="Times New Roman" panose="02020603050405020304" pitchFamily="18" charset="0"/>
              </a:rPr>
              <a:t>- Y </a:t>
            </a:r>
            <a:r>
              <a:rPr lang="es-ES" sz="2000" dirty="0" err="1">
                <a:latin typeface="Times New Roman" panose="02020603050405020304" pitchFamily="18" charset="0"/>
                <a:cs typeface="Times New Roman" panose="02020603050405020304" pitchFamily="18" charset="0"/>
              </a:rPr>
              <a:t>ning</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o‘rtacha</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qiymati</a:t>
            </a:r>
            <a:r>
              <a:rPr lang="es-ES" sz="2000" dirty="0">
                <a:latin typeface="Times New Roman" panose="02020603050405020304" pitchFamily="18" charset="0"/>
                <a:cs typeface="Times New Roman" panose="02020603050405020304" pitchFamily="18" charset="0"/>
              </a:rPr>
              <a:t> (mean).</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61490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812EBE-82C2-82A7-ED61-C424EF0A3A63}"/>
              </a:ext>
            </a:extLst>
          </p:cNvPr>
          <p:cNvSpPr txBox="1"/>
          <p:nvPr/>
        </p:nvSpPr>
        <p:spPr>
          <a:xfrm>
            <a:off x="455139" y="216580"/>
            <a:ext cx="9326187"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KOVARIATSIYA VA KORRELYATSIYA</a:t>
            </a:r>
          </a:p>
        </p:txBody>
      </p:sp>
      <p:sp>
        <p:nvSpPr>
          <p:cNvPr id="3" name="TextBox 2">
            <a:extLst>
              <a:ext uri="{FF2B5EF4-FFF2-40B4-BE49-F238E27FC236}">
                <a16:creationId xmlns:a16="http://schemas.microsoft.com/office/drawing/2014/main" id="{F8D144E6-3BE1-6F55-D4DC-BDD97DEAF52E}"/>
              </a:ext>
            </a:extLst>
          </p:cNvPr>
          <p:cNvSpPr txBox="1"/>
          <p:nvPr/>
        </p:nvSpPr>
        <p:spPr>
          <a:xfrm>
            <a:off x="455139" y="862911"/>
            <a:ext cx="6097604" cy="461665"/>
          </a:xfrm>
          <a:prstGeom prst="rect">
            <a:avLst/>
          </a:prstGeom>
          <a:noFill/>
        </p:spPr>
        <p:txBody>
          <a:bodyPr wrap="square">
            <a:spAutoFit/>
          </a:bodyPr>
          <a:lstStyle/>
          <a:p>
            <a:pPr algn="l" fontAlgn="base">
              <a:buNone/>
            </a:pPr>
            <a:r>
              <a:rPr lang="tr-TR" sz="2400" b="1" i="0" dirty="0">
                <a:solidFill>
                  <a:srgbClr val="FFC000"/>
                </a:solidFill>
                <a:effectLst/>
                <a:latin typeface="Times New Roman" panose="02020603050405020304" pitchFamily="18" charset="0"/>
                <a:cs typeface="Times New Roman" panose="02020603050405020304" pitchFamily="18" charset="0"/>
              </a:rPr>
              <a:t>K</a:t>
            </a:r>
            <a:r>
              <a:rPr lang="en-US" sz="2400" b="1" dirty="0" err="1">
                <a:solidFill>
                  <a:srgbClr val="FFC000"/>
                </a:solidFill>
                <a:latin typeface="Times New Roman" panose="02020603050405020304" pitchFamily="18" charset="0"/>
                <a:cs typeface="Times New Roman" panose="02020603050405020304" pitchFamily="18" charset="0"/>
              </a:rPr>
              <a:t>orrelyatsiya</a:t>
            </a:r>
            <a:r>
              <a:rPr lang="tr-TR" sz="2400" b="1" i="0" dirty="0">
                <a:solidFill>
                  <a:srgbClr val="FFC000"/>
                </a:solidFill>
                <a:effectLst/>
                <a:latin typeface="Times New Roman" panose="02020603050405020304" pitchFamily="18" charset="0"/>
                <a:cs typeface="Times New Roman" panose="02020603050405020304" pitchFamily="18" charset="0"/>
              </a:rPr>
              <a:t> nima ?</a:t>
            </a:r>
          </a:p>
        </p:txBody>
      </p:sp>
      <p:sp>
        <p:nvSpPr>
          <p:cNvPr id="5" name="TextBox 4">
            <a:extLst>
              <a:ext uri="{FF2B5EF4-FFF2-40B4-BE49-F238E27FC236}">
                <a16:creationId xmlns:a16="http://schemas.microsoft.com/office/drawing/2014/main" id="{524572D3-F184-BCC3-7B9E-5B1B1308135E}"/>
              </a:ext>
            </a:extLst>
          </p:cNvPr>
          <p:cNvSpPr txBox="1"/>
          <p:nvPr/>
        </p:nvSpPr>
        <p:spPr>
          <a:xfrm>
            <a:off x="455138" y="1370742"/>
            <a:ext cx="11468276" cy="707886"/>
          </a:xfrm>
          <a:prstGeom prst="rect">
            <a:avLst/>
          </a:prstGeom>
          <a:noFill/>
        </p:spPr>
        <p:txBody>
          <a:bodyPr wrap="square">
            <a:spAutoFit/>
          </a:bodyPr>
          <a:lstStyle/>
          <a:p>
            <a:r>
              <a:rPr lang="tr-TR" sz="2000" b="1" dirty="0">
                <a:solidFill>
                  <a:srgbClr val="FFC000"/>
                </a:solidFill>
                <a:latin typeface="Times New Roman" panose="02020603050405020304" pitchFamily="18" charset="0"/>
                <a:cs typeface="Times New Roman" panose="02020603050405020304" pitchFamily="18" charset="0"/>
              </a:rPr>
              <a:t>K</a:t>
            </a:r>
            <a:r>
              <a:rPr lang="en-US" sz="2000" b="1" dirty="0" err="1">
                <a:solidFill>
                  <a:srgbClr val="FFC000"/>
                </a:solidFill>
                <a:latin typeface="Times New Roman" panose="02020603050405020304" pitchFamily="18" charset="0"/>
                <a:cs typeface="Times New Roman" panose="02020603050405020304" pitchFamily="18" charset="0"/>
              </a:rPr>
              <a:t>orrelyatsiya</a:t>
            </a:r>
            <a:r>
              <a:rPr lang="tr-TR" sz="2000" b="1" dirty="0">
                <a:solidFill>
                  <a:srgbClr val="FFC000"/>
                </a:solidFill>
                <a:latin typeface="Times New Roman" panose="02020603050405020304" pitchFamily="18" charset="0"/>
                <a:cs typeface="Times New Roman" panose="02020603050405020304" pitchFamily="18" charset="0"/>
              </a:rPr>
              <a:t> </a:t>
            </a:r>
            <a:r>
              <a:rPr lang="en-US" sz="2000" b="1" dirty="0">
                <a:solidFill>
                  <a:srgbClr val="FFC000"/>
                </a:solidFill>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bu </a:t>
            </a:r>
            <a:r>
              <a:rPr lang="tr-TR" sz="2000" b="1" dirty="0">
                <a:latin typeface="Times New Roman" panose="02020603050405020304" pitchFamily="18" charset="0"/>
                <a:cs typeface="Times New Roman" panose="02020603050405020304" pitchFamily="18" charset="0"/>
              </a:rPr>
              <a:t>Kovariatsiyaning standartlashtirilgan versiyasidir</a:t>
            </a:r>
            <a:r>
              <a:rPr lang="tr-TR" sz="2000" dirty="0">
                <a:latin typeface="Times New Roman" panose="02020603050405020304" pitchFamily="18" charset="0"/>
                <a:cs typeface="Times New Roman" panose="02020603050405020304" pitchFamily="18" charset="0"/>
              </a:rPr>
              <a:t>. U nafaqat yo‘nalishni, balki bog‘liqlikning </a:t>
            </a:r>
            <a:r>
              <a:rPr lang="tr-TR" sz="2000" b="1" dirty="0">
                <a:latin typeface="Times New Roman" panose="02020603050405020304" pitchFamily="18" charset="0"/>
                <a:cs typeface="Times New Roman" panose="02020603050405020304" pitchFamily="18" charset="0"/>
              </a:rPr>
              <a:t>kuchini</a:t>
            </a:r>
            <a:r>
              <a:rPr lang="tr-TR" sz="2000" dirty="0">
                <a:latin typeface="Times New Roman" panose="02020603050405020304" pitchFamily="18" charset="0"/>
                <a:cs typeface="Times New Roman" panose="02020603050405020304" pitchFamily="18" charset="0"/>
              </a:rPr>
              <a:t> ham o‘lchaydi.</a:t>
            </a:r>
            <a:endParaRPr lang="ru-RU" sz="2000"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E201F512-8C23-AEC5-9804-5153ECF59B0E}"/>
              </a:ext>
            </a:extLst>
          </p:cNvPr>
          <p:cNvSpPr>
            <a:spLocks noChangeArrowheads="1"/>
          </p:cNvSpPr>
          <p:nvPr/>
        </p:nvSpPr>
        <p:spPr bwMode="auto">
          <a:xfrm>
            <a:off x="455138" y="2154234"/>
            <a:ext cx="32454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b="1" dirty="0" err="1">
                <a:solidFill>
                  <a:srgbClr val="FFC000"/>
                </a:solidFill>
                <a:latin typeface="Times New Roman" panose="02020603050405020304" pitchFamily="18" charset="0"/>
                <a:cs typeface="Times New Roman" panose="02020603050405020304" pitchFamily="18" charset="0"/>
              </a:rPr>
              <a:t>Korrelyatsiya</a:t>
            </a:r>
            <a:r>
              <a:rPr lang="ru-RU" altLang="ru-RU" b="1" dirty="0">
                <a:solidFill>
                  <a:srgbClr val="FFC000"/>
                </a:solidFill>
                <a:latin typeface="Times New Roman" panose="02020603050405020304" pitchFamily="18" charset="0"/>
                <a:cs typeface="Times New Roman" panose="02020603050405020304" pitchFamily="18" charset="0"/>
              </a:rPr>
              <a:t> </a:t>
            </a:r>
            <a:r>
              <a:rPr lang="ru-RU" altLang="ru-RU" b="1" dirty="0" err="1">
                <a:solidFill>
                  <a:srgbClr val="FFC000"/>
                </a:solidFill>
                <a:latin typeface="Times New Roman" panose="02020603050405020304" pitchFamily="18" charset="0"/>
                <a:cs typeface="Times New Roman" panose="02020603050405020304" pitchFamily="18" charset="0"/>
              </a:rPr>
              <a:t>Koeffitsiyenti</a:t>
            </a:r>
            <a:r>
              <a:rPr lang="ru-RU" altLang="ru-RU" b="1" dirty="0">
                <a:solidFill>
                  <a:srgbClr val="FFC000"/>
                </a:solidFill>
                <a:latin typeface="Times New Roman" panose="02020603050405020304" pitchFamily="18" charset="0"/>
                <a:cs typeface="Times New Roman" panose="02020603050405020304" pitchFamily="18" charset="0"/>
              </a:rPr>
              <a:t> (r)</a:t>
            </a:r>
          </a:p>
        </p:txBody>
      </p:sp>
      <p:sp>
        <p:nvSpPr>
          <p:cNvPr id="7" name="Rectangle 2">
            <a:extLst>
              <a:ext uri="{FF2B5EF4-FFF2-40B4-BE49-F238E27FC236}">
                <a16:creationId xmlns:a16="http://schemas.microsoft.com/office/drawing/2014/main" id="{963B6F90-AC01-2E32-61A0-304CD0926025}"/>
              </a:ext>
            </a:extLst>
          </p:cNvPr>
          <p:cNvSpPr>
            <a:spLocks noChangeArrowheads="1"/>
          </p:cNvSpPr>
          <p:nvPr/>
        </p:nvSpPr>
        <p:spPr bwMode="auto">
          <a:xfrm>
            <a:off x="455138" y="2637522"/>
            <a:ext cx="11341527" cy="35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Korrelyatsiya</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koeffitsiyenti</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doim</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dan</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gacha</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bo‘lgan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qiymatni</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oladi</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pic>
        <p:nvPicPr>
          <p:cNvPr id="9" name="Рисунок 8">
            <a:extLst>
              <a:ext uri="{FF2B5EF4-FFF2-40B4-BE49-F238E27FC236}">
                <a16:creationId xmlns:a16="http://schemas.microsoft.com/office/drawing/2014/main" id="{A0AAE19F-61A7-D27C-44B8-4DDB13B47C7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3503941" y="3997915"/>
            <a:ext cx="5241002" cy="990723"/>
          </a:xfrm>
          <a:prstGeom prst="rect">
            <a:avLst/>
          </a:prstGeom>
          <a:ln>
            <a:solidFill>
              <a:schemeClr val="tx1"/>
            </a:solidFill>
          </a:ln>
        </p:spPr>
      </p:pic>
      <p:sp>
        <p:nvSpPr>
          <p:cNvPr id="11" name="TextBox 10">
            <a:extLst>
              <a:ext uri="{FF2B5EF4-FFF2-40B4-BE49-F238E27FC236}">
                <a16:creationId xmlns:a16="http://schemas.microsoft.com/office/drawing/2014/main" id="{90FB4E6E-6CBA-C4DB-E661-4C768DB892F0}"/>
              </a:ext>
            </a:extLst>
          </p:cNvPr>
          <p:cNvSpPr txBox="1"/>
          <p:nvPr/>
        </p:nvSpPr>
        <p:spPr>
          <a:xfrm>
            <a:off x="455138" y="3105421"/>
            <a:ext cx="11468275" cy="707886"/>
          </a:xfrm>
          <a:prstGeom prst="rect">
            <a:avLst/>
          </a:prstGeom>
          <a:noFill/>
        </p:spPr>
        <p:txBody>
          <a:bodyPr wrap="square">
            <a:spAutoFit/>
          </a:bodyPr>
          <a:lstStyle/>
          <a:p>
            <a:r>
              <a:rPr lang="tr-TR" sz="2000" dirty="0">
                <a:latin typeface="Times New Roman" panose="02020603050405020304" pitchFamily="18" charset="0"/>
                <a:cs typeface="Times New Roman" panose="02020603050405020304" pitchFamily="18" charset="0"/>
              </a:rPr>
              <a:t>Korrelyatsiya, asosan, </a:t>
            </a:r>
            <a:r>
              <a:rPr lang="tr-TR" sz="2000" b="1" dirty="0">
                <a:latin typeface="Times New Roman" panose="02020603050405020304" pitchFamily="18" charset="0"/>
                <a:cs typeface="Times New Roman" panose="02020603050405020304" pitchFamily="18" charset="0"/>
              </a:rPr>
              <a:t>Kovariatsiyaning</a:t>
            </a:r>
            <a:r>
              <a:rPr lang="tr-TR" sz="2000" dirty="0">
                <a:latin typeface="Times New Roman" panose="02020603050405020304" pitchFamily="18" charset="0"/>
                <a:cs typeface="Times New Roman" panose="02020603050405020304" pitchFamily="18" charset="0"/>
              </a:rPr>
              <a:t> standartlashtirilgan shaklidir. Ya’ni, Kovariatsiya faqat yo‘nalishni ko‘rsatsa, Korrelyatsiya uni Standart chetlanishlarga bo‘lish orqali </a:t>
            </a:r>
            <a:r>
              <a:rPr lang="tr-TR" sz="2000" b="1" dirty="0">
                <a:latin typeface="Times New Roman" panose="02020603050405020304" pitchFamily="18" charset="0"/>
                <a:cs typeface="Times New Roman" panose="02020603050405020304" pitchFamily="18" charset="0"/>
              </a:rPr>
              <a:t>kuchini</a:t>
            </a:r>
            <a:r>
              <a:rPr lang="tr-TR" sz="2000" dirty="0">
                <a:latin typeface="Times New Roman" panose="02020603050405020304" pitchFamily="18" charset="0"/>
                <a:cs typeface="Times New Roman" panose="02020603050405020304" pitchFamily="18" charset="0"/>
              </a:rPr>
              <a:t> ham aniqlaydi.</a:t>
            </a:r>
            <a:endParaRPr lang="ru-RU" sz="2000" dirty="0">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3499DF9F-3139-0F77-634D-B3778C348149}"/>
              </a:ext>
            </a:extLst>
          </p:cNvPr>
          <p:cNvSpPr>
            <a:spLocks noChangeArrowheads="1"/>
          </p:cNvSpPr>
          <p:nvPr/>
        </p:nvSpPr>
        <p:spPr bwMode="auto">
          <a:xfrm>
            <a:off x="455138" y="5287203"/>
            <a:ext cx="1114235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sz="2000" dirty="0">
                <a:latin typeface="Times New Roman" panose="02020603050405020304" pitchFamily="18" charset="0"/>
                <a:cs typeface="Times New Roman" panose="02020603050405020304" pitchFamily="18" charset="0"/>
              </a:rPr>
              <a:t>r </a:t>
            </a:r>
            <a:r>
              <a:rPr lang="ru-RU" altLang="ru-RU" sz="2000" dirty="0" err="1">
                <a:latin typeface="Times New Roman" panose="02020603050405020304" pitchFamily="18" charset="0"/>
                <a:cs typeface="Times New Roman" panose="02020603050405020304" pitchFamily="18" charset="0"/>
              </a:rPr>
              <a:t>ning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qiymati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santimetr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kilogramm</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yoki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so‘m</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kabi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birliklar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bilan</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bog‘liq</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emas</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Shuning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uchun</a:t>
            </a:r>
            <a:r>
              <a:rPr lang="ru-RU" altLang="ru-RU" sz="2000" dirty="0">
                <a:latin typeface="Times New Roman" panose="02020603050405020304" pitchFamily="18" charset="0"/>
                <a:cs typeface="Times New Roman" panose="02020603050405020304" pitchFamily="18" charset="0"/>
              </a:rPr>
              <a:t> r</a:t>
            </a:r>
            <a:r>
              <a:rPr lang="en-US" altLang="ru-RU" sz="2000" dirty="0">
                <a:latin typeface="Times New Roman" panose="02020603050405020304" pitchFamily="18" charset="0"/>
                <a:cs typeface="Times New Roman" panose="02020603050405020304" pitchFamily="18" charset="0"/>
              </a:rPr>
              <a:t> </a:t>
            </a:r>
            <a:r>
              <a:rPr lang="ru-RU" altLang="ru-RU" sz="2000" dirty="0">
                <a:latin typeface="Times New Roman" panose="02020603050405020304" pitchFamily="18" charset="0"/>
                <a:cs typeface="Times New Roman" panose="02020603050405020304" pitchFamily="18" charset="0"/>
              </a:rPr>
              <a:t>=</a:t>
            </a:r>
            <a:r>
              <a:rPr lang="en-US" altLang="ru-RU" sz="2000" dirty="0">
                <a:latin typeface="Times New Roman" panose="02020603050405020304" pitchFamily="18" charset="0"/>
                <a:cs typeface="Times New Roman" panose="02020603050405020304" pitchFamily="18" charset="0"/>
              </a:rPr>
              <a:t> </a:t>
            </a:r>
            <a:r>
              <a:rPr lang="ru-RU" altLang="ru-RU" sz="2000" dirty="0">
                <a:latin typeface="Times New Roman" panose="02020603050405020304" pitchFamily="18" charset="0"/>
                <a:cs typeface="Times New Roman" panose="02020603050405020304" pitchFamily="18" charset="0"/>
              </a:rPr>
              <a:t>0.8 </a:t>
            </a:r>
            <a:r>
              <a:rPr lang="ru-RU" altLang="ru-RU" sz="2000" dirty="0" err="1">
                <a:latin typeface="Times New Roman" panose="02020603050405020304" pitchFamily="18" charset="0"/>
                <a:cs typeface="Times New Roman" panose="02020603050405020304" pitchFamily="18" charset="0"/>
              </a:rPr>
              <a:t>ning</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ma'nosi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uy</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narxlarini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o‘rganishda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ham</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talabalar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baholarini</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o‘rganishda</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ham</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bir</a:t>
            </a:r>
            <a:r>
              <a:rPr lang="ru-RU" altLang="ru-RU" sz="2000" dirty="0">
                <a:latin typeface="Times New Roman" panose="02020603050405020304" pitchFamily="18" charset="0"/>
                <a:cs typeface="Times New Roman" panose="02020603050405020304" pitchFamily="18" charset="0"/>
              </a:rPr>
              <a:t> </a:t>
            </a:r>
            <a:r>
              <a:rPr lang="ru-RU" altLang="ru-RU" sz="2000" dirty="0" err="1">
                <a:latin typeface="Times New Roman" panose="02020603050405020304" pitchFamily="18" charset="0"/>
                <a:cs typeface="Times New Roman" panose="02020603050405020304" pitchFamily="18" charset="0"/>
              </a:rPr>
              <a:t>xil</a:t>
            </a:r>
            <a:r>
              <a:rPr lang="ru-RU" altLang="ru-RU"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53426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5AEA69-9856-AFEE-B069-C138E818F39B}"/>
              </a:ext>
            </a:extLst>
          </p:cNvPr>
          <p:cNvSpPr txBox="1"/>
          <p:nvPr/>
        </p:nvSpPr>
        <p:spPr>
          <a:xfrm>
            <a:off x="455139" y="216580"/>
            <a:ext cx="9326187" cy="646331"/>
          </a:xfrm>
          <a:prstGeom prst="rect">
            <a:avLst/>
          </a:prstGeom>
          <a:noFill/>
        </p:spPr>
        <p:txBody>
          <a:bodyPr wrap="square">
            <a:spAutoFit/>
          </a:bodyPr>
          <a:lstStyle/>
          <a:p>
            <a:pPr algn="l" fontAlgn="base"/>
            <a:r>
              <a:rPr lang="en-US" sz="3600" b="1" i="0" dirty="0">
                <a:effectLst/>
                <a:latin typeface="Times New Roman" panose="02020603050405020304" pitchFamily="18" charset="0"/>
                <a:cs typeface="Times New Roman" panose="02020603050405020304" pitchFamily="18" charset="0"/>
              </a:rPr>
              <a:t>KOVARIATSIYA VA KORRELYATSIYA</a:t>
            </a:r>
          </a:p>
        </p:txBody>
      </p:sp>
      <p:sp>
        <p:nvSpPr>
          <p:cNvPr id="3" name="TextBox 2">
            <a:extLst>
              <a:ext uri="{FF2B5EF4-FFF2-40B4-BE49-F238E27FC236}">
                <a16:creationId xmlns:a16="http://schemas.microsoft.com/office/drawing/2014/main" id="{0E5448FA-A186-FF76-7DCA-3436FE565FF0}"/>
              </a:ext>
            </a:extLst>
          </p:cNvPr>
          <p:cNvSpPr txBox="1"/>
          <p:nvPr/>
        </p:nvSpPr>
        <p:spPr>
          <a:xfrm>
            <a:off x="455139" y="862911"/>
            <a:ext cx="6097604" cy="461665"/>
          </a:xfrm>
          <a:prstGeom prst="rect">
            <a:avLst/>
          </a:prstGeom>
          <a:noFill/>
        </p:spPr>
        <p:txBody>
          <a:bodyPr wrap="square">
            <a:spAutoFit/>
          </a:bodyPr>
          <a:lstStyle/>
          <a:p>
            <a:pPr algn="l" fontAlgn="base">
              <a:buNone/>
            </a:pPr>
            <a:r>
              <a:rPr lang="tr-TR" sz="2400" b="1" i="0" dirty="0">
                <a:solidFill>
                  <a:srgbClr val="FFC000"/>
                </a:solidFill>
                <a:effectLst/>
                <a:latin typeface="Times New Roman" panose="02020603050405020304" pitchFamily="18" charset="0"/>
                <a:cs typeface="Times New Roman" panose="02020603050405020304" pitchFamily="18" charset="0"/>
              </a:rPr>
              <a:t>K</a:t>
            </a:r>
            <a:r>
              <a:rPr lang="en-US" sz="2400" b="1" dirty="0" err="1">
                <a:solidFill>
                  <a:srgbClr val="FFC000"/>
                </a:solidFill>
                <a:latin typeface="Times New Roman" panose="02020603050405020304" pitchFamily="18" charset="0"/>
                <a:cs typeface="Times New Roman" panose="02020603050405020304" pitchFamily="18" charset="0"/>
              </a:rPr>
              <a:t>orrelyatsiya</a:t>
            </a:r>
            <a:r>
              <a:rPr lang="tr-TR" sz="2400" b="1" i="0" dirty="0">
                <a:solidFill>
                  <a:srgbClr val="FFC000"/>
                </a:solidFill>
                <a:effectLst/>
                <a:latin typeface="Times New Roman" panose="02020603050405020304" pitchFamily="18" charset="0"/>
                <a:cs typeface="Times New Roman" panose="02020603050405020304" pitchFamily="18" charset="0"/>
              </a:rPr>
              <a:t> </a:t>
            </a:r>
            <a:r>
              <a:rPr lang="en-US" sz="2400" b="1" i="0" dirty="0" err="1">
                <a:solidFill>
                  <a:srgbClr val="FFC000"/>
                </a:solidFill>
                <a:effectLst/>
                <a:latin typeface="Times New Roman" panose="02020603050405020304" pitchFamily="18" charset="0"/>
                <a:cs typeface="Times New Roman" panose="02020603050405020304" pitchFamily="18" charset="0"/>
              </a:rPr>
              <a:t>turlari</a:t>
            </a:r>
            <a:r>
              <a:rPr lang="en-US" sz="2400" b="1" i="0" dirty="0">
                <a:solidFill>
                  <a:srgbClr val="FFC000"/>
                </a:solidFill>
                <a:effectLst/>
                <a:latin typeface="Times New Roman" panose="02020603050405020304" pitchFamily="18" charset="0"/>
                <a:cs typeface="Times New Roman" panose="02020603050405020304" pitchFamily="18" charset="0"/>
              </a:rPr>
              <a:t>?</a:t>
            </a:r>
            <a:endParaRPr lang="tr-TR" sz="2400" b="1" i="0" dirty="0">
              <a:solidFill>
                <a:srgbClr val="FFC000"/>
              </a:solidFill>
              <a:effectLs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B0922F33-7D13-1C3F-FFCA-70BF6F9F2DF0}"/>
              </a:ext>
            </a:extLst>
          </p:cNvPr>
          <p:cNvSpPr>
            <a:spLocks noChangeArrowheads="1"/>
          </p:cNvSpPr>
          <p:nvPr/>
        </p:nvSpPr>
        <p:spPr bwMode="auto">
          <a:xfrm>
            <a:off x="455139" y="1324576"/>
            <a:ext cx="47777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b="1" dirty="0">
                <a:solidFill>
                  <a:srgbClr val="00B0F0"/>
                </a:solidFill>
                <a:latin typeface="Times New Roman" panose="02020603050405020304" pitchFamily="18" charset="0"/>
                <a:cs typeface="Times New Roman" panose="02020603050405020304" pitchFamily="18" charset="0"/>
              </a:rPr>
              <a:t>1. </a:t>
            </a:r>
            <a:r>
              <a:rPr lang="ru-RU" altLang="ru-RU" b="1" dirty="0" err="1">
                <a:solidFill>
                  <a:srgbClr val="00B0F0"/>
                </a:solidFill>
                <a:latin typeface="Times New Roman" panose="02020603050405020304" pitchFamily="18" charset="0"/>
                <a:cs typeface="Times New Roman" panose="02020603050405020304" pitchFamily="18" charset="0"/>
              </a:rPr>
              <a:t>Musbat</a:t>
            </a:r>
            <a:r>
              <a:rPr lang="ru-RU" altLang="ru-RU" b="1" dirty="0">
                <a:solidFill>
                  <a:srgbClr val="00B0F0"/>
                </a:solidFill>
                <a:latin typeface="Times New Roman" panose="02020603050405020304" pitchFamily="18" charset="0"/>
                <a:cs typeface="Times New Roman" panose="02020603050405020304" pitchFamily="18" charset="0"/>
              </a:rPr>
              <a:t> (</a:t>
            </a:r>
            <a:r>
              <a:rPr lang="ru-RU" altLang="ru-RU" b="1" dirty="0" err="1">
                <a:solidFill>
                  <a:srgbClr val="00B0F0"/>
                </a:solidFill>
                <a:latin typeface="Times New Roman" panose="02020603050405020304" pitchFamily="18" charset="0"/>
                <a:cs typeface="Times New Roman" panose="02020603050405020304" pitchFamily="18" charset="0"/>
              </a:rPr>
              <a:t>To‘g‘ri</a:t>
            </a:r>
            <a:r>
              <a:rPr lang="ru-RU" altLang="ru-RU" b="1" dirty="0">
                <a:solidFill>
                  <a:srgbClr val="00B0F0"/>
                </a:solidFill>
                <a:latin typeface="Times New Roman" panose="02020603050405020304" pitchFamily="18" charset="0"/>
                <a:cs typeface="Times New Roman" panose="02020603050405020304" pitchFamily="18" charset="0"/>
              </a:rPr>
              <a:t>) </a:t>
            </a:r>
            <a:r>
              <a:rPr lang="en-US" altLang="ru-RU" b="1" dirty="0">
                <a:solidFill>
                  <a:srgbClr val="00B0F0"/>
                </a:solidFill>
                <a:latin typeface="Times New Roman" panose="02020603050405020304" pitchFamily="18" charset="0"/>
                <a:cs typeface="Times New Roman" panose="02020603050405020304" pitchFamily="18" charset="0"/>
              </a:rPr>
              <a:t>k</a:t>
            </a:r>
            <a:r>
              <a:rPr lang="ru-RU" altLang="ru-RU" b="1" dirty="0" err="1">
                <a:solidFill>
                  <a:srgbClr val="00B0F0"/>
                </a:solidFill>
                <a:latin typeface="Times New Roman" panose="02020603050405020304" pitchFamily="18" charset="0"/>
                <a:cs typeface="Times New Roman" panose="02020603050405020304" pitchFamily="18" charset="0"/>
              </a:rPr>
              <a:t>orrelyatsiya</a:t>
            </a:r>
            <a:r>
              <a:rPr lang="ru-RU" altLang="ru-RU" b="1" dirty="0">
                <a:solidFill>
                  <a:srgbClr val="00B0F0"/>
                </a:solidFill>
                <a:latin typeface="Times New Roman" panose="02020603050405020304" pitchFamily="18" charset="0"/>
                <a:cs typeface="Times New Roman" panose="02020603050405020304" pitchFamily="18" charset="0"/>
              </a:rPr>
              <a:t> (</a:t>
            </a:r>
            <a:r>
              <a:rPr lang="ru-RU" altLang="ru-RU" b="1" i="1" dirty="0">
                <a:solidFill>
                  <a:srgbClr val="00B0F0"/>
                </a:solidFill>
                <a:latin typeface="Times New Roman" panose="02020603050405020304" pitchFamily="18" charset="0"/>
                <a:cs typeface="Times New Roman" panose="02020603050405020304" pitchFamily="18" charset="0"/>
              </a:rPr>
              <a:t>r</a:t>
            </a:r>
            <a:r>
              <a:rPr lang="ru-RU" altLang="ru-RU" b="1" dirty="0">
                <a:solidFill>
                  <a:srgbClr val="00B0F0"/>
                </a:solidFill>
                <a:latin typeface="Times New Roman" panose="02020603050405020304" pitchFamily="18" charset="0"/>
                <a:cs typeface="Times New Roman" panose="02020603050405020304" pitchFamily="18" charset="0"/>
              </a:rPr>
              <a:t> </a:t>
            </a:r>
            <a:r>
              <a:rPr lang="ru-RU" altLang="ru-RU" b="1" dirty="0" err="1">
                <a:solidFill>
                  <a:srgbClr val="00B0F0"/>
                </a:solidFill>
                <a:latin typeface="Times New Roman" panose="02020603050405020304" pitchFamily="18" charset="0"/>
                <a:cs typeface="Times New Roman" panose="02020603050405020304" pitchFamily="18" charset="0"/>
              </a:rPr>
              <a:t>musbat</a:t>
            </a:r>
            <a:r>
              <a:rPr lang="ru-RU" altLang="ru-RU" b="1" dirty="0">
                <a:solidFill>
                  <a:srgbClr val="00B0F0"/>
                </a:solidFill>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AAC115D5-3BD7-1B76-6886-14D28BBF4AF1}"/>
              </a:ext>
            </a:extLst>
          </p:cNvPr>
          <p:cNvSpPr txBox="1"/>
          <p:nvPr/>
        </p:nvSpPr>
        <p:spPr>
          <a:xfrm>
            <a:off x="455139" y="1693908"/>
            <a:ext cx="5112742" cy="830997"/>
          </a:xfrm>
          <a:prstGeom prst="rect">
            <a:avLst/>
          </a:prstGeom>
          <a:noFill/>
        </p:spPr>
        <p:txBody>
          <a:bodyPr wrap="square">
            <a:spAutoFit/>
          </a:bodyPr>
          <a:lstStyle/>
          <a:p>
            <a:r>
              <a:rPr lang="tr-TR" sz="1600" dirty="0">
                <a:latin typeface="Times New Roman" panose="02020603050405020304" pitchFamily="18" charset="0"/>
                <a:cs typeface="Times New Roman" panose="02020603050405020304" pitchFamily="18" charset="0"/>
              </a:rPr>
              <a:t>Bir o‘zgaruvchi qiymati oshganda, ikkinchisiniki ham oshadi, yoki birinchisi kamayganda, ikkinchisiniki ham kamayadi. Ular bir xil yo‘nalishda harakat qiladi.</a:t>
            </a:r>
            <a:endParaRPr lang="ru-RU"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AE3C3E0-C093-218D-00C9-4FDC1AEAF4C2}"/>
              </a:ext>
            </a:extLst>
          </p:cNvPr>
          <p:cNvSpPr txBox="1"/>
          <p:nvPr/>
        </p:nvSpPr>
        <p:spPr>
          <a:xfrm>
            <a:off x="1945192" y="2492042"/>
            <a:ext cx="1066318" cy="461665"/>
          </a:xfrm>
          <a:prstGeom prst="rect">
            <a:avLst/>
          </a:prstGeom>
          <a:noFill/>
          <a:ln>
            <a:solidFill>
              <a:schemeClr val="tx1"/>
            </a:solidFill>
          </a:ln>
        </p:spPr>
        <p:txBody>
          <a:bodyPr wrap="none" rtlCol="0">
            <a:spAutoFit/>
          </a:bodyPr>
          <a:lstStyle/>
          <a:p>
            <a:r>
              <a:rPr lang="en-US" sz="2400" i="1" dirty="0">
                <a:latin typeface="Times New Roman" panose="02020603050405020304" pitchFamily="18" charset="0"/>
                <a:cs typeface="Times New Roman" panose="02020603050405020304" pitchFamily="18" charset="0"/>
              </a:rPr>
              <a:t>r ≈ + 1</a:t>
            </a:r>
            <a:endParaRPr lang="ru-RU" sz="2400" i="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E1D5127-4ABC-E195-E9BE-0278AA3A112E}"/>
              </a:ext>
            </a:extLst>
          </p:cNvPr>
          <p:cNvSpPr txBox="1"/>
          <p:nvPr/>
        </p:nvSpPr>
        <p:spPr>
          <a:xfrm>
            <a:off x="455187" y="2961732"/>
            <a:ext cx="6097508" cy="338554"/>
          </a:xfrm>
          <a:prstGeom prst="rect">
            <a:avLst/>
          </a:prstGeom>
          <a:noFill/>
        </p:spPr>
        <p:txBody>
          <a:bodyPr wrap="square">
            <a:spAutoFit/>
          </a:bodyPr>
          <a:lstStyle/>
          <a:p>
            <a:r>
              <a:rPr lang="tr-TR" sz="1600" i="1" dirty="0">
                <a:latin typeface="Times New Roman" panose="02020603050405020304" pitchFamily="18" charset="0"/>
                <a:cs typeface="Times New Roman" panose="02020603050405020304" pitchFamily="18" charset="0"/>
              </a:rPr>
              <a:t>Misol:</a:t>
            </a:r>
            <a:r>
              <a:rPr lang="tr-TR" sz="1600" dirty="0">
                <a:latin typeface="Times New Roman" panose="02020603050405020304" pitchFamily="18" charset="0"/>
                <a:cs typeface="Times New Roman" panose="02020603050405020304" pitchFamily="18" charset="0"/>
              </a:rPr>
              <a:t> Avtomobil yoshi oshgani sayin, uning narxi kamayib boradi.</a:t>
            </a:r>
            <a:endParaRPr lang="ru-RU" sz="1600" dirty="0">
              <a:latin typeface="Times New Roman" panose="02020603050405020304" pitchFamily="18" charset="0"/>
              <a:cs typeface="Times New Roman" panose="02020603050405020304" pitchFamily="18" charset="0"/>
            </a:endParaRPr>
          </a:p>
        </p:txBody>
      </p:sp>
      <p:sp>
        <p:nvSpPr>
          <p:cNvPr id="11" name="Rectangle 1">
            <a:extLst>
              <a:ext uri="{FF2B5EF4-FFF2-40B4-BE49-F238E27FC236}">
                <a16:creationId xmlns:a16="http://schemas.microsoft.com/office/drawing/2014/main" id="{3CA4F425-830B-3FD1-4CB9-AE396B28E361}"/>
              </a:ext>
            </a:extLst>
          </p:cNvPr>
          <p:cNvSpPr>
            <a:spLocks noChangeArrowheads="1"/>
          </p:cNvSpPr>
          <p:nvPr/>
        </p:nvSpPr>
        <p:spPr bwMode="auto">
          <a:xfrm>
            <a:off x="439885" y="3323039"/>
            <a:ext cx="47777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ru-RU" b="1" dirty="0">
                <a:solidFill>
                  <a:srgbClr val="00B0F0"/>
                </a:solidFill>
                <a:latin typeface="Times New Roman" panose="02020603050405020304" pitchFamily="18" charset="0"/>
                <a:cs typeface="Times New Roman" panose="02020603050405020304" pitchFamily="18" charset="0"/>
              </a:rPr>
              <a:t>2</a:t>
            </a:r>
            <a:r>
              <a:rPr lang="ru-RU" altLang="ru-RU" b="1" dirty="0">
                <a:solidFill>
                  <a:srgbClr val="00B0F0"/>
                </a:solidFill>
                <a:latin typeface="Times New Roman" panose="02020603050405020304" pitchFamily="18" charset="0"/>
                <a:cs typeface="Times New Roman" panose="02020603050405020304" pitchFamily="18" charset="0"/>
              </a:rPr>
              <a:t>. </a:t>
            </a:r>
            <a:r>
              <a:rPr lang="en-US" altLang="ru-RU" b="1" dirty="0" err="1">
                <a:solidFill>
                  <a:srgbClr val="00B0F0"/>
                </a:solidFill>
                <a:latin typeface="Times New Roman" panose="02020603050405020304" pitchFamily="18" charset="0"/>
                <a:cs typeface="Times New Roman" panose="02020603050405020304" pitchFamily="18" charset="0"/>
              </a:rPr>
              <a:t>Manfiy</a:t>
            </a:r>
            <a:r>
              <a:rPr lang="ru-RU" altLang="ru-RU" b="1" dirty="0">
                <a:solidFill>
                  <a:srgbClr val="00B0F0"/>
                </a:solidFill>
                <a:latin typeface="Times New Roman" panose="02020603050405020304" pitchFamily="18" charset="0"/>
                <a:cs typeface="Times New Roman" panose="02020603050405020304" pitchFamily="18" charset="0"/>
              </a:rPr>
              <a:t> (T</a:t>
            </a:r>
            <a:r>
              <a:rPr lang="en-US" altLang="ru-RU" b="1" dirty="0" err="1">
                <a:solidFill>
                  <a:srgbClr val="00B0F0"/>
                </a:solidFill>
                <a:latin typeface="Times New Roman" panose="02020603050405020304" pitchFamily="18" charset="0"/>
                <a:cs typeface="Times New Roman" panose="02020603050405020304" pitchFamily="18" charset="0"/>
              </a:rPr>
              <a:t>eskari</a:t>
            </a:r>
            <a:r>
              <a:rPr lang="ru-RU" altLang="ru-RU" b="1" dirty="0">
                <a:solidFill>
                  <a:srgbClr val="00B0F0"/>
                </a:solidFill>
                <a:latin typeface="Times New Roman" panose="02020603050405020304" pitchFamily="18" charset="0"/>
                <a:cs typeface="Times New Roman" panose="02020603050405020304" pitchFamily="18" charset="0"/>
              </a:rPr>
              <a:t>) </a:t>
            </a:r>
            <a:r>
              <a:rPr lang="en-US" altLang="ru-RU" b="1" dirty="0">
                <a:solidFill>
                  <a:srgbClr val="00B0F0"/>
                </a:solidFill>
                <a:latin typeface="Times New Roman" panose="02020603050405020304" pitchFamily="18" charset="0"/>
                <a:cs typeface="Times New Roman" panose="02020603050405020304" pitchFamily="18" charset="0"/>
              </a:rPr>
              <a:t>k</a:t>
            </a:r>
            <a:r>
              <a:rPr lang="ru-RU" altLang="ru-RU" b="1" dirty="0" err="1">
                <a:solidFill>
                  <a:srgbClr val="00B0F0"/>
                </a:solidFill>
                <a:latin typeface="Times New Roman" panose="02020603050405020304" pitchFamily="18" charset="0"/>
                <a:cs typeface="Times New Roman" panose="02020603050405020304" pitchFamily="18" charset="0"/>
              </a:rPr>
              <a:t>orrelyatsiya</a:t>
            </a:r>
            <a:r>
              <a:rPr lang="ru-RU" altLang="ru-RU" b="1" dirty="0">
                <a:solidFill>
                  <a:srgbClr val="00B0F0"/>
                </a:solidFill>
                <a:latin typeface="Times New Roman" panose="02020603050405020304" pitchFamily="18" charset="0"/>
                <a:cs typeface="Times New Roman" panose="02020603050405020304" pitchFamily="18" charset="0"/>
              </a:rPr>
              <a:t> (</a:t>
            </a:r>
            <a:r>
              <a:rPr lang="ru-RU" altLang="ru-RU" b="1" i="1" dirty="0">
                <a:solidFill>
                  <a:srgbClr val="00B0F0"/>
                </a:solidFill>
                <a:latin typeface="Times New Roman" panose="02020603050405020304" pitchFamily="18" charset="0"/>
                <a:cs typeface="Times New Roman" panose="02020603050405020304" pitchFamily="18" charset="0"/>
              </a:rPr>
              <a:t>r</a:t>
            </a:r>
            <a:r>
              <a:rPr lang="ru-RU" altLang="ru-RU" b="1" dirty="0">
                <a:solidFill>
                  <a:srgbClr val="00B0F0"/>
                </a:solidFill>
                <a:latin typeface="Times New Roman" panose="02020603050405020304" pitchFamily="18" charset="0"/>
                <a:cs typeface="Times New Roman" panose="02020603050405020304" pitchFamily="18" charset="0"/>
              </a:rPr>
              <a:t> </a:t>
            </a:r>
            <a:r>
              <a:rPr lang="en-US" altLang="ru-RU" b="1" dirty="0" err="1">
                <a:solidFill>
                  <a:srgbClr val="00B0F0"/>
                </a:solidFill>
                <a:latin typeface="Times New Roman" panose="02020603050405020304" pitchFamily="18" charset="0"/>
                <a:cs typeface="Times New Roman" panose="02020603050405020304" pitchFamily="18" charset="0"/>
              </a:rPr>
              <a:t>manfiy</a:t>
            </a:r>
            <a:r>
              <a:rPr lang="ru-RU" altLang="ru-RU" b="1" dirty="0">
                <a:solidFill>
                  <a:srgbClr val="00B0F0"/>
                </a:solidFill>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9921E0D3-E69D-A635-623E-478F91C3467D}"/>
              </a:ext>
            </a:extLst>
          </p:cNvPr>
          <p:cNvSpPr txBox="1"/>
          <p:nvPr/>
        </p:nvSpPr>
        <p:spPr>
          <a:xfrm>
            <a:off x="455187" y="3692371"/>
            <a:ext cx="6097508" cy="584775"/>
          </a:xfrm>
          <a:prstGeom prst="rect">
            <a:avLst/>
          </a:prstGeom>
          <a:noFill/>
        </p:spPr>
        <p:txBody>
          <a:bodyPr wrap="square">
            <a:spAutoFit/>
          </a:bodyPr>
          <a:lstStyle/>
          <a:p>
            <a:r>
              <a:rPr lang="tr-TR" sz="1600" dirty="0">
                <a:latin typeface="Times New Roman" panose="02020603050405020304" pitchFamily="18" charset="0"/>
                <a:cs typeface="Times New Roman" panose="02020603050405020304" pitchFamily="18" charset="0"/>
              </a:rPr>
              <a:t>Bir o‘zgaruvchi qiymati oshganda, ikkinchisiniki kamayadi. Ular qarama-qarshi yo‘nalishda harakat qiladi.</a:t>
            </a:r>
            <a:endParaRPr lang="ru-RU" sz="1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C739DD9-5F94-282E-89B3-D0BE9EF61006}"/>
              </a:ext>
            </a:extLst>
          </p:cNvPr>
          <p:cNvSpPr txBox="1"/>
          <p:nvPr/>
        </p:nvSpPr>
        <p:spPr>
          <a:xfrm>
            <a:off x="1960446" y="4228741"/>
            <a:ext cx="883575" cy="461665"/>
          </a:xfrm>
          <a:prstGeom prst="rect">
            <a:avLst/>
          </a:prstGeom>
          <a:noFill/>
          <a:ln>
            <a:solidFill>
              <a:schemeClr val="tx1"/>
            </a:solidFill>
          </a:ln>
        </p:spPr>
        <p:txBody>
          <a:bodyPr wrap="none" rtlCol="0">
            <a:spAutoFit/>
          </a:bodyPr>
          <a:lstStyle/>
          <a:p>
            <a:r>
              <a:rPr lang="en-US" sz="2400" i="1" dirty="0">
                <a:latin typeface="Times New Roman" panose="02020603050405020304" pitchFamily="18" charset="0"/>
                <a:cs typeface="Times New Roman" panose="02020603050405020304" pitchFamily="18" charset="0"/>
              </a:rPr>
              <a:t>r ≈ -1</a:t>
            </a:r>
            <a:endParaRPr lang="ru-RU" sz="2400" i="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01FC35A2-FBF8-6C60-7282-7C7580263DCD}"/>
              </a:ext>
            </a:extLst>
          </p:cNvPr>
          <p:cNvSpPr txBox="1"/>
          <p:nvPr/>
        </p:nvSpPr>
        <p:spPr>
          <a:xfrm>
            <a:off x="455187" y="4613616"/>
            <a:ext cx="6097508" cy="338554"/>
          </a:xfrm>
          <a:prstGeom prst="rect">
            <a:avLst/>
          </a:prstGeom>
          <a:noFill/>
        </p:spPr>
        <p:txBody>
          <a:bodyPr wrap="square">
            <a:spAutoFit/>
          </a:bodyPr>
          <a:lstStyle/>
          <a:p>
            <a:r>
              <a:rPr lang="tr-TR" sz="1600" i="1" dirty="0">
                <a:latin typeface="Times New Roman" panose="02020603050405020304" pitchFamily="18" charset="0"/>
                <a:cs typeface="Times New Roman" panose="02020603050405020304" pitchFamily="18" charset="0"/>
              </a:rPr>
              <a:t>Misol:</a:t>
            </a:r>
            <a:r>
              <a:rPr lang="tr-TR" sz="1600" dirty="0">
                <a:latin typeface="Times New Roman" panose="02020603050405020304" pitchFamily="18" charset="0"/>
                <a:cs typeface="Times New Roman" panose="02020603050405020304" pitchFamily="18" charset="0"/>
              </a:rPr>
              <a:t> Qancha ko‘p mahsulot sotsangiz, shuncha ko‘p komissiya olasiz.</a:t>
            </a:r>
            <a:endParaRPr lang="ru-RU" sz="1600" dirty="0">
              <a:latin typeface="Times New Roman" panose="02020603050405020304" pitchFamily="18" charset="0"/>
              <a:cs typeface="Times New Roman" panose="02020603050405020304" pitchFamily="18" charset="0"/>
            </a:endParaRPr>
          </a:p>
        </p:txBody>
      </p:sp>
      <p:pic>
        <p:nvPicPr>
          <p:cNvPr id="2052" name="Picture 4" descr="Изображение: scatter plots showing positive, negative, and zero correlation">
            <a:extLst>
              <a:ext uri="{FF2B5EF4-FFF2-40B4-BE49-F238E27FC236}">
                <a16:creationId xmlns:a16="http://schemas.microsoft.com/office/drawing/2014/main" id="{48BD29CF-AB95-30F8-35AC-5A38AD33BE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9537" y="1626041"/>
            <a:ext cx="5370820" cy="268610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
            <a:extLst>
              <a:ext uri="{FF2B5EF4-FFF2-40B4-BE49-F238E27FC236}">
                <a16:creationId xmlns:a16="http://schemas.microsoft.com/office/drawing/2014/main" id="{1459C9A4-0DBB-85EB-B35D-67ECD7B800A9}"/>
              </a:ext>
            </a:extLst>
          </p:cNvPr>
          <p:cNvSpPr>
            <a:spLocks noChangeArrowheads="1"/>
          </p:cNvSpPr>
          <p:nvPr/>
        </p:nvSpPr>
        <p:spPr bwMode="auto">
          <a:xfrm>
            <a:off x="439885" y="4937442"/>
            <a:ext cx="47777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ru-RU" b="1" dirty="0">
                <a:solidFill>
                  <a:srgbClr val="00B0F0"/>
                </a:solidFill>
                <a:latin typeface="Times New Roman" panose="02020603050405020304" pitchFamily="18" charset="0"/>
                <a:cs typeface="Times New Roman" panose="02020603050405020304" pitchFamily="18" charset="0"/>
              </a:rPr>
              <a:t>3</a:t>
            </a:r>
            <a:r>
              <a:rPr lang="ru-RU" altLang="ru-RU" b="1" dirty="0">
                <a:solidFill>
                  <a:srgbClr val="00B0F0"/>
                </a:solidFill>
                <a:latin typeface="Times New Roman" panose="02020603050405020304" pitchFamily="18" charset="0"/>
                <a:cs typeface="Times New Roman" panose="02020603050405020304" pitchFamily="18" charset="0"/>
              </a:rPr>
              <a:t>. </a:t>
            </a:r>
            <a:r>
              <a:rPr lang="en-US" altLang="ru-RU" b="1" dirty="0" err="1">
                <a:solidFill>
                  <a:srgbClr val="00B0F0"/>
                </a:solidFill>
                <a:latin typeface="Times New Roman" panose="02020603050405020304" pitchFamily="18" charset="0"/>
                <a:cs typeface="Times New Roman" panose="02020603050405020304" pitchFamily="18" charset="0"/>
              </a:rPr>
              <a:t>Nolga</a:t>
            </a:r>
            <a:r>
              <a:rPr lang="en-US" altLang="ru-RU" b="1" dirty="0">
                <a:solidFill>
                  <a:srgbClr val="00B0F0"/>
                </a:solidFill>
                <a:latin typeface="Times New Roman" panose="02020603050405020304" pitchFamily="18" charset="0"/>
                <a:cs typeface="Times New Roman" panose="02020603050405020304" pitchFamily="18" charset="0"/>
              </a:rPr>
              <a:t> </a:t>
            </a:r>
            <a:r>
              <a:rPr lang="en-US" altLang="ru-RU" b="1" dirty="0" err="1">
                <a:solidFill>
                  <a:srgbClr val="00B0F0"/>
                </a:solidFill>
                <a:latin typeface="Times New Roman" panose="02020603050405020304" pitchFamily="18" charset="0"/>
                <a:cs typeface="Times New Roman" panose="02020603050405020304" pitchFamily="18" charset="0"/>
              </a:rPr>
              <a:t>yaqin</a:t>
            </a:r>
            <a:r>
              <a:rPr lang="en-US" altLang="ru-RU" b="1" dirty="0">
                <a:solidFill>
                  <a:srgbClr val="00B0F0"/>
                </a:solidFill>
                <a:latin typeface="Times New Roman" panose="02020603050405020304" pitchFamily="18" charset="0"/>
                <a:cs typeface="Times New Roman" panose="02020603050405020304" pitchFamily="18" charset="0"/>
              </a:rPr>
              <a:t> </a:t>
            </a:r>
            <a:r>
              <a:rPr lang="en-US" altLang="ru-RU" b="1" dirty="0" err="1">
                <a:solidFill>
                  <a:srgbClr val="00B0F0"/>
                </a:solidFill>
                <a:latin typeface="Times New Roman" panose="02020603050405020304" pitchFamily="18" charset="0"/>
                <a:cs typeface="Times New Roman" panose="02020603050405020304" pitchFamily="18" charset="0"/>
              </a:rPr>
              <a:t>korrelyatsiya</a:t>
            </a:r>
            <a:endParaRPr lang="ru-RU" altLang="ru-RU" b="1" dirty="0">
              <a:solidFill>
                <a:srgbClr val="00B0F0"/>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C3432402-AB65-0738-3AF1-BA0D86E863CE}"/>
              </a:ext>
            </a:extLst>
          </p:cNvPr>
          <p:cNvSpPr txBox="1"/>
          <p:nvPr/>
        </p:nvSpPr>
        <p:spPr>
          <a:xfrm>
            <a:off x="439885" y="5306774"/>
            <a:ext cx="5004289" cy="584775"/>
          </a:xfrm>
          <a:prstGeom prst="rect">
            <a:avLst/>
          </a:prstGeom>
          <a:noFill/>
        </p:spPr>
        <p:txBody>
          <a:bodyPr wrap="square">
            <a:spAutoFit/>
          </a:bodyPr>
          <a:lstStyle/>
          <a:p>
            <a:r>
              <a:rPr lang="tr-TR" sz="1600" dirty="0">
                <a:latin typeface="Times New Roman" panose="02020603050405020304" pitchFamily="18" charset="0"/>
                <a:cs typeface="Times New Roman" panose="02020603050405020304" pitchFamily="18" charset="0"/>
              </a:rPr>
              <a:t>O‘zgaruvchilar o‘rtasida chiziqli bog‘liqlik yo‘q. Birining o‘zgarishi ikkinchisiga ta’sir qilmaydi.</a:t>
            </a:r>
            <a:endParaRPr lang="ru-RU" sz="16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7757D6E6-7975-C269-C382-90DBE24F7BB8}"/>
              </a:ext>
            </a:extLst>
          </p:cNvPr>
          <p:cNvSpPr txBox="1"/>
          <p:nvPr/>
        </p:nvSpPr>
        <p:spPr>
          <a:xfrm>
            <a:off x="2134690" y="5891549"/>
            <a:ext cx="883575" cy="461665"/>
          </a:xfrm>
          <a:prstGeom prst="rect">
            <a:avLst/>
          </a:prstGeom>
          <a:noFill/>
          <a:ln>
            <a:solidFill>
              <a:schemeClr val="tx1"/>
            </a:solidFill>
          </a:ln>
        </p:spPr>
        <p:txBody>
          <a:bodyPr wrap="none" rtlCol="0">
            <a:spAutoFit/>
          </a:bodyPr>
          <a:lstStyle/>
          <a:p>
            <a:r>
              <a:rPr lang="en-US" sz="2400" i="1" dirty="0">
                <a:latin typeface="Times New Roman" panose="02020603050405020304" pitchFamily="18" charset="0"/>
                <a:cs typeface="Times New Roman" panose="02020603050405020304" pitchFamily="18" charset="0"/>
              </a:rPr>
              <a:t>r ≈ -1</a:t>
            </a:r>
            <a:endParaRPr lang="ru-RU" sz="2400" i="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66DD6749-62AE-5D92-F7CC-BE1FA340113F}"/>
              </a:ext>
            </a:extLst>
          </p:cNvPr>
          <p:cNvSpPr txBox="1"/>
          <p:nvPr/>
        </p:nvSpPr>
        <p:spPr>
          <a:xfrm>
            <a:off x="233127" y="6259125"/>
            <a:ext cx="8901820" cy="338554"/>
          </a:xfrm>
          <a:prstGeom prst="rect">
            <a:avLst/>
          </a:prstGeom>
          <a:noFill/>
        </p:spPr>
        <p:txBody>
          <a:bodyPr wrap="square">
            <a:spAutoFit/>
          </a:bodyPr>
          <a:lstStyle/>
          <a:p>
            <a:r>
              <a:rPr lang="tr-TR" sz="1600" i="1" dirty="0">
                <a:latin typeface="Times New Roman" panose="02020603050405020304" pitchFamily="18" charset="0"/>
                <a:cs typeface="Times New Roman" panose="02020603050405020304" pitchFamily="18" charset="0"/>
              </a:rPr>
              <a:t>Misol:</a:t>
            </a:r>
            <a:r>
              <a:rPr lang="tr-TR" sz="1600" dirty="0">
                <a:latin typeface="Times New Roman" panose="02020603050405020304" pitchFamily="18" charset="0"/>
                <a:cs typeface="Times New Roman" panose="02020603050405020304" pitchFamily="18" charset="0"/>
              </a:rPr>
              <a:t> Odamlarning bo‘yi va ularning telefon raqamlari o‘rtasida bog‘liqlik mavjud emas.</a:t>
            </a:r>
            <a:endParaRPr lang="ru-RU"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03920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992A12-7D07-452F-E1B5-91AC521940ED}"/>
              </a:ext>
            </a:extLst>
          </p:cNvPr>
          <p:cNvSpPr txBox="1"/>
          <p:nvPr/>
        </p:nvSpPr>
        <p:spPr>
          <a:xfrm>
            <a:off x="679010" y="190123"/>
            <a:ext cx="2815964" cy="584775"/>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REGRESSIYA</a:t>
            </a:r>
            <a:endParaRPr lang="ru-RU"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5C17D7B-DA17-5E52-2DEF-5E289AA7BFE6}"/>
              </a:ext>
            </a:extLst>
          </p:cNvPr>
          <p:cNvSpPr txBox="1"/>
          <p:nvPr/>
        </p:nvSpPr>
        <p:spPr>
          <a:xfrm>
            <a:off x="679010" y="884604"/>
            <a:ext cx="5730844" cy="1477328"/>
          </a:xfrm>
          <a:prstGeom prst="rect">
            <a:avLst/>
          </a:prstGeom>
          <a:noFill/>
        </p:spPr>
        <p:txBody>
          <a:bodyPr wrap="square">
            <a:spAutoFit/>
          </a:bodyPr>
          <a:lstStyle/>
          <a:p>
            <a:r>
              <a:rPr lang="tr-TR" b="1" dirty="0">
                <a:solidFill>
                  <a:srgbClr val="FFC000"/>
                </a:solidFill>
                <a:latin typeface="Times New Roman" panose="02020603050405020304" pitchFamily="18" charset="0"/>
                <a:cs typeface="Times New Roman" panose="02020603050405020304" pitchFamily="18" charset="0"/>
              </a:rPr>
              <a:t>Regressiya</a:t>
            </a:r>
            <a:r>
              <a:rPr lang="tr-TR" dirty="0">
                <a:latin typeface="Times New Roman" panose="02020603050405020304" pitchFamily="18" charset="0"/>
                <a:cs typeface="Times New Roman" panose="02020603050405020304" pitchFamily="18" charset="0"/>
              </a:rPr>
              <a:t> — bu statistikada bir o‘zgaruvchining qiymatini boshqa bir yoki bir nechta o‘zgaruvchilar yordamida </a:t>
            </a:r>
            <a:r>
              <a:rPr lang="tr-TR" b="1" dirty="0">
                <a:latin typeface="Times New Roman" panose="02020603050405020304" pitchFamily="18" charset="0"/>
                <a:cs typeface="Times New Roman" panose="02020603050405020304" pitchFamily="18" charset="0"/>
              </a:rPr>
              <a:t>bashorat qilish (prognozlash)</a:t>
            </a:r>
            <a:r>
              <a:rPr lang="tr-TR" dirty="0">
                <a:latin typeface="Times New Roman" panose="02020603050405020304" pitchFamily="18" charset="0"/>
                <a:cs typeface="Times New Roman" panose="02020603050405020304" pitchFamily="18" charset="0"/>
              </a:rPr>
              <a:t> yoki ular orasidagi </a:t>
            </a:r>
            <a:r>
              <a:rPr lang="tr-TR" b="1" dirty="0">
                <a:latin typeface="Times New Roman" panose="02020603050405020304" pitchFamily="18" charset="0"/>
                <a:cs typeface="Times New Roman" panose="02020603050405020304" pitchFamily="18" charset="0"/>
              </a:rPr>
              <a:t>sababiy aloqani modellashtirish</a:t>
            </a:r>
            <a:r>
              <a:rPr lang="tr-TR" dirty="0">
                <a:latin typeface="Times New Roman" panose="02020603050405020304" pitchFamily="18" charset="0"/>
                <a:cs typeface="Times New Roman" panose="02020603050405020304" pitchFamily="18" charset="0"/>
              </a:rPr>
              <a:t> uchun ishlatiladigan kuchli tahlil usulidir</a:t>
            </a:r>
            <a:endParaRPr lang="ru-RU" dirty="0">
              <a:latin typeface="Times New Roman" panose="02020603050405020304" pitchFamily="18" charset="0"/>
              <a:cs typeface="Times New Roman" panose="02020603050405020304" pitchFamily="18" charset="0"/>
            </a:endParaRPr>
          </a:p>
        </p:txBody>
      </p:sp>
      <p:pic>
        <p:nvPicPr>
          <p:cNvPr id="3074" name="Picture 2" descr="Изображение: a simple linear regression model with the regression line and scatter plot">
            <a:extLst>
              <a:ext uri="{FF2B5EF4-FFF2-40B4-BE49-F238E27FC236}">
                <a16:creationId xmlns:a16="http://schemas.microsoft.com/office/drawing/2014/main" id="{0527FD9C-3672-D599-B006-8212EC6805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8654" y="884603"/>
            <a:ext cx="4334347" cy="43343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42109C4-1BB9-4B46-07E3-293E35B1C85F}"/>
              </a:ext>
            </a:extLst>
          </p:cNvPr>
          <p:cNvSpPr txBox="1"/>
          <p:nvPr/>
        </p:nvSpPr>
        <p:spPr>
          <a:xfrm>
            <a:off x="679010" y="2286972"/>
            <a:ext cx="6097508" cy="369332"/>
          </a:xfrm>
          <a:prstGeom prst="rect">
            <a:avLst/>
          </a:prstGeom>
          <a:noFill/>
        </p:spPr>
        <p:txBody>
          <a:bodyPr wrap="square">
            <a:spAutoFit/>
          </a:bodyPr>
          <a:lstStyle/>
          <a:p>
            <a:r>
              <a:rPr lang="tr-TR" b="1" dirty="0">
                <a:solidFill>
                  <a:srgbClr val="FFC000"/>
                </a:solidFill>
                <a:latin typeface="Times New Roman" panose="02020603050405020304" pitchFamily="18" charset="0"/>
                <a:cs typeface="Times New Roman" panose="02020603050405020304" pitchFamily="18" charset="0"/>
              </a:rPr>
              <a:t>Regressiyaning asosiy elementlari</a:t>
            </a:r>
            <a:endParaRPr lang="ru-RU" b="1" dirty="0">
              <a:solidFill>
                <a:srgbClr val="FFC000"/>
              </a:solidFill>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3F02F3B6-0032-3AA4-1B7E-F7E55376E1FC}"/>
              </a:ext>
            </a:extLst>
          </p:cNvPr>
          <p:cNvSpPr>
            <a:spLocks noChangeArrowheads="1"/>
          </p:cNvSpPr>
          <p:nvPr/>
        </p:nvSpPr>
        <p:spPr bwMode="auto">
          <a:xfrm>
            <a:off x="679010" y="2656304"/>
            <a:ext cx="7125076" cy="253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dirty="0">
                <a:latin typeface="Times New Roman" panose="02020603050405020304" pitchFamily="18" charset="0"/>
                <a:cs typeface="Times New Roman" panose="02020603050405020304" pitchFamily="18" charset="0"/>
              </a:rPr>
              <a:t>1. </a:t>
            </a:r>
            <a:r>
              <a:rPr lang="ru-RU" altLang="ru-RU" b="1" dirty="0" err="1">
                <a:solidFill>
                  <a:srgbClr val="00B0F0"/>
                </a:solidFill>
                <a:latin typeface="Times New Roman" panose="02020603050405020304" pitchFamily="18" charset="0"/>
                <a:cs typeface="Times New Roman" panose="02020603050405020304" pitchFamily="18" charset="0"/>
              </a:rPr>
              <a:t>Bog‘liq</a:t>
            </a:r>
            <a:r>
              <a:rPr lang="ru-RU" altLang="ru-RU" b="1" dirty="0">
                <a:solidFill>
                  <a:srgbClr val="00B0F0"/>
                </a:solidFill>
                <a:latin typeface="Times New Roman" panose="02020603050405020304" pitchFamily="18" charset="0"/>
                <a:cs typeface="Times New Roman" panose="02020603050405020304" pitchFamily="18" charset="0"/>
              </a:rPr>
              <a:t> </a:t>
            </a:r>
            <a:r>
              <a:rPr lang="ru-RU" altLang="ru-RU" b="1" dirty="0" err="1">
                <a:solidFill>
                  <a:srgbClr val="00B0F0"/>
                </a:solidFill>
                <a:latin typeface="Times New Roman" panose="02020603050405020304" pitchFamily="18" charset="0"/>
                <a:cs typeface="Times New Roman" panose="02020603050405020304" pitchFamily="18" charset="0"/>
              </a:rPr>
              <a:t>o‘zgaruvchi</a:t>
            </a:r>
            <a:r>
              <a:rPr lang="ru-RU" altLang="ru-RU" b="1" dirty="0">
                <a:solidFill>
                  <a:srgbClr val="00B0F0"/>
                </a:solidFill>
                <a:latin typeface="Times New Roman" panose="02020603050405020304" pitchFamily="18" charset="0"/>
                <a:cs typeface="Times New Roman" panose="02020603050405020304" pitchFamily="18" charset="0"/>
              </a:rPr>
              <a:t> (Y)</a:t>
            </a:r>
          </a:p>
          <a:p>
            <a:pPr marL="742950" lvl="1" indent="-285750" defTabSz="914400" eaLnBrk="0" fontAlgn="base" hangingPunct="0">
              <a:spcBef>
                <a:spcPct val="0"/>
              </a:spcBef>
              <a:spcAft>
                <a:spcPct val="0"/>
              </a:spcAft>
              <a:buFont typeface="Wingdings" panose="05000000000000000000" pitchFamily="2" charset="2"/>
              <a:buChar char="§"/>
            </a:pPr>
            <a:r>
              <a:rPr lang="ru-RU" altLang="ru-RU" dirty="0" err="1">
                <a:latin typeface="Times New Roman" panose="02020603050405020304" pitchFamily="18" charset="0"/>
                <a:cs typeface="Times New Roman" panose="02020603050405020304" pitchFamily="18" charset="0"/>
              </a:rPr>
              <a:t>Vazifasi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Bashorat</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qilinadigan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yoki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tushuntiriladigan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o‘zgaruvchi</a:t>
            </a:r>
            <a:r>
              <a:rPr lang="ru-RU" altLang="ru-RU" dirty="0">
                <a:latin typeface="Times New Roman" panose="02020603050405020304" pitchFamily="18" charset="0"/>
                <a:cs typeface="Times New Roman" panose="02020603050405020304" pitchFamily="18" charset="0"/>
              </a:rPr>
              <a:t>.</a:t>
            </a:r>
          </a:p>
          <a:p>
            <a:pPr marL="742950" lvl="1" indent="-285750" defTabSz="914400" eaLnBrk="0" fontAlgn="base" hangingPunct="0">
              <a:spcBef>
                <a:spcPct val="0"/>
              </a:spcBef>
              <a:spcAft>
                <a:spcPct val="0"/>
              </a:spcAft>
              <a:buFont typeface="Wingdings" panose="05000000000000000000" pitchFamily="2" charset="2"/>
              <a:buChar char="§"/>
            </a:pPr>
            <a:r>
              <a:rPr lang="ru-RU" altLang="ru-RU" dirty="0" err="1">
                <a:latin typeface="Times New Roman" panose="02020603050405020304" pitchFamily="18" charset="0"/>
                <a:cs typeface="Times New Roman" panose="02020603050405020304" pitchFamily="18" charset="0"/>
              </a:rPr>
              <a:t>Misol</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Uyning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narxi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talabaning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imtihon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bahosi</a:t>
            </a:r>
            <a:r>
              <a:rPr lang="ru-RU" altLang="ru-RU"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ru-RU" altLang="ru-RU"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ru-RU" altLang="ru-RU" dirty="0">
                <a:latin typeface="Times New Roman" panose="02020603050405020304" pitchFamily="18" charset="0"/>
                <a:cs typeface="Times New Roman" panose="02020603050405020304" pitchFamily="18" charset="0"/>
              </a:rPr>
              <a:t>2. </a:t>
            </a:r>
            <a:r>
              <a:rPr lang="ru-RU" altLang="ru-RU" b="1" dirty="0" err="1">
                <a:solidFill>
                  <a:srgbClr val="00B0F0"/>
                </a:solidFill>
                <a:latin typeface="Times New Roman" panose="02020603050405020304" pitchFamily="18" charset="0"/>
                <a:cs typeface="Times New Roman" panose="02020603050405020304" pitchFamily="18" charset="0"/>
              </a:rPr>
              <a:t>Mustaqil</a:t>
            </a:r>
            <a:r>
              <a:rPr lang="ru-RU" altLang="ru-RU" b="1" dirty="0">
                <a:solidFill>
                  <a:srgbClr val="00B0F0"/>
                </a:solidFill>
                <a:latin typeface="Times New Roman" panose="02020603050405020304" pitchFamily="18" charset="0"/>
                <a:cs typeface="Times New Roman" panose="02020603050405020304" pitchFamily="18" charset="0"/>
              </a:rPr>
              <a:t> </a:t>
            </a:r>
            <a:r>
              <a:rPr lang="ru-RU" altLang="ru-RU" b="1" dirty="0" err="1">
                <a:solidFill>
                  <a:srgbClr val="00B0F0"/>
                </a:solidFill>
                <a:latin typeface="Times New Roman" panose="02020603050405020304" pitchFamily="18" charset="0"/>
                <a:cs typeface="Times New Roman" panose="02020603050405020304" pitchFamily="18" charset="0"/>
              </a:rPr>
              <a:t>o‘zgaruvchi</a:t>
            </a:r>
            <a:r>
              <a:rPr lang="ru-RU" altLang="ru-RU" b="1" dirty="0">
                <a:solidFill>
                  <a:srgbClr val="00B0F0"/>
                </a:solidFill>
                <a:latin typeface="Times New Roman" panose="02020603050405020304" pitchFamily="18" charset="0"/>
                <a:cs typeface="Times New Roman" panose="02020603050405020304" pitchFamily="18" charset="0"/>
              </a:rPr>
              <a:t> (X)</a:t>
            </a:r>
          </a:p>
          <a:p>
            <a:pPr marL="742950" lvl="1" indent="-285750" defTabSz="914400" eaLnBrk="0" fontAlgn="base" hangingPunct="0">
              <a:spcBef>
                <a:spcPct val="0"/>
              </a:spcBef>
              <a:spcAft>
                <a:spcPct val="0"/>
              </a:spcAft>
              <a:buFont typeface="Wingdings" panose="05000000000000000000" pitchFamily="2" charset="2"/>
              <a:buChar char="§"/>
            </a:pPr>
            <a:r>
              <a:rPr lang="ru-RU" altLang="ru-RU" dirty="0" err="1">
                <a:latin typeface="Times New Roman" panose="02020603050405020304" pitchFamily="18" charset="0"/>
                <a:cs typeface="Times New Roman" panose="02020603050405020304" pitchFamily="18" charset="0"/>
              </a:rPr>
              <a:t>Vazifasi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Bashorat</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uchun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ishlatiladigan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yoki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ta’sir</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ko‘rsatuvchi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o‘zgaruvchi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Bashoratchi</a:t>
            </a:r>
            <a:r>
              <a:rPr lang="ru-RU" altLang="ru-RU" dirty="0">
                <a:latin typeface="Times New Roman" panose="02020603050405020304" pitchFamily="18" charset="0"/>
                <a:cs typeface="Times New Roman" panose="02020603050405020304" pitchFamily="18" charset="0"/>
              </a:rPr>
              <a:t>).</a:t>
            </a:r>
          </a:p>
          <a:p>
            <a:pPr marL="742950" lvl="1" indent="-285750" defTabSz="914400" eaLnBrk="0" fontAlgn="base" hangingPunct="0">
              <a:spcBef>
                <a:spcPct val="0"/>
              </a:spcBef>
              <a:spcAft>
                <a:spcPct val="0"/>
              </a:spcAft>
              <a:buFont typeface="Wingdings" panose="05000000000000000000" pitchFamily="2" charset="2"/>
              <a:buChar char="§"/>
            </a:pPr>
            <a:r>
              <a:rPr lang="ru-RU" altLang="ru-RU" dirty="0" err="1">
                <a:latin typeface="Times New Roman" panose="02020603050405020304" pitchFamily="18" charset="0"/>
                <a:cs typeface="Times New Roman" panose="02020603050405020304" pitchFamily="18" charset="0"/>
              </a:rPr>
              <a:t>Misol</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Uyning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maydoni</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o‘qishga</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sarflangan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soatlar</a:t>
            </a:r>
            <a:r>
              <a:rPr lang="ru-RU" altLang="ru-RU"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ru-RU" altLang="ru-RU"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E6FCD89-003B-C8B7-0FC7-F194C0B840CB}"/>
              </a:ext>
            </a:extLst>
          </p:cNvPr>
          <p:cNvSpPr txBox="1"/>
          <p:nvPr/>
        </p:nvSpPr>
        <p:spPr>
          <a:xfrm>
            <a:off x="588476" y="5007703"/>
            <a:ext cx="6097508" cy="369332"/>
          </a:xfrm>
          <a:prstGeom prst="rect">
            <a:avLst/>
          </a:prstGeom>
          <a:noFill/>
        </p:spPr>
        <p:txBody>
          <a:bodyPr wrap="square">
            <a:spAutoFit/>
          </a:bodyPr>
          <a:lstStyle/>
          <a:p>
            <a:r>
              <a:rPr lang="tr-TR" b="1" dirty="0">
                <a:solidFill>
                  <a:srgbClr val="FFC000"/>
                </a:solidFill>
                <a:latin typeface="Times New Roman" panose="02020603050405020304" pitchFamily="18" charset="0"/>
                <a:cs typeface="Times New Roman" panose="02020603050405020304" pitchFamily="18" charset="0"/>
              </a:rPr>
              <a:t>Oddiy chiziqli regressiya </a:t>
            </a:r>
            <a:r>
              <a:rPr lang="en-US" b="1" dirty="0" err="1">
                <a:solidFill>
                  <a:srgbClr val="FFC000"/>
                </a:solidFill>
                <a:latin typeface="Times New Roman" panose="02020603050405020304" pitchFamily="18" charset="0"/>
                <a:cs typeface="Times New Roman" panose="02020603050405020304" pitchFamily="18" charset="0"/>
              </a:rPr>
              <a:t>formulasi</a:t>
            </a:r>
            <a:endParaRPr lang="ru-RU" b="1" dirty="0">
              <a:solidFill>
                <a:srgbClr val="FFC000"/>
              </a:solidFill>
              <a:latin typeface="Times New Roman" panose="02020603050405020304" pitchFamily="18" charset="0"/>
              <a:cs typeface="Times New Roman" panose="02020603050405020304" pitchFamily="18" charset="0"/>
            </a:endParaRPr>
          </a:p>
        </p:txBody>
      </p:sp>
      <p:pic>
        <p:nvPicPr>
          <p:cNvPr id="11" name="Рисунок 10">
            <a:extLst>
              <a:ext uri="{FF2B5EF4-FFF2-40B4-BE49-F238E27FC236}">
                <a16:creationId xmlns:a16="http://schemas.microsoft.com/office/drawing/2014/main" id="{22A2A87D-D27E-993C-4654-F3FF290D183B}"/>
              </a:ext>
            </a:extLst>
          </p:cNvPr>
          <p:cNvPicPr>
            <a:picLocks noChangeAspect="1"/>
          </p:cNvPicPr>
          <p:nvPr/>
        </p:nvPicPr>
        <p:blipFill>
          <a:blip r:embed="rId3"/>
          <a:stretch>
            <a:fillRect/>
          </a:stretch>
        </p:blipFill>
        <p:spPr>
          <a:xfrm>
            <a:off x="1972831" y="5302075"/>
            <a:ext cx="2343477" cy="771633"/>
          </a:xfrm>
          <a:prstGeom prst="rect">
            <a:avLst/>
          </a:prstGeom>
        </p:spPr>
      </p:pic>
      <p:pic>
        <p:nvPicPr>
          <p:cNvPr id="13" name="Рисунок 12">
            <a:extLst>
              <a:ext uri="{FF2B5EF4-FFF2-40B4-BE49-F238E27FC236}">
                <a16:creationId xmlns:a16="http://schemas.microsoft.com/office/drawing/2014/main" id="{83BF1224-175A-E269-9823-B600B5E88B5D}"/>
              </a:ext>
            </a:extLst>
          </p:cNvPr>
          <p:cNvPicPr>
            <a:picLocks noChangeAspect="1"/>
          </p:cNvPicPr>
          <p:nvPr/>
        </p:nvPicPr>
        <p:blipFill>
          <a:blip r:embed="rId4"/>
          <a:stretch>
            <a:fillRect/>
          </a:stretch>
        </p:blipFill>
        <p:spPr>
          <a:xfrm>
            <a:off x="5465567" y="5350807"/>
            <a:ext cx="276375" cy="302696"/>
          </a:xfrm>
          <a:prstGeom prst="rect">
            <a:avLst/>
          </a:prstGeom>
        </p:spPr>
      </p:pic>
      <p:sp>
        <p:nvSpPr>
          <p:cNvPr id="14" name="Rectangle 4">
            <a:extLst>
              <a:ext uri="{FF2B5EF4-FFF2-40B4-BE49-F238E27FC236}">
                <a16:creationId xmlns:a16="http://schemas.microsoft.com/office/drawing/2014/main" id="{FA5925FC-8D61-460A-9B42-A5FCC50E9AF8}"/>
              </a:ext>
            </a:extLst>
          </p:cNvPr>
          <p:cNvSpPr>
            <a:spLocks noChangeArrowheads="1"/>
          </p:cNvSpPr>
          <p:nvPr/>
        </p:nvSpPr>
        <p:spPr bwMode="auto">
          <a:xfrm>
            <a:off x="5860904" y="5320556"/>
            <a:ext cx="26444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ru-RU" sz="1600" i="1" dirty="0">
                <a:latin typeface="Times New Roman" panose="02020603050405020304" pitchFamily="18" charset="0"/>
                <a:cs typeface="Times New Roman" panose="02020603050405020304" pitchFamily="18" charset="0"/>
              </a:rPr>
              <a:t>- b</a:t>
            </a:r>
            <a:r>
              <a:rPr kumimoji="0" lang="ru-RU" altLang="ru-RU" sz="16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ashorat</a:t>
            </a:r>
            <a:r>
              <a:rPr kumimoji="0" lang="ru-RU" altLang="ru-RU"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6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qilingan</a:t>
            </a:r>
            <a:r>
              <a:rPr kumimoji="0" lang="ru-RU" altLang="ru-RU"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 </a:t>
            </a:r>
            <a:r>
              <a:rPr kumimoji="0" lang="ru-RU" altLang="ru-RU" sz="16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qiymati</a:t>
            </a:r>
            <a:r>
              <a:rPr kumimoji="0" lang="ru-RU" altLang="ru-RU"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6A04826B-5870-9890-D9B2-2CF72AD73487}"/>
              </a:ext>
            </a:extLst>
          </p:cNvPr>
          <p:cNvSpPr txBox="1"/>
          <p:nvPr/>
        </p:nvSpPr>
        <p:spPr>
          <a:xfrm>
            <a:off x="5465567" y="5720139"/>
            <a:ext cx="357790" cy="369332"/>
          </a:xfrm>
          <a:prstGeom prst="rect">
            <a:avLst/>
          </a:prstGeom>
          <a:noFill/>
        </p:spPr>
        <p:txBody>
          <a:bodyPr wrap="none" rtlCol="0">
            <a:spAutoFit/>
          </a:bodyPr>
          <a:lstStyle/>
          <a:p>
            <a:r>
              <a:rPr lang="en-US" i="1" dirty="0">
                <a:latin typeface="Times New Roman" panose="02020603050405020304" pitchFamily="18"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 </a:t>
            </a:r>
            <a:endParaRPr lang="ru-RU" dirty="0">
              <a:latin typeface="Times New Roman" panose="02020603050405020304" pitchFamily="18" charset="0"/>
              <a:cs typeface="Times New Roman" panose="02020603050405020304" pitchFamily="18" charset="0"/>
            </a:endParaRPr>
          </a:p>
        </p:txBody>
      </p:sp>
      <p:sp>
        <p:nvSpPr>
          <p:cNvPr id="19" name="Rectangle 8">
            <a:extLst>
              <a:ext uri="{FF2B5EF4-FFF2-40B4-BE49-F238E27FC236}">
                <a16:creationId xmlns:a16="http://schemas.microsoft.com/office/drawing/2014/main" id="{542CCDC8-66C0-D86F-6F9B-7B36EC573662}"/>
              </a:ext>
            </a:extLst>
          </p:cNvPr>
          <p:cNvSpPr>
            <a:spLocks noChangeArrowheads="1"/>
          </p:cNvSpPr>
          <p:nvPr/>
        </p:nvSpPr>
        <p:spPr bwMode="auto">
          <a:xfrm>
            <a:off x="5823357" y="5757591"/>
            <a:ext cx="57510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ru-RU" sz="1600" i="1" dirty="0">
                <a:latin typeface="Times New Roman" panose="02020603050405020304" pitchFamily="18" charset="0"/>
                <a:cs typeface="Times New Roman" panose="02020603050405020304" pitchFamily="18" charset="0"/>
              </a:rPr>
              <a:t>- </a:t>
            </a:r>
            <a:r>
              <a:rPr lang="ru-RU" altLang="ru-RU" sz="1600" i="1" dirty="0">
                <a:latin typeface="Times New Roman" panose="02020603050405020304" pitchFamily="18" charset="0"/>
                <a:cs typeface="Times New Roman" panose="02020603050405020304" pitchFamily="18" charset="0"/>
              </a:rPr>
              <a:t>X </a:t>
            </a:r>
            <a:r>
              <a:rPr lang="ru-RU" altLang="ru-RU" sz="1600" i="1" dirty="0" err="1">
                <a:latin typeface="Times New Roman" panose="02020603050405020304" pitchFamily="18" charset="0"/>
                <a:cs typeface="Times New Roman" panose="02020603050405020304" pitchFamily="18" charset="0"/>
              </a:rPr>
              <a:t>ning</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qiymati</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nolga</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teng</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bo‘lganda</a:t>
            </a:r>
            <a:r>
              <a:rPr lang="ru-RU" altLang="ru-RU" sz="1600" i="1" dirty="0">
                <a:latin typeface="Times New Roman" panose="02020603050405020304" pitchFamily="18" charset="0"/>
                <a:cs typeface="Times New Roman" panose="02020603050405020304" pitchFamily="18" charset="0"/>
              </a:rPr>
              <a:t> Y </a:t>
            </a:r>
            <a:r>
              <a:rPr lang="ru-RU" altLang="ru-RU" sz="1600" i="1" dirty="0" err="1">
                <a:latin typeface="Times New Roman" panose="02020603050405020304" pitchFamily="18" charset="0"/>
                <a:cs typeface="Times New Roman" panose="02020603050405020304" pitchFamily="18" charset="0"/>
              </a:rPr>
              <a:t>ning</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kutilayotgan</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qiymati</a:t>
            </a:r>
            <a:r>
              <a:rPr lang="ru-RU" altLang="ru-RU" sz="1600" i="1" dirty="0">
                <a:latin typeface="Times New Roman" panose="02020603050405020304" pitchFamily="18" charset="0"/>
                <a:cs typeface="Times New Roman" panose="02020603050405020304" pitchFamily="18" charset="0"/>
              </a:rPr>
              <a:t>.</a:t>
            </a:r>
          </a:p>
        </p:txBody>
      </p:sp>
      <p:sp>
        <p:nvSpPr>
          <p:cNvPr id="20" name="TextBox 19">
            <a:extLst>
              <a:ext uri="{FF2B5EF4-FFF2-40B4-BE49-F238E27FC236}">
                <a16:creationId xmlns:a16="http://schemas.microsoft.com/office/drawing/2014/main" id="{17D1D17C-D45F-B687-2FC6-01A21C1A0CC0}"/>
              </a:ext>
            </a:extLst>
          </p:cNvPr>
          <p:cNvSpPr txBox="1"/>
          <p:nvPr/>
        </p:nvSpPr>
        <p:spPr>
          <a:xfrm>
            <a:off x="5450772" y="6156107"/>
            <a:ext cx="723275" cy="369332"/>
          </a:xfrm>
          <a:prstGeom prst="rect">
            <a:avLst/>
          </a:prstGeom>
          <a:noFill/>
        </p:spPr>
        <p:txBody>
          <a:bodyPr wrap="none" rtlCol="0">
            <a:spAutoFit/>
          </a:bodyPr>
          <a:lstStyle/>
          <a:p>
            <a:r>
              <a:rPr lang="en-US" i="1" dirty="0">
                <a:latin typeface="Times New Roman" panose="02020603050405020304" pitchFamily="18" charset="0"/>
                <a:cs typeface="Times New Roman" panose="02020603050405020304" pitchFamily="18" charset="0"/>
              </a:rPr>
              <a:t>b    - </a:t>
            </a:r>
            <a:r>
              <a:rPr lang="en-US" dirty="0">
                <a:latin typeface="Times New Roman" panose="02020603050405020304" pitchFamily="18" charset="0"/>
                <a:cs typeface="Times New Roman" panose="02020603050405020304" pitchFamily="18" charset="0"/>
              </a:rPr>
              <a:t> </a:t>
            </a:r>
            <a:endParaRPr lang="ru-RU" dirty="0">
              <a:latin typeface="Times New Roman" panose="02020603050405020304" pitchFamily="18" charset="0"/>
              <a:cs typeface="Times New Roman" panose="02020603050405020304" pitchFamily="18" charset="0"/>
            </a:endParaRPr>
          </a:p>
        </p:txBody>
      </p:sp>
      <p:sp>
        <p:nvSpPr>
          <p:cNvPr id="21" name="Rectangle 9">
            <a:extLst>
              <a:ext uri="{FF2B5EF4-FFF2-40B4-BE49-F238E27FC236}">
                <a16:creationId xmlns:a16="http://schemas.microsoft.com/office/drawing/2014/main" id="{72FC93A0-20A2-D9A5-2376-2424850F6EB7}"/>
              </a:ext>
            </a:extLst>
          </p:cNvPr>
          <p:cNvSpPr>
            <a:spLocks noChangeArrowheads="1"/>
          </p:cNvSpPr>
          <p:nvPr/>
        </p:nvSpPr>
        <p:spPr bwMode="auto">
          <a:xfrm>
            <a:off x="5942385" y="6194626"/>
            <a:ext cx="6667441"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sz="1600" i="1" dirty="0">
                <a:latin typeface="Times New Roman" panose="02020603050405020304" pitchFamily="18" charset="0"/>
                <a:cs typeface="Times New Roman" panose="02020603050405020304" pitchFamily="18" charset="0"/>
              </a:rPr>
              <a:t>X </a:t>
            </a:r>
            <a:r>
              <a:rPr lang="ru-RU" altLang="ru-RU" sz="1600" i="1" dirty="0" err="1">
                <a:latin typeface="Times New Roman" panose="02020603050405020304" pitchFamily="18" charset="0"/>
                <a:cs typeface="Times New Roman" panose="02020603050405020304" pitchFamily="18" charset="0"/>
              </a:rPr>
              <a:t>ning</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qiymati</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bir</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birlikka</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oshganda</a:t>
            </a:r>
            <a:r>
              <a:rPr lang="ru-RU" altLang="ru-RU" sz="1600" i="1" dirty="0">
                <a:latin typeface="Times New Roman" panose="02020603050405020304" pitchFamily="18" charset="0"/>
                <a:cs typeface="Times New Roman" panose="02020603050405020304" pitchFamily="18" charset="0"/>
              </a:rPr>
              <a:t> Y </a:t>
            </a:r>
            <a:r>
              <a:rPr lang="ru-RU" altLang="ru-RU" sz="1600" i="1" dirty="0" err="1">
                <a:latin typeface="Times New Roman" panose="02020603050405020304" pitchFamily="18" charset="0"/>
                <a:cs typeface="Times New Roman" panose="02020603050405020304" pitchFamily="18" charset="0"/>
              </a:rPr>
              <a:t>ning</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o‘rtacha</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qancha</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o‘zgarishini</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ko‘rsatuvchi</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eng</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muhim</a:t>
            </a:r>
            <a:r>
              <a:rPr lang="ru-RU" altLang="ru-RU" sz="1600" i="1" dirty="0">
                <a:latin typeface="Times New Roman" panose="02020603050405020304" pitchFamily="18" charset="0"/>
                <a:cs typeface="Times New Roman" panose="02020603050405020304" pitchFamily="18" charset="0"/>
              </a:rPr>
              <a:t> </a:t>
            </a:r>
            <a:r>
              <a:rPr lang="ru-RU" altLang="ru-RU" sz="1600" i="1" dirty="0" err="1">
                <a:latin typeface="Times New Roman" panose="02020603050405020304" pitchFamily="18" charset="0"/>
                <a:cs typeface="Times New Roman" panose="02020603050405020304" pitchFamily="18" charset="0"/>
              </a:rPr>
              <a:t>raqam</a:t>
            </a:r>
            <a:r>
              <a:rPr lang="ru-RU" altLang="ru-RU" sz="16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09002466"/>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1693</TotalTime>
  <Words>4030</Words>
  <Application>Microsoft Office PowerPoint</Application>
  <PresentationFormat>Широкоэкранный</PresentationFormat>
  <Paragraphs>445</Paragraphs>
  <Slides>51</Slides>
  <Notes>1</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51</vt:i4>
      </vt:variant>
    </vt:vector>
  </HeadingPairs>
  <TitlesOfParts>
    <vt:vector size="59" baseType="lpstr">
      <vt:lpstr>Arial</vt:lpstr>
      <vt:lpstr>Calibri</vt:lpstr>
      <vt:lpstr>Calibri Light</vt:lpstr>
      <vt:lpstr>Cambria Math</vt:lpstr>
      <vt:lpstr>Symbol</vt:lpstr>
      <vt:lpstr>Times New Roman</vt:lpstr>
      <vt:lpstr>Wingdings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Shavkat Bek</dc:creator>
  <cp:lastModifiedBy>Shavkat Bek</cp:lastModifiedBy>
  <cp:revision>78</cp:revision>
  <dcterms:created xsi:type="dcterms:W3CDTF">2025-11-17T10:38:07Z</dcterms:created>
  <dcterms:modified xsi:type="dcterms:W3CDTF">2026-01-30T12:15:19Z</dcterms:modified>
</cp:coreProperties>
</file>